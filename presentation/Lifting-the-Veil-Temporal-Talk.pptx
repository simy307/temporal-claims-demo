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4" ContentType="video/unknown"/>
  <Override PartName="/ppt/media/media2.mp4" ContentType="video/unknown"/>
  <Override PartName="/ppt/media/media3.mp4" ContentType="video/unknown"/>
  <Override PartName="/ppt/media/media4.mp4" ContentType="video/unknown"/>
  <Override PartName="/ppt/media/media5.mp4" ContentType="video/unknown"/>
  <Override PartName="/ppt/media/media6.mp4" ContentType="video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/ intro yourself. Hook: 'How many of you have looked at Temporal's docs and thought this looks powerful, but I genuinely don't know if MY problem needs it?' That's the veil we're lifting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Temporal's pitch is abstract until it touches a concrete, messy business process you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three-act structure of the talk. Reproducible — anyone can do this on their own use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roadmap. Keep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out loud, typo and all ('at lease 1').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isn't 'this prompt is bad' — it under-specifies exactly the decisions that make or break a durable-execution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Generalizable trick: use the model to interrogate its own upcoming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text is in the appendix. The point is the shape, not the word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The refined prompt made this specific demo cleaner, but the takeaway isn't 'write a perfect spec or don't bother.' Even the rough first draft would have gotten a working workflow with retries and durability for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UI never talks to Temporal directly — only through the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 stage list from the improved prompt. Stage 6 = the required signal, precisely specified.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Folder-level version of the architecture diagram. Each package has exactly one job: web renders and polls, api translates HTTP to Temporal client calls, worker is the only place workflow and activity code lives. Activities are one function per file, grouped by domain.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real Timeline tab for this app's fraud-check child workflow, not a mockup. The code on top is the entire body — just a proxyActivities call and three activity invocations, two of them running in parallel. That parallelism is exactly what you see as two overlapping bars below, with zero extra instrumentation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it sit as a 'yes it really does all of this'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Submit the Happy path preset. This whole timeline is one query, getClaimState, polled every 2s.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required signal from the original prompt. The workflow is genuinely suspended.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Activity execution &amp; retries panel — that's Temporal's own attempt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permanent failure doesn't kill the workflow, it parks it waiting for a human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moment of the talk. Let this one breathe; don't rush the narration.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time is short, this is the cut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how many already do 3+ of these with cron jobs and status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payoff — a generalized checklist for deciding whether a process maps cleanly to Temporal.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Invite people to paste their own use case into this template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Fill in your actual repo URL before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the floor. Be ready for: versioning, Cloud vs self-hosted, payload limits, vs Airflow/Step Functions.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jpg"/><Relationship Id="rId5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.jpg"/><Relationship Id="rId5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5.jpg"/><Relationship Id="rId5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TEMPORAL · ENGINEERING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7C5CFF"/>
                </a:solidFill>
                <a:latin typeface="Segoe UI"/>
              </a:rPr>
              <a:t>A LIVE-CODED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9144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 i="0">
                <a:solidFill>
                  <a:srgbClr val="E6E9F5"/>
                </a:solidFill>
                <a:latin typeface="Segoe UI"/>
              </a:rPr>
              <a:t>Lifting the Veil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7772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 i="0">
                <a:solidFill>
                  <a:srgbClr val="9AA2C0"/>
                </a:solidFill>
                <a:latin typeface="Segoe UI"/>
              </a:rPr>
              <a:t>How to match your use case &amp; Temporal — told through one prompt, one AI coding agent, and one insurance claim.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212080"/>
            <a:ext cx="10881360" cy="12700"/>
          </a:xfrm>
          <a:prstGeom prst="rect">
            <a:avLst/>
          </a:prstGeom>
          <a:solidFill>
            <a:srgbClr val="23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3492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E6E9F5"/>
                </a:solidFill>
                <a:latin typeface="Segoe UI"/>
              </a:rPr>
              <a:t>1</a:t>
            </a:r>
          </a:p>
          <a:p>
            <a:r>
              <a:rPr sz="1100" b="0" i="0">
                <a:solidFill>
                  <a:srgbClr val="9AA2C0"/>
                </a:solidFill>
                <a:latin typeface="Segoe UI"/>
              </a:rPr>
              <a:t>prompt → full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53492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E6E9F5"/>
                </a:solidFill>
                <a:latin typeface="Segoe UI"/>
              </a:rPr>
              <a:t>0</a:t>
            </a:r>
          </a:p>
          <a:p>
            <a:r>
              <a:rPr sz="1100" b="0" i="0">
                <a:solidFill>
                  <a:srgbClr val="9AA2C0"/>
                </a:solidFill>
                <a:latin typeface="Segoe UI"/>
              </a:rPr>
              <a:t>databases used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THE QUESTION EVERYONE ACTUALLY 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98755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E6E9F5"/>
                </a:solidFill>
                <a:latin typeface="Segoe UI"/>
              </a:rPr>
              <a:t>"This looks powerful. But is it right for </a:t>
            </a:r>
            <a:r>
              <a:rPr sz="3200" b="1" i="0">
                <a:solidFill>
                  <a:srgbClr val="4C9FFE"/>
                </a:solidFill>
                <a:latin typeface="Segoe UI"/>
              </a:rPr>
              <a:t>my</a:t>
            </a:r>
            <a:r>
              <a:rPr sz="3200" b="1" i="0">
                <a:solidFill>
                  <a:srgbClr val="E6E9F5"/>
                </a:solidFill>
                <a:latin typeface="Segoe UI"/>
              </a:rPr>
              <a:t> use case?"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257800"/>
            <a:ext cx="8961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9AA2C0"/>
                </a:solidFill>
                <a:latin typeface="Segoe UI"/>
              </a:rPr>
              <a:t>— every engineer's first honest reaction to Temporal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THE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E6E9F5"/>
                </a:solidFill>
                <a:latin typeface="Segoe UI"/>
              </a:rPr>
              <a:t>I asked AI a vague prompt. Here's what happened.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Segoe UI"/>
              </a:rPr>
              <a:t>◈ Temporal · Lifting the Veil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9AA2C0"/>
                </a:solidFill>
                <a:latin typeface="Segoe UI"/>
              </a:rPr>
              <a:t>Not “here is a finished spec, build it.” A genuinely rough, one-paragraph idea — the kind you'd type into a chat box on your commute. Then I watched what it took to turn that into something worth demoing to engineers.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3444240" cy="11887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798064"/>
            <a:ext cx="30419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7C5CFF"/>
                </a:solidFill>
                <a:latin typeface="Segoe UI"/>
              </a:rPr>
              <a:t>STEP 1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Write the rough idea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8640" y="2651760"/>
            <a:ext cx="3444240" cy="11887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9808" y="2798064"/>
            <a:ext cx="30419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7C5CFF"/>
                </a:solidFill>
                <a:latin typeface="Segoe UI"/>
              </a:rPr>
              <a:t>STEP 2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Ask AI to turn it into a real 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651760"/>
            <a:ext cx="3444240" cy="11887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798064"/>
            <a:ext cx="30419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7C5CFF"/>
                </a:solidFill>
                <a:latin typeface="Segoe UI"/>
              </a:rPr>
              <a:t>STEP 3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Hand that spec to a coding agent &amp; build 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E6E9F5"/>
                </a:solidFill>
                <a:latin typeface="Segoe UI"/>
              </a:rPr>
              <a:t>Where we're headed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Segoe UI"/>
              </a:rPr>
              <a:t>◈ Temporal · Lifting the Veil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515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34D399"/>
                </a:solidFill>
                <a:latin typeface="Segoe UI"/>
              </a:rPr>
              <a:t>01  </a:t>
            </a:r>
            <a:r>
              <a:rPr sz="1700" b="0" i="0">
                <a:solidFill>
                  <a:srgbClr val="E6E9F5"/>
                </a:solidFill>
                <a:latin typeface="Segoe UI"/>
              </a:rPr>
              <a:t>The prompt experiment — before &amp; after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34D399"/>
                </a:solidFill>
                <a:latin typeface="Segoe UI"/>
              </a:rPr>
              <a:t>02  </a:t>
            </a:r>
            <a:r>
              <a:rPr sz="1700" b="0" i="0">
                <a:solidFill>
                  <a:srgbClr val="E6E9F5"/>
                </a:solidFill>
                <a:latin typeface="Segoe UI"/>
              </a:rPr>
              <a:t>What actually got built (architecture + lifecycle)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34D399"/>
                </a:solidFill>
                <a:latin typeface="Segoe UI"/>
              </a:rPr>
              <a:t>03  </a:t>
            </a:r>
            <a:r>
              <a:rPr sz="1700" b="0" i="0">
                <a:solidFill>
                  <a:srgbClr val="E6E9F5"/>
                </a:solidFill>
                <a:latin typeface="Segoe UI"/>
              </a:rPr>
              <a:t>Live demo — real failures, real recovery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34D399"/>
                </a:solidFill>
                <a:latin typeface="Segoe UI"/>
              </a:rPr>
              <a:t>04  </a:t>
            </a:r>
            <a:r>
              <a:rPr sz="1700" b="0" i="0">
                <a:solidFill>
                  <a:srgbClr val="E6E9F5"/>
                </a:solidFill>
                <a:latin typeface="Segoe UI"/>
              </a:rPr>
              <a:t>Lessons — how to match your use case to Temporal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34D399"/>
                </a:solidFill>
                <a:latin typeface="Segoe UI"/>
              </a:rPr>
              <a:t>05  </a:t>
            </a:r>
            <a:r>
              <a:rPr sz="1700" b="0" i="0">
                <a:solidFill>
                  <a:srgbClr val="E6E9F5"/>
                </a:solidFill>
                <a:latin typeface="Segoe UI"/>
              </a:rPr>
              <a:t>Resources &amp; how to try this yourself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200" b="1" i="0">
                <a:solidFill>
                  <a:srgbClr val="7C5CFF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E6E9F5"/>
                </a:solidFill>
                <a:latin typeface="Segoe UI"/>
              </a:rPr>
              <a:t>The Prompt 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685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 i="0">
                <a:solidFill>
                  <a:srgbClr val="9AA2C0"/>
                </a:solidFill>
                <a:latin typeface="Segoe UI"/>
              </a:rPr>
              <a:t>Before and after — and why the gap between them is the whole lesson.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WHAT I ACTUALLY TYPED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E6E9F5"/>
                </a:solidFill>
                <a:latin typeface="Segoe UI"/>
              </a:rPr>
              <a:t>My first prompt (verbatim)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Segoe UI"/>
              </a:rPr>
              <a:t>◈ Temporal · Lifting the Veil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2377440"/>
          </a:xfrm>
          <a:prstGeom prst="roundRect">
            <a:avLst>
              <a:gd name="adj" fmla="val 6000"/>
            </a:avLst>
          </a:prstGeom>
          <a:solidFill>
            <a:srgbClr val="0D1020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365760"/>
          </a:xfrm>
          <a:prstGeom prst="roundRect">
            <a:avLst/>
          </a:prstGeom>
          <a:solidFill>
            <a:srgbClr val="151934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9AA2C0"/>
                </a:solidFill>
                <a:latin typeface="Consolas"/>
              </a:rPr>
              <a:t>●  ●  ●    chat — untitled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42416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400" b="0" i="0">
                <a:solidFill>
                  <a:srgbClr val="D6DCF5"/>
                </a:solidFill>
                <a:latin typeface="Consolas"/>
              </a:rPr>
              <a:t>&gt; I want to see what temporal workflows can do for me. Create me a project with a UI to track workflow progress and for me to interact with the workflows. Scenario: Claim process for an insurance company. No database, just get state and progress from temporal itself. Use a local temporal instance. Implement any cool ideas you can think of. Make sure there is at lease 1 wait for signal from the UI. Use local storage so the UI persists on refresh.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READ IT AGAIN, LIKE A CODING AGENT HAS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E6E9F5"/>
                </a:solidFill>
                <a:latin typeface="Segoe UI"/>
              </a:rPr>
              <a:t>Five things it never says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Segoe UI"/>
              </a:rPr>
              <a:t>◈ Temporal · Lifting the Veil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1206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AA2C0"/>
                </a:solidFill>
                <a:latin typeface="Consolas"/>
              </a:rPr>
              <a:t>“…track workflow progress… interact with the workflows… no database… any cool ideas… at lease 1 wait for signal… local storage so it persists…”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828800"/>
            <a:ext cx="5486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4D399"/>
                </a:solidFill>
                <a:latin typeface="Segoe UI"/>
              </a:rPr>
              <a:t>?  </a:t>
            </a:r>
            <a:r>
              <a:rPr sz="1500" b="0" i="0">
                <a:solidFill>
                  <a:srgbClr val="E6E9F5"/>
                </a:solidFill>
                <a:latin typeface="Segoe UI"/>
              </a:rPr>
              <a:t>Which failures are transient vs. permanent?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34D399"/>
                </a:solidFill>
                <a:latin typeface="Segoe UI"/>
              </a:rPr>
              <a:t>?  </a:t>
            </a:r>
            <a:r>
              <a:rPr sz="1500" b="0" i="0">
                <a:solidFill>
                  <a:srgbClr val="E6E9F5"/>
                </a:solidFill>
                <a:latin typeface="Segoe UI"/>
              </a:rPr>
              <a:t>What must never be lost on a crash?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34D399"/>
                </a:solidFill>
                <a:latin typeface="Segoe UI"/>
              </a:rPr>
              <a:t>?  </a:t>
            </a:r>
            <a:r>
              <a:rPr sz="1500" b="0" i="0">
                <a:solidFill>
                  <a:srgbClr val="E6E9F5"/>
                </a:solidFill>
                <a:latin typeface="Segoe UI"/>
              </a:rPr>
              <a:t>Where's the API/worker/UI boundary?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34D399"/>
                </a:solidFill>
                <a:latin typeface="Segoe UI"/>
              </a:rPr>
              <a:t>?  </a:t>
            </a:r>
            <a:r>
              <a:rPr sz="1500" b="0" i="0">
                <a:solidFill>
                  <a:srgbClr val="E6E9F5"/>
                </a:solidFill>
                <a:latin typeface="Segoe UI"/>
              </a:rPr>
              <a:t>What does “interact with” mean — signals? updates?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34D399"/>
                </a:solidFill>
                <a:latin typeface="Segoe UI"/>
              </a:rPr>
              <a:t>?  </a:t>
            </a:r>
            <a:r>
              <a:rPr sz="1500" b="0" i="0">
                <a:solidFill>
                  <a:srgbClr val="E6E9F5"/>
                </a:solidFill>
                <a:latin typeface="Segoe UI"/>
              </a:rPr>
              <a:t>“Cool ideas” = infinite scope, zero acceptance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AA2C0"/>
                </a:solidFill>
                <a:latin typeface="Segoe UI"/>
              </a:rPr>
              <a:t>None of this makes the prompt bad — it's a perfectly normal first draft.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THE MOVE THAT ACTUALLY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E6E9F5"/>
                </a:solidFill>
                <a:latin typeface="Segoe UI"/>
              </a:rPr>
              <a:t>I didn't fix the prompt myself. I asked AI to fix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Segoe UI"/>
              </a:rPr>
              <a:t>◈ Temporal · Lifting the Veil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75104"/>
            <a:ext cx="49011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WHY NOT WRITE THE SPEC BY HAND?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Because “what should a good Temporal spec contain” is itself a question worth delegating — the model already knows the shape of retries, signals, queries, sagas, especially with a Temporal skill loaded for grounding.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975104"/>
            <a:ext cx="49011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WHAT I ASKED FOR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“Would this be good for a coding-agent prompt?” — the answer covered architecture, failure modes, and UI/UX explicitly.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WHAT CAME 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E6E9F5"/>
                </a:solidFill>
                <a:latin typeface="Segoe UI"/>
              </a:rPr>
              <a:t>The improved prompt  (condensed)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Segoe UI"/>
              </a:rPr>
              <a:t>◈ Temporal · Lifting the Veil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75104"/>
            <a:ext cx="49011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STACK &amp; ARCHITECTURE, NAMED EXPLICITLY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Temporal TS SDK · local dev server · NestJS API + worker · React + TS UI · Docker Compose · separate workflow/activity/client/API/UI layers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975104"/>
            <a:ext cx="49011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DURABILITY REQUIREMENTS, NAMED EXPLICITLY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retry policies per activity · at least one timer · a child workflow · signals for every human action · queries for state/progress · cancellation handling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078224"/>
            <a:ext cx="49011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THE CLAIM LIFECYCLE, SPELLED OUT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9 named stages from submission to payout — not “any cool ideas,” a concrete process to map onto primitives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4078224"/>
            <a:ext cx="49011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DEFINITION OF DONE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README, unit tests, one integration test that signals a real workflow to completion, build/lint/test must pass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THE POINT OF THIS WHOLE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98755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E6E9F5"/>
                </a:solidFill>
                <a:latin typeface="Segoe UI"/>
              </a:rPr>
              <a:t>Don't be overwhelmed.
</a:t>
            </a:r>
            <a:r>
              <a:rPr sz="3200" b="1" i="0">
                <a:solidFill>
                  <a:srgbClr val="E6E9F5"/>
                </a:solidFill>
                <a:latin typeface="Segoe UI"/>
              </a:rPr>
              <a:t>You don't need to spell everything out </a:t>
            </a:r>
            <a:r>
              <a:rPr sz="3200" b="1" i="0">
                <a:solidFill>
                  <a:srgbClr val="4C9FFE"/>
                </a:solidFill>
                <a:latin typeface="Segoe UI"/>
              </a:rPr>
              <a:t>to see what Temporal can do for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257800"/>
            <a:ext cx="8961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9AA2C0"/>
                </a:solidFill>
                <a:latin typeface="Segoe UI"/>
              </a:rPr>
              <a:t>A sharper prompt makes for a sharper demo — but retries, signals, queries and durability are primitives Temporal gives you either way.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200" b="1" i="0">
                <a:solidFill>
                  <a:srgbClr val="7C5CFF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E6E9F5"/>
                </a:solidFill>
                <a:latin typeface="Segoe UI"/>
              </a:rPr>
              <a:t>What Got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685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 i="0">
                <a:solidFill>
                  <a:srgbClr val="9AA2C0"/>
                </a:solidFill>
                <a:latin typeface="Segoe UI"/>
              </a:rPr>
              <a:t>An insurance claims console where Temporal — not a database — is the source of truth.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E6E9F5"/>
                </a:solidFill>
                <a:latin typeface="Segoe UI"/>
              </a:rPr>
              <a:t>Four pieces, one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Segoe UI"/>
              </a:rPr>
              <a:t>◈ Temporal · Lifting the Veil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2468880" cy="100584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6E9F5"/>
                </a:solidFill>
                <a:latin typeface="Segoe UI"/>
              </a:rPr>
              <a:t>React Dashboard</a:t>
            </a:r>
          </a:p>
          <a:p>
            <a:pPr algn="ctr"/>
            <a:r>
              <a:rPr sz="1000" b="0" i="0">
                <a:solidFill>
                  <a:srgbClr val="9AA2C0"/>
                </a:solidFill>
                <a:latin typeface="Segoe UI"/>
              </a:rPr>
              <a:t>polling · localStorage prefs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33172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4C9FFE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011680"/>
            <a:ext cx="2468880" cy="100584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14884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6E9F5"/>
                </a:solidFill>
                <a:latin typeface="Segoe UI"/>
              </a:rPr>
              <a:t>NestJS API</a:t>
            </a:r>
          </a:p>
          <a:p>
            <a:pPr algn="ctr"/>
            <a:r>
              <a:rPr sz="1000" b="0" i="0">
                <a:solidFill>
                  <a:srgbClr val="9AA2C0"/>
                </a:solidFill>
                <a:latin typeface="Segoe UI"/>
              </a:rPr>
              <a:t>Temporal client · REST facade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33172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4C9FFE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011680"/>
            <a:ext cx="2468880" cy="1005840"/>
          </a:xfrm>
          <a:prstGeom prst="roundRect">
            <a:avLst>
              <a:gd name="adj" fmla="val 6000"/>
            </a:avLst>
          </a:prstGeom>
          <a:solidFill>
            <a:srgbClr val="1C1630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14884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6E9F5"/>
                </a:solidFill>
                <a:latin typeface="Segoe UI"/>
              </a:rPr>
              <a:t>Temporal Server</a:t>
            </a:r>
          </a:p>
          <a:p>
            <a:pPr algn="ctr"/>
            <a:r>
              <a:rPr sz="1000" b="0" i="0">
                <a:solidFill>
                  <a:srgbClr val="9AA2C0"/>
                </a:solidFill>
                <a:latin typeface="Segoe UI"/>
              </a:rPr>
              <a:t>event history · task queue · visibility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33172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4C9FFE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2011680"/>
            <a:ext cx="2468880" cy="100584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214884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6E9F5"/>
                </a:solidFill>
                <a:latin typeface="Segoe UI"/>
              </a:rPr>
              <a:t>NestJS Worker</a:t>
            </a:r>
          </a:p>
          <a:p>
            <a:pPr algn="ctr"/>
            <a:r>
              <a:rPr sz="1000" b="0" i="0">
                <a:solidFill>
                  <a:srgbClr val="9AA2C0"/>
                </a:solidFill>
                <a:latin typeface="Segoe UI"/>
              </a:rPr>
              <a:t>workflows + activities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3832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87171"/>
                </a:solidFill>
                <a:latin typeface="Segoe UI"/>
              </a:rPr>
              <a:t>✗ no database, anywhere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3832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34D399"/>
                </a:solidFill>
                <a:latin typeface="Segoe UI"/>
              </a:rPr>
              <a:t>✓ Temporal event history is the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33832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38BDF8"/>
                </a:solidFill>
                <a:latin typeface="Segoe UI"/>
              </a:rPr>
              <a:t>✓ localStorage = prefs + recent ids only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THE BUSINESS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E6E9F5"/>
                </a:solidFill>
                <a:latin typeface="Segoe UI"/>
              </a:rPr>
              <a:t>Nine stages → nine Temporal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Segoe UI"/>
              </a:rPr>
              <a:t>◈ Temporal · Lifting the Veil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3502152" cy="82296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38528"/>
            <a:ext cx="3227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E6E9F5"/>
                </a:solidFill>
                <a:latin typeface="Segoe UI"/>
              </a:rPr>
              <a:t>1. Submitted</a:t>
            </a:r>
          </a:p>
          <a:p>
            <a:r>
              <a:rPr sz="1100" b="0" i="0">
                <a:solidFill>
                  <a:srgbClr val="4C9FFE"/>
                </a:solidFill>
                <a:latin typeface="Consolas"/>
              </a:rPr>
              <a:t>workflow start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828800"/>
            <a:ext cx="3502152" cy="82296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1938528"/>
            <a:ext cx="3227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E6E9F5"/>
                </a:solidFill>
                <a:latin typeface="Segoe UI"/>
              </a:rPr>
              <a:t>2. Validation</a:t>
            </a:r>
          </a:p>
          <a:p>
            <a:r>
              <a:rPr sz="1100" b="0" i="0">
                <a:solidFill>
                  <a:srgbClr val="4C9FFE"/>
                </a:solidFill>
                <a:latin typeface="Consolas"/>
              </a:rPr>
              <a:t>activity + retry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18704" y="1828800"/>
            <a:ext cx="3502152" cy="82296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55864" y="1938528"/>
            <a:ext cx="3227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E6E9F5"/>
                </a:solidFill>
                <a:latin typeface="Segoe UI"/>
              </a:rPr>
              <a:t>3. Coverage check</a:t>
            </a:r>
          </a:p>
          <a:p>
            <a:r>
              <a:rPr sz="1100" b="0" i="0">
                <a:solidFill>
                  <a:srgbClr val="4C9FFE"/>
                </a:solidFill>
                <a:latin typeface="Consolas"/>
              </a:rPr>
              <a:t>activity + retry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88920"/>
            <a:ext cx="3502152" cy="82296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898648"/>
            <a:ext cx="3227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E6E9F5"/>
                </a:solidFill>
                <a:latin typeface="Segoe UI"/>
              </a:rPr>
              <a:t>4. Damage assessment</a:t>
            </a:r>
          </a:p>
          <a:p>
            <a:r>
              <a:rPr sz="1100" b="0" i="0">
                <a:solidFill>
                  <a:srgbClr val="4C9FFE"/>
                </a:solidFill>
                <a:latin typeface="Consolas"/>
              </a:rPr>
              <a:t>heartbeat + cancel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2788920"/>
            <a:ext cx="3502152" cy="82296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898648"/>
            <a:ext cx="3227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E6E9F5"/>
                </a:solidFill>
                <a:latin typeface="Segoe UI"/>
              </a:rPr>
              <a:t>5. Fraud evaluation</a:t>
            </a:r>
          </a:p>
          <a:p>
            <a:r>
              <a:rPr sz="1100" b="0" i="0">
                <a:solidFill>
                  <a:srgbClr val="4C9FFE"/>
                </a:solidFill>
                <a:latin typeface="Consolas"/>
              </a:rPr>
              <a:t>child workflow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18704" y="2788920"/>
            <a:ext cx="3502152" cy="82296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55864" y="2898648"/>
            <a:ext cx="3227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E6E9F5"/>
                </a:solidFill>
                <a:latin typeface="Segoe UI"/>
              </a:rPr>
              <a:t>6. Human review</a:t>
            </a:r>
          </a:p>
          <a:p>
            <a:r>
              <a:rPr sz="1100" b="0" i="0">
                <a:solidFill>
                  <a:srgbClr val="4C9FFE"/>
                </a:solidFill>
                <a:latin typeface="Consolas"/>
              </a:rPr>
              <a:t>signal · waits forever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49040"/>
            <a:ext cx="3502152" cy="82296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858768"/>
            <a:ext cx="3227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E6E9F5"/>
                </a:solidFill>
                <a:latin typeface="Segoe UI"/>
              </a:rPr>
              <a:t>7. Decision</a:t>
            </a:r>
          </a:p>
          <a:p>
            <a:r>
              <a:rPr sz="1100" b="0" i="0">
                <a:solidFill>
                  <a:srgbClr val="4C9FFE"/>
                </a:solidFill>
                <a:latin typeface="Consolas"/>
              </a:rPr>
              <a:t>saga: release/reserve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9392" y="3749040"/>
            <a:ext cx="3502152" cy="82296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6552" y="3858768"/>
            <a:ext cx="3227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E6E9F5"/>
                </a:solidFill>
                <a:latin typeface="Segoe UI"/>
              </a:rPr>
              <a:t>8. Payment</a:t>
            </a:r>
          </a:p>
          <a:p>
            <a:r>
              <a:rPr sz="1100" b="0" i="0">
                <a:solidFill>
                  <a:srgbClr val="4C9FFE"/>
                </a:solidFill>
                <a:latin typeface="Consolas"/>
              </a:rPr>
              <a:t>durable timer + activity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18704" y="3749040"/>
            <a:ext cx="3502152" cy="82296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3858768"/>
            <a:ext cx="3227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E6E9F5"/>
                </a:solidFill>
                <a:latin typeface="Segoe UI"/>
              </a:rPr>
              <a:t>9. Completed</a:t>
            </a:r>
          </a:p>
          <a:p>
            <a:r>
              <a:rPr sz="1100" b="0" i="0">
                <a:solidFill>
                  <a:srgbClr val="4C9FFE"/>
                </a:solidFill>
                <a:latin typeface="Consolas"/>
              </a:rPr>
              <a:t>workflow result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54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AA2C0"/>
                </a:solidFill>
                <a:latin typeface="Segoe UI"/>
              </a:rPr>
              <a:t>Every chip on this rail is a query result, live, from a running Temporal workflow.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E6E9F5"/>
                </a:solidFill>
                <a:latin typeface="Segoe UI"/>
              </a:rPr>
              <a:t>Inside the three packages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Segoe UI"/>
              </a:rPr>
              <a:t>◈ Temporal · Lifting the Veil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3444240" cy="39319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4C9F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01368"/>
            <a:ext cx="31150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WEB —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58568"/>
            <a:ext cx="307848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0" i="0">
                <a:solidFill>
                  <a:srgbClr val="E6E9F5"/>
                </a:solidFill>
                <a:latin typeface="Consolas"/>
              </a:rPr>
              <a:t>src/
├── pages/
│   ├── DashboardPage.tsx
│   └── ClaimDetailPage.tsx
├── components/
│   ├── StageTimeline.tsx
│   ├── ActionPanel.tsx
│   ├── SimulationPanel.tsx
│   └── …10 more
├── hooks/
│   ├── usePolling.ts
│   └── usePreferences.tsx
└── lib/
    ├── api.ts
    └── storage.ts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8640" y="1691640"/>
            <a:ext cx="3444240" cy="39319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1801368"/>
            <a:ext cx="31150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7C5CFF"/>
                </a:solidFill>
                <a:latin typeface="Segoe UI"/>
              </a:rPr>
              <a:t>API — REST FACADE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9808" y="2258568"/>
            <a:ext cx="307848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0" i="0">
                <a:solidFill>
                  <a:srgbClr val="E6E9F5"/>
                </a:solidFill>
                <a:latin typeface="Consolas"/>
              </a:rPr>
              <a:t>src/
├── claims/
│   ├── claims.controller.ts
│   ├── claims.service.ts
│   ├── temporal.mappers.ts
│   └── dto.ts
├── temporal/
│   └── temporal.service.ts
├── system/
│   └── system.controller.ts
└── main.ts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1691640"/>
            <a:ext cx="3444240" cy="39319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1792" y="1801368"/>
            <a:ext cx="31150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34D399"/>
                </a:solidFill>
                <a:latin typeface="Segoe UI"/>
              </a:rPr>
              <a:t>WORKER — WORKFLOWS &amp; ACTIVITIES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258568"/>
            <a:ext cx="307848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0" i="0">
                <a:solidFill>
                  <a:srgbClr val="E6E9F5"/>
                </a:solidFill>
                <a:latin typeface="Consolas"/>
              </a:rPr>
              <a:t>src/
├── workflows/
│   ├── claim.workflow.ts
│   └── fraud-check.workflow.ts
├── activities/
│   ├── claim/
│   │   ├── validate-claim.ts
│   │   ├── process-payment.ts
│   │   └── …8 more
│   ├── fraud/
│   │   ├── check-watchlists.ts
│   │   └── score-fraud-risk.ts
│   └── simulation.ts
├── temporal/
│   └── temporal-worker.service.ts
└── admin/
    └── admin.controller.ts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2472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AA2C0"/>
                </a:solidFill>
                <a:latin typeface="Segoe UI"/>
              </a:rPr>
              <a:t>packages/web, packages/api, packages/worker — plus packages/shared for the request/response types, stage definitions and progress math every package imports, none of them redefine.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CODE → OBSERVABILITY, FOR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E6E9F5"/>
                </a:solidFill>
                <a:latin typeface="Segoe UI"/>
              </a:rPr>
              <a:t>Three activity calls. One real execution timeline.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Segoe UI"/>
              </a:rPr>
              <a:t>◈ Temporal · Lifting the Veil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79676" y="1463040"/>
            <a:ext cx="8229600" cy="2788920"/>
          </a:xfrm>
          <a:prstGeom prst="roundRect">
            <a:avLst>
              <a:gd name="adj" fmla="val 6000"/>
            </a:avLst>
          </a:prstGeom>
          <a:solidFill>
            <a:srgbClr val="0D1020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79676" y="1463040"/>
            <a:ext cx="8229600" cy="365760"/>
          </a:xfrm>
          <a:prstGeom prst="roundRect">
            <a:avLst/>
          </a:prstGeom>
          <a:solidFill>
            <a:srgbClr val="151934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16836" y="1517904"/>
            <a:ext cx="7955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Consolas"/>
              </a:rPr>
              <a:t>●  ●  ●    fraud-check.workflow.ts — simplified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2556" y="1965960"/>
            <a:ext cx="78638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D6DCF5"/>
                </a:solidFill>
                <a:latin typeface="Consolas"/>
              </a:rPr>
              <a:t>const { checkClaimHistory, checkWatchlists, scoreFraudRisk } =
  proxyActivities&lt;typeof activities&gt;({ ...retryPolicy });
export async function fraudCheckWorkflow(input: ClaimInput) {
  const [history, watchlist] = await Promise.all([
    checkClaimHistory(input),
    checkWatchlists(input),
  ]);
  return await scoreFraudRisk(input.claimId, [...history, ...watchlist]);
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79676" y="4343400"/>
            <a:ext cx="8229600" cy="1463040"/>
          </a:xfrm>
          <a:prstGeom prst="roundRect">
            <a:avLst>
              <a:gd name="adj" fmla="val 6000"/>
            </a:avLst>
          </a:prstGeom>
          <a:solidFill>
            <a:srgbClr val="0D1020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79676" y="4343400"/>
            <a:ext cx="8229600" cy="365760"/>
          </a:xfrm>
          <a:prstGeom prst="roundRect">
            <a:avLst/>
          </a:prstGeom>
          <a:solidFill>
            <a:srgbClr val="151934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6836" y="4398264"/>
            <a:ext cx="7955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Consolas"/>
              </a:rPr>
              <a:t>●  ●  ●    Temporal Web UI — Timeline tab</a:t>
            </a:r>
          </a:p>
        </p:txBody>
      </p:sp>
      <p:pic>
        <p:nvPicPr>
          <p:cNvPr id="13" name="Picture 12" descr="temporal-timeline-fraud-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073" y="4800600"/>
            <a:ext cx="3150805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" y="59893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9AA2C0"/>
                </a:solidFill>
                <a:latin typeface="Segoe UI"/>
              </a:rPr>
              <a:t>No custom logging, no tracing setup, no dashboard to build — every activity call at the top shows up as a bar at the bottom the moment it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THE TEMPORAL BINGO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E6E9F5"/>
                </a:solidFill>
                <a:latin typeface="Segoe UI"/>
              </a:rPr>
              <a:t>What's actually demonstrated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Segoe UI"/>
              </a:rPr>
              <a:t>◈ Temporal · Lifting the Veil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3444240" cy="11887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75104"/>
            <a:ext cx="30419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34D399"/>
                </a:solidFill>
                <a:latin typeface="Segoe UI"/>
              </a:rPr>
              <a:t>RETRY POLICIES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per-stage, configurable backoff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8640" y="1828800"/>
            <a:ext cx="3444240" cy="11887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9808" y="1975104"/>
            <a:ext cx="30419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F87171"/>
                </a:solidFill>
                <a:latin typeface="Segoe UI"/>
              </a:rPr>
              <a:t>NON-RETRYABLE FAILURES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permanent errors stop cleanly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828800"/>
            <a:ext cx="3444240" cy="11887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1975104"/>
            <a:ext cx="30419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  <a:latin typeface="Segoe UI"/>
              </a:rPr>
              <a:t>DURABLE TIMERS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settlement hold + reminder loop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91840"/>
            <a:ext cx="3444240" cy="11887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438144"/>
            <a:ext cx="30419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7C5CFF"/>
                </a:solidFill>
                <a:latin typeface="Segoe UI"/>
              </a:rPr>
              <a:t>CHILD WORKFLOW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fraud check, own history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8640" y="3291840"/>
            <a:ext cx="3444240" cy="11887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9808" y="3438144"/>
            <a:ext cx="30419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  <a:latin typeface="Segoe UI"/>
              </a:rPr>
              <a:t>SIGNALS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approve / deny / info / recover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3291840"/>
            <a:ext cx="3444240" cy="11887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8368" y="3438144"/>
            <a:ext cx="30419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QUERIES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live state + progress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54880"/>
            <a:ext cx="3444240" cy="11887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901184"/>
            <a:ext cx="30419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UPDATE + VALIDATOR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adjuster notes, rejected inline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58640" y="4754880"/>
            <a:ext cx="3444240" cy="11887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9808" y="4901184"/>
            <a:ext cx="30419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FBBF24"/>
                </a:solidFill>
                <a:latin typeface="Segoe UI"/>
              </a:rPr>
              <a:t>CANCELLATION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saga-style compensation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7200" y="4754880"/>
            <a:ext cx="3444240" cy="11887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8" y="4901184"/>
            <a:ext cx="30419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SEARCH ATTRIBUTES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find claims by status/type/score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6217920"/>
            <a:ext cx="3444240" cy="11887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6364224"/>
            <a:ext cx="30419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34D399"/>
                </a:solidFill>
                <a:latin typeface="Segoe UI"/>
              </a:rPr>
              <a:t>WORKER-RESTART DURABILITY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kill it mid-claim, resume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8640" y="6217920"/>
            <a:ext cx="3444240" cy="11887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9808" y="6364224"/>
            <a:ext cx="30419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HEARTBEATS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cancellable long-running activity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77200" y="6217920"/>
            <a:ext cx="3444240" cy="118872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8368" y="6364224"/>
            <a:ext cx="30419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F87171"/>
                </a:solidFill>
                <a:latin typeface="Segoe UI"/>
              </a:rPr>
              <a:t>NO DATABASE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Temporal is the only state store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200" b="1" i="0">
                <a:solidFill>
                  <a:srgbClr val="7C5CFF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E6E9F5"/>
                </a:solidFill>
                <a:latin typeface="Segoe UI"/>
              </a:rPr>
              <a:t>Let's See It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685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 i="0">
                <a:solidFill>
                  <a:srgbClr val="9AA2C0"/>
                </a:solidFill>
                <a:latin typeface="Segoe UI"/>
              </a:rPr>
              <a:t>Real failures. Real recovery. No cuts hiding a crash.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5CFF"/>
                </a:solidFill>
                <a:latin typeface="Segoe UI"/>
              </a:rPr>
              <a:t>DEMO 1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11480"/>
            <a:ext cx="8778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E6E9F5"/>
                </a:solidFill>
                <a:latin typeface="Segoe UI"/>
              </a:rPr>
              <a:t>Submit a claim, watch it run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05060C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01-submit-and-progres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585720" y="1325880"/>
            <a:ext cx="699008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83280" y="544068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F7794"/>
                </a:solidFill>
                <a:latin typeface="Consolas"/>
              </a:rPr>
              <a:t>submit-and-progress.mp4 — click to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Dashboard → Submit claim → live redirect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Stage timeline updates via polling, no refresh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Progress % computed from stage weights, not hardcoded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38BDF8"/>
                </a:solidFill>
                <a:latin typeface="Segoe UI"/>
              </a:rPr>
              <a:t>DEMO 2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11480"/>
            <a:ext cx="8778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E6E9F5"/>
                </a:solidFill>
                <a:latin typeface="Segoe UI"/>
              </a:rPr>
              <a:t>The workflow waits — forever — for you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05060C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02-human-review-signal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585720" y="1325880"/>
            <a:ext cx="699008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83280" y="544068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F7794"/>
                </a:solidFill>
                <a:latin typeface="Consolas"/>
              </a:rPr>
              <a:t>human-review-signals.mp4 — click to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Claim parks at “Human adjuster review”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Request more info → provide info → back to review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Approve → durable settlement timer → paid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BBF24"/>
                </a:solidFill>
                <a:latin typeface="Segoe UI"/>
              </a:rPr>
              <a:t>DEMO 3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11480"/>
            <a:ext cx="8778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E6E9F5"/>
                </a:solidFill>
                <a:latin typeface="Segoe UI"/>
              </a:rPr>
              <a:t>Break it a little — watch it heal itself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05060C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03-transient-retr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585720" y="1325880"/>
            <a:ext cx="699008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83280" y="544068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F7794"/>
                </a:solidFill>
                <a:latin typeface="Consolas"/>
              </a:rPr>
              <a:t>transient-retry.mp4 — click to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Arm “transient failure” on damage assessment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Activity panel shows attempt 1, 2, 3 — live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Same code path, zero extra retry logic written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87171"/>
                </a:solidFill>
                <a:latin typeface="Segoe UI"/>
              </a:rPr>
              <a:t>DEMO 4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11480"/>
            <a:ext cx="8778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E6E9F5"/>
                </a:solidFill>
                <a:latin typeface="Segoe UI"/>
              </a:rPr>
              <a:t>Break it for real — recover it from the 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05060C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04-permanent-failure-recover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585720" y="1325880"/>
            <a:ext cx="699008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83280" y="544068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F7794"/>
                </a:solidFill>
                <a:latin typeface="Consolas"/>
              </a:rPr>
              <a:t>permanent-failure-recovery.mp4 — click to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“Break payment (permanent)” → non-retryable ApplicationFailure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Claim parks in “blocked on failure” — not crashed, not lost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Operator clicks Retry → clears fault → claim completes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34D399"/>
                </a:solidFill>
                <a:latin typeface="Segoe UI"/>
              </a:rPr>
              <a:t>DEMO 5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11480"/>
            <a:ext cx="8778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E6E9F5"/>
                </a:solidFill>
                <a:latin typeface="Segoe UI"/>
              </a:rPr>
              <a:t>Kill the worker. Mid-claim. On purpose.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05060C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05-worker-restart-durabilit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585720" y="1325880"/>
            <a:ext cx="699008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83280" y="544068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F7794"/>
                </a:solidFill>
                <a:latin typeface="Consolas"/>
              </a:rPr>
              <a:t>worker-restart-durability.mp4 — click to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“Kill &amp; restart worker” while a claim is blocked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worker-…-gen1 dies, worker-…-gen2 comes up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Claim resumes exactly where it was — timers included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9AA2C0"/>
                </a:solidFill>
                <a:latin typeface="Segoe UI"/>
              </a:rPr>
              <a:t>DEMO 6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11480"/>
            <a:ext cx="8778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E6E9F5"/>
                </a:solidFill>
                <a:latin typeface="Segoe UI"/>
              </a:rPr>
              <a:t>Cancel mid-flight — compensations run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05060C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06-cancellation-saga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585720" y="1325880"/>
            <a:ext cx="699008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83280" y="544068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F7794"/>
                </a:solidFill>
                <a:latin typeface="Consolas"/>
              </a:rPr>
              <a:t>cancellation-saga.mp4 — click to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Cancel a running claim from the dashboard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Reserve released, payment reversed, claimant notified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9AA2C0"/>
                </a:solidFill>
                <a:latin typeface="Segoe UI"/>
              </a:rPr>
              <a:t>▸ Workflow closes CANCELED — cleanly, not abruptly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200" b="1" i="0">
                <a:solidFill>
                  <a:srgbClr val="7C5CFF"/>
                </a:solidFill>
                <a:latin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E6E9F5"/>
                </a:solidFill>
                <a:latin typeface="Segoe UI"/>
              </a:rPr>
              <a:t>Matching Your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685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 i="0">
                <a:solidFill>
                  <a:srgbClr val="9AA2C0"/>
                </a:solidFill>
                <a:latin typeface="Segoe UI"/>
              </a:rPr>
              <a:t>Turning what we just saw into a checklist you can use.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PATTERN 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E6E9F5"/>
                </a:solidFill>
                <a:latin typeface="Segoe UI"/>
              </a:rPr>
              <a:t>Signals you have a good Temporal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Segoe UI"/>
              </a:rPr>
              <a:t>◈ Temporal · Lifting the Veil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515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34D399"/>
                </a:solidFill>
                <a:latin typeface="Segoe UI"/>
              </a:rPr>
              <a:t>✓  </a:t>
            </a:r>
            <a:r>
              <a:rPr sz="1700" b="0" i="0">
                <a:solidFill>
                  <a:srgbClr val="E6E9F5"/>
                </a:solidFill>
                <a:latin typeface="Segoe UI"/>
              </a:rPr>
              <a:t>A process that spans minutes, days, or months — not one request/response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34D399"/>
                </a:solidFill>
                <a:latin typeface="Segoe UI"/>
              </a:rPr>
              <a:t>✓  </a:t>
            </a:r>
            <a:r>
              <a:rPr sz="1700" b="0" i="0">
                <a:solidFill>
                  <a:srgbClr val="E6E9F5"/>
                </a:solidFill>
                <a:latin typeface="Segoe UI"/>
              </a:rPr>
              <a:t>A human has to approve, deny, or provide info at some unknown point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34D399"/>
                </a:solidFill>
                <a:latin typeface="Segoe UI"/>
              </a:rPr>
              <a:t>✓  </a:t>
            </a:r>
            <a:r>
              <a:rPr sz="1700" b="0" i="0">
                <a:solidFill>
                  <a:srgbClr val="E6E9F5"/>
                </a:solidFill>
                <a:latin typeface="Segoe UI"/>
              </a:rPr>
              <a:t>Steps call flaky external systems that need retries with backoff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34D399"/>
                </a:solidFill>
                <a:latin typeface="Segoe UI"/>
              </a:rPr>
              <a:t>✓  </a:t>
            </a:r>
            <a:r>
              <a:rPr sz="1700" b="0" i="0">
                <a:solidFill>
                  <a:srgbClr val="E6E9F5"/>
                </a:solidFill>
                <a:latin typeface="Segoe UI"/>
              </a:rPr>
              <a:t>A crash mid-process must not lose or double-run anything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34D399"/>
                </a:solidFill>
                <a:latin typeface="Segoe UI"/>
              </a:rPr>
              <a:t>✓  </a:t>
            </a:r>
            <a:r>
              <a:rPr sz="1700" b="0" i="0">
                <a:solidFill>
                  <a:srgbClr val="E6E9F5"/>
                </a:solidFill>
                <a:latin typeface="Segoe UI"/>
              </a:rPr>
              <a:t>You need an audit trail of exactly what happened, in order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34D399"/>
                </a:solidFill>
                <a:latin typeface="Segoe UI"/>
              </a:rPr>
              <a:t>✓  </a:t>
            </a:r>
            <a:r>
              <a:rPr sz="1700" b="0" i="0">
                <a:solidFill>
                  <a:srgbClr val="E6E9F5"/>
                </a:solidFill>
                <a:latin typeface="Segoe UI"/>
              </a:rPr>
              <a:t>Multiple steps must be undone together if a later one fails (saga)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THE REUSABLE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E6E9F5"/>
                </a:solidFill>
                <a:latin typeface="Segoe UI"/>
              </a:rPr>
              <a:t>Durability questions to ask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Segoe UI"/>
              </a:rPr>
              <a:t>◈ Temporal · Lifting the Veil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75104"/>
            <a:ext cx="49011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ASK ABOUT FAILURE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What activities can fail transiently? What's permanent? What must be non-retryable?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975104"/>
            <a:ext cx="49011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ASK ABOUT WAITING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What waits on a human? For how long? What happens if nobody answers?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078224"/>
            <a:ext cx="49011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ASK ABOUT STATE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What must survive a crash? Who is the source of truth?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4078224"/>
            <a:ext cx="49011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ASK ABOUT BOUNDARIES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Where does UI end and API begin? Where does API end and worker begin?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HOMEWORK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E6E9F5"/>
                </a:solidFill>
                <a:latin typeface="Segoe UI"/>
              </a:rPr>
              <a:t>Try this yourself, 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Segoe UI"/>
              </a:rPr>
              <a:t>◈ Temporal · Lifting the Veil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2377440"/>
          </a:xfrm>
          <a:prstGeom prst="roundRect">
            <a:avLst>
              <a:gd name="adj" fmla="val 6000"/>
            </a:avLst>
          </a:prstGeom>
          <a:solidFill>
            <a:srgbClr val="0D1020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365760"/>
          </a:xfrm>
          <a:prstGeom prst="roundRect">
            <a:avLst/>
          </a:prstGeom>
          <a:solidFill>
            <a:srgbClr val="151934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9AA2C0"/>
                </a:solidFill>
                <a:latin typeface="Consolas"/>
              </a:rPr>
              <a:t>●  ●  ●    prompt-template.txt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42416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400" b="0" i="0">
                <a:solidFill>
                  <a:srgbClr val="D6DCF5"/>
                </a:solidFill>
                <a:latin typeface="Consolas"/>
              </a:rPr>
              <a:t>&gt; Here's my rough idea: [describe your process in 2-3 sentences]. Turn this into a spec for a coding agent building it on Temporal. Explicitly call out: which steps need retries and what kind of failures they should tolerate, where a human needs to approve/reject/provide input and how long we should wait, what a crash mid-process must not lose, and how the UI/API/worker boundaries should be drawn. Then build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GO BUILD SOMETHING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E6E9F5"/>
                </a:solidFill>
                <a:latin typeface="Segoe UI"/>
              </a:rPr>
              <a:t>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2C0"/>
                </a:solidFill>
                <a:latin typeface="Segoe UI"/>
              </a:rPr>
              <a:t>◈ Temporal · Lifting the Veil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303520" cy="146304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75104"/>
            <a:ext cx="490118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THIS DEMO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Full source, README, tests — github.com/simy307/temporal-claims-demo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303520" cy="146304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975104"/>
            <a:ext cx="490118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TEMPORAL DOCS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docs.temporal.io · TypeScript SDK samples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5303520" cy="146304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712464"/>
            <a:ext cx="490118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COMMUNITY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Temporal Slack · community forum · local meetups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566160"/>
            <a:ext cx="5303520" cy="1463040"/>
          </a:xfrm>
          <a:prstGeom prst="roundRect">
            <a:avLst>
              <a:gd name="adj" fmla="val 6000"/>
            </a:avLst>
          </a:prstGeom>
          <a:solidFill>
            <a:srgbClr val="141828"/>
          </a:solidFill>
          <a:ln w="12700">
            <a:solidFill>
              <a:srgbClr val="23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3712464"/>
            <a:ext cx="490118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4C9FFE"/>
                </a:solidFill>
                <a:latin typeface="Segoe UI"/>
              </a:rPr>
              <a:t>THE PROMPT TEMPLATE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9AA2C0"/>
                </a:solidFill>
                <a:latin typeface="Segoe UI"/>
              </a:rPr>
              <a:t>Previous slide — steal it, adapt it, use it on your own use case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300" b="1" i="0">
                <a:solidFill>
                  <a:srgbClr val="4C9FFE"/>
                </a:solidFill>
                <a:latin typeface="Segoe UI"/>
              </a:rPr>
              <a:t>TEMPORAL · ENGINEERING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9144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 i="0">
                <a:solidFill>
                  <a:srgbClr val="E6E9F5"/>
                </a:solidFill>
                <a:latin typeface="Segoe UI"/>
              </a:rPr>
              <a:t>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7772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 i="0">
                <a:solidFill>
                  <a:srgbClr val="9AA2C0"/>
                </a:solidFill>
                <a:latin typeface="Segoe U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212080"/>
            <a:ext cx="10881360" cy="12700"/>
          </a:xfrm>
          <a:prstGeom prst="rect">
            <a:avLst/>
          </a:prstGeom>
          <a:solidFill>
            <a:srgbClr val="23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