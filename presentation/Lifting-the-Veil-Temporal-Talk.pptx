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temporalio/skill-temporal-developer"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 is not said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
        <p:nvSpPr>
          <p:cNvPr id="10" name="TextBox 9"/>
          <p:cNvSpPr txBox="1"/>
          <p:nvPr/>
        </p:nvSpPr>
        <p:spPr>
          <a:xfrm>
            <a:off x="640080" y="5897880"/>
            <a:ext cx="10881360" cy="320040"/>
          </a:xfrm>
          <a:prstGeom prst="rect">
            <a:avLst/>
          </a:prstGeom>
          <a:noFill/>
        </p:spPr>
        <p:txBody>
          <a:bodyPr wrap="square" anchor="t" lIns="0" rIns="0" tIns="0" bIns="0">
            <a:spAutoFit/>
          </a:bodyPr>
          <a:lstStyle/>
          <a:p>
            <a:r>
              <a:rPr sz="1300" b="0" i="0">
                <a:solidFill>
                  <a:srgbClr val="9AA2C0"/>
                </a:solidFill>
                <a:latin typeface="Segoe UI"/>
              </a:rPr>
              <a:t>Temporal AI skill: </a:t>
            </a:r>
            <a:r>
              <a:rPr sz="1300" b="0" i="0">
                <a:solidFill>
                  <a:srgbClr val="4C9FFE"/>
                </a:solidFill>
                <a:latin typeface="Consolas"/>
                <a:hlinkClick r:id="rId3"/>
              </a:rPr>
              <a:t>github.com/temporalio/skill-temporal-developer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9968"/>
            <a:ext cx="4709160" cy="914400"/>
          </a:xfrm>
          <a:prstGeom prst="rect">
            <a:avLst/>
          </a:prstGeom>
          <a:noFill/>
        </p:spPr>
        <p:txBody>
          <a:bodyPr wrap="square" anchor="t" lIns="0" rIns="0" tIns="0" bIns="0">
            <a:spAutoFit/>
          </a:bodyPr>
          <a:lstStyle/>
          <a:p>
            <a:r>
              <a:rPr sz="1800" b="1" i="0">
                <a:solidFill>
                  <a:srgbClr val="E6E9F5"/>
                </a:solidFill>
                <a:latin typeface="Segoe UI"/>
              </a:rPr>
              <a:t>React Dashboard</a:t>
            </a:r>
          </a:p>
          <a:p>
            <a:pPr>
              <a:spcBef>
                <a:spcPts val="500"/>
              </a:spcBef>
            </a:pPr>
            <a:r>
              <a:rPr sz="1300" b="0" i="0">
                <a:solidFill>
                  <a:srgbClr val="9AA2C0"/>
                </a:solidFill>
                <a:latin typeface="Segoe UI"/>
              </a:rPr>
              <a:t>Polls the API and keeps only preferences + recent workflow IDs in localStorage.</a:t>
            </a:r>
          </a:p>
        </p:txBody>
      </p:sp>
      <p:sp>
        <p:nvSpPr>
          <p:cNvPr id="8" name="Rounded Rectangle 7"/>
          <p:cNvSpPr/>
          <p:nvPr/>
        </p:nvSpPr>
        <p:spPr>
          <a:xfrm>
            <a:off x="598932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2029968"/>
            <a:ext cx="4709160" cy="914400"/>
          </a:xfrm>
          <a:prstGeom prst="rect">
            <a:avLst/>
          </a:prstGeom>
          <a:noFill/>
        </p:spPr>
        <p:txBody>
          <a:bodyPr wrap="square" anchor="t" lIns="0" rIns="0" tIns="0" bIns="0">
            <a:spAutoFit/>
          </a:bodyPr>
          <a:lstStyle/>
          <a:p>
            <a:r>
              <a:rPr sz="1800" b="1" i="0">
                <a:solidFill>
                  <a:srgbClr val="E6E9F5"/>
                </a:solidFill>
                <a:latin typeface="Segoe UI"/>
              </a:rPr>
              <a:t>NestJS API</a:t>
            </a:r>
          </a:p>
          <a:p>
            <a:pPr>
              <a:spcBef>
                <a:spcPts val="500"/>
              </a:spcBef>
            </a:pPr>
            <a:r>
              <a:rPr sz="1300" b="0" i="0">
                <a:solidFill>
                  <a:srgbClr val="9AA2C0"/>
                </a:solidFill>
                <a:latin typeface="Segoe UI"/>
              </a:rPr>
              <a:t>REST facade that starts workflows, sends signals, and runs workflow queries.</a:t>
            </a:r>
          </a:p>
        </p:txBody>
      </p:sp>
      <p:sp>
        <p:nvSpPr>
          <p:cNvPr id="10" name="Rounded Rectangle 9"/>
          <p:cNvSpPr/>
          <p:nvPr/>
        </p:nvSpPr>
        <p:spPr>
          <a:xfrm>
            <a:off x="640080" y="3246120"/>
            <a:ext cx="5166360" cy="12344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7288"/>
            <a:ext cx="4709160" cy="914400"/>
          </a:xfrm>
          <a:prstGeom prst="rect">
            <a:avLst/>
          </a:prstGeom>
          <a:noFill/>
        </p:spPr>
        <p:txBody>
          <a:bodyPr wrap="square" anchor="t" lIns="0" rIns="0" tIns="0" bIns="0">
            <a:spAutoFit/>
          </a:bodyPr>
          <a:lstStyle/>
          <a:p>
            <a:r>
              <a:rPr sz="1800" b="1" i="0">
                <a:solidFill>
                  <a:srgbClr val="4C9FFE"/>
                </a:solidFill>
                <a:latin typeface="Segoe UI"/>
              </a:rPr>
              <a:t>Temporal Server</a:t>
            </a:r>
          </a:p>
          <a:p>
            <a:pPr>
              <a:spcBef>
                <a:spcPts val="500"/>
              </a:spcBef>
            </a:pPr>
            <a:r>
              <a:rPr sz="1300" b="0" i="0">
                <a:solidFill>
                  <a:srgbClr val="9AA2C0"/>
                </a:solidFill>
                <a:latin typeface="Segoe UI"/>
              </a:rPr>
              <a:t>Event history, task queues, timers, visibility, and the authoritative claim state.</a:t>
            </a:r>
          </a:p>
        </p:txBody>
      </p:sp>
      <p:sp>
        <p:nvSpPr>
          <p:cNvPr id="12" name="Rounded Rectangle 11"/>
          <p:cNvSpPr/>
          <p:nvPr/>
        </p:nvSpPr>
        <p:spPr>
          <a:xfrm>
            <a:off x="5989320" y="324612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4709160" cy="914400"/>
          </a:xfrm>
          <a:prstGeom prst="rect">
            <a:avLst/>
          </a:prstGeom>
          <a:noFill/>
        </p:spPr>
        <p:txBody>
          <a:bodyPr wrap="square" anchor="t" lIns="0" rIns="0" tIns="0" bIns="0">
            <a:spAutoFit/>
          </a:bodyPr>
          <a:lstStyle/>
          <a:p>
            <a:r>
              <a:rPr sz="1800" b="1" i="0">
                <a:solidFill>
                  <a:srgbClr val="E6E9F5"/>
                </a:solidFill>
                <a:latin typeface="Segoe UI"/>
              </a:rPr>
              <a:t>NestJS Worker</a:t>
            </a:r>
          </a:p>
          <a:p>
            <a:pPr>
              <a:spcBef>
                <a:spcPts val="500"/>
              </a:spcBef>
            </a:pPr>
            <a:r>
              <a:rPr sz="1300" b="0" i="0">
                <a:solidFill>
                  <a:srgbClr val="9AA2C0"/>
                </a:solidFill>
                <a:latin typeface="Segoe UI"/>
              </a:rPr>
              <a:t>Runs deterministic workflow code and side-effecting activity implementations.</a:t>
            </a:r>
          </a:p>
        </p:txBody>
      </p:sp>
      <p:sp>
        <p:nvSpPr>
          <p:cNvPr id="14" name="TextBox 13"/>
          <p:cNvSpPr txBox="1"/>
          <p:nvPr/>
        </p:nvSpPr>
        <p:spPr>
          <a:xfrm>
            <a:off x="640080" y="4937760"/>
            <a:ext cx="3657600" cy="365760"/>
          </a:xfrm>
          <a:prstGeom prst="rect">
            <a:avLst/>
          </a:prstGeom>
          <a:noFill/>
        </p:spPr>
        <p:txBody>
          <a:bodyPr wrap="square" anchor="t" lIns="0" rIns="0" tIns="0" bIns="0">
            <a:spAutoFit/>
          </a:bodyPr>
          <a:lstStyle/>
          <a:p>
            <a:r>
              <a:rPr sz="1400" b="1" i="0">
                <a:solidFill>
                  <a:srgbClr val="F87171"/>
                </a:solidFill>
                <a:latin typeface="Segoe UI"/>
              </a:rPr>
              <a:t>✗ no database, anywhere</a:t>
            </a:r>
          </a:p>
        </p:txBody>
      </p:sp>
      <p:sp>
        <p:nvSpPr>
          <p:cNvPr id="15" name="TextBox 14"/>
          <p:cNvSpPr txBox="1"/>
          <p:nvPr/>
        </p:nvSpPr>
        <p:spPr>
          <a:xfrm>
            <a:off x="4297680" y="4937760"/>
            <a:ext cx="3657600" cy="365760"/>
          </a:xfrm>
          <a:prstGeom prst="rect">
            <a:avLst/>
          </a:prstGeom>
          <a:noFill/>
        </p:spPr>
        <p:txBody>
          <a:bodyPr wrap="square" anchor="t" lIns="0" rIns="0" tIns="0" bIns="0">
            <a:spAutoFit/>
          </a:bodyPr>
          <a:lstStyle/>
          <a:p>
            <a:r>
              <a:rPr sz="1400" b="1" i="0">
                <a:solidFill>
                  <a:srgbClr val="34D399"/>
                </a:solidFill>
                <a:latin typeface="Segoe UI"/>
              </a:rPr>
              <a:t>✓ Temporal event history is the state</a:t>
            </a:r>
          </a:p>
        </p:txBody>
      </p:sp>
      <p:sp>
        <p:nvSpPr>
          <p:cNvPr id="16" name="TextBox 15"/>
          <p:cNvSpPr txBox="1"/>
          <p:nvPr/>
        </p:nvSpPr>
        <p:spPr>
          <a:xfrm>
            <a:off x="7955280" y="4937760"/>
            <a:ext cx="3657600" cy="365760"/>
          </a:xfrm>
          <a:prstGeom prst="rect">
            <a:avLst/>
          </a:prstGeom>
          <a:noFill/>
        </p:spPr>
        <p:txBody>
          <a:bodyPr wrap="square" anchor="t" lIns="0" rIns="0" tIns="0" bIns="0">
            <a:spAutoFit/>
          </a:bodyPr>
          <a:lstStyle/>
          <a:p>
            <a:r>
              <a:rPr sz="1400" b="1" i="0">
                <a:solidFill>
                  <a:srgbClr val="38BDF8"/>
                </a:solidFill>
                <a:latin typeface="Segoe UI"/>
              </a:rPr>
              <a:t>✓ localStorage = prefs + recent ids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1" i="0">
                <a:solidFill>
                  <a:srgbClr val="7C5CFF"/>
                </a:solidFill>
                <a:latin typeface="Consolas"/>
              </a:rPr>
              <a:t>activity</a:t>
            </a:r>
            <a:r>
              <a:rPr sz="1100" b="0" i="0">
                <a:solidFill>
                  <a:srgbClr val="4C9FFE"/>
                </a:solidFill>
                <a:latin typeface="Consolas"/>
              </a:rPr>
              <a:t>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1" i="0">
                <a:solidFill>
                  <a:srgbClr val="7C5CFF"/>
                </a:solidFill>
                <a:latin typeface="Consolas"/>
              </a:rPr>
              <a:t>activity</a:t>
            </a:r>
            <a:r>
              <a:rPr sz="1100" b="0" i="0">
                <a:solidFill>
                  <a:srgbClr val="4C9FFE"/>
                </a:solidFill>
                <a:latin typeface="Consolas"/>
              </a:rPr>
              <a:t>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t>
            </a:r>
            <a:r>
              <a:rPr sz="1100" b="1" i="0">
                <a:solidFill>
                  <a:srgbClr val="7C5CFF"/>
                </a:solidFill>
                <a:latin typeface="Consolas"/>
              </a:rPr>
              <a:t>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a:t>
            </a:r>
            <a:r>
              <a:rPr sz="1200" b="1" i="0">
                <a:solidFill>
                  <a:srgbClr val="4C9FFE"/>
                </a:solidFill>
                <a:latin typeface="Consolas"/>
              </a:rPr>
              <a:t>checkClaimHistory</a:t>
            </a:r>
            <a:r>
              <a:rPr sz="1200" b="0" i="0">
                <a:solidFill>
                  <a:srgbClr val="D6DCF5"/>
                </a:solidFill>
                <a:latin typeface="Consolas"/>
              </a:rPr>
              <a:t>, </a:t>
            </a:r>
            <a:r>
              <a:rPr sz="1200" b="1" i="0">
                <a:solidFill>
                  <a:srgbClr val="4C9FFE"/>
                </a:solidFill>
                <a:latin typeface="Consolas"/>
              </a:rPr>
              <a:t>checkWatchlists</a:t>
            </a:r>
            <a:r>
              <a:rPr sz="1200" b="0" i="0">
                <a:solidFill>
                  <a:srgbClr val="D6DCF5"/>
                </a:solidFill>
                <a:latin typeface="Consolas"/>
              </a:rPr>
              <a:t>, </a:t>
            </a:r>
            <a:r>
              <a:rPr sz="1200" b="1" i="0">
                <a:solidFill>
                  <a:srgbClr val="4C9FFE"/>
                </a:solidFill>
                <a:latin typeface="Consolas"/>
              </a:rPr>
              <a:t>scoreFraudRisk</a:t>
            </a:r>
            <a:r>
              <a:rPr sz="1200" b="0" i="0">
                <a:solidFill>
                  <a:srgbClr val="D6DCF5"/>
                </a:solidFill>
                <a:latin typeface="Consolas"/>
              </a:rPr>
              <a:t> } =
  proxyActivities&lt;typeof activities&gt;({ ...retryPolicy });
export async function </a:t>
            </a:r>
            <a:r>
              <a:rPr sz="1200" b="1" i="0">
                <a:solidFill>
                  <a:srgbClr val="4C9FFE"/>
                </a:solidFill>
                <a:latin typeface="Consolas"/>
              </a:rPr>
              <a:t>fraudCheckWorkflow</a:t>
            </a:r>
            <a:r>
              <a:rPr sz="1200" b="0" i="0">
                <a:solidFill>
                  <a:srgbClr val="D6DCF5"/>
                </a:solidFill>
                <a:latin typeface="Consolas"/>
              </a:rPr>
              <a:t>(input: ClaimInput) {
  const [history, watchlist] = await Promise.all([
    </a:t>
            </a:r>
            <a:r>
              <a:rPr sz="1200" b="1" i="0">
                <a:solidFill>
                  <a:srgbClr val="4C9FFE"/>
                </a:solidFill>
                <a:latin typeface="Consolas"/>
              </a:rPr>
              <a:t>checkClaimHistory</a:t>
            </a:r>
            <a:r>
              <a:rPr sz="1200" b="0" i="0">
                <a:solidFill>
                  <a:srgbClr val="D6DCF5"/>
                </a:solidFill>
                <a:latin typeface="Consolas"/>
              </a:rPr>
              <a:t>(input),
    </a:t>
            </a:r>
            <a:r>
              <a:rPr sz="1200" b="1" i="0">
                <a:solidFill>
                  <a:srgbClr val="4C9FFE"/>
                </a:solidFill>
                <a:latin typeface="Consolas"/>
              </a:rPr>
              <a:t>checkWatchlists</a:t>
            </a:r>
            <a:r>
              <a:rPr sz="1200" b="0" i="0">
                <a:solidFill>
                  <a:srgbClr val="D6DCF5"/>
                </a:solidFill>
                <a:latin typeface="Consolas"/>
              </a:rPr>
              <a:t>(input),
  ]);
  return await </a:t>
            </a:r>
            <a:r>
              <a:rPr sz="1200" b="1" i="0">
                <a:solidFill>
                  <a:srgbClr val="4C9FFE"/>
                </a:solidFill>
                <a:latin typeface="Consolas"/>
              </a:rPr>
              <a:t>scoreFraudRisk</a:t>
            </a:r>
            <a:r>
              <a:rPr sz="1200" b="0" i="0">
                <a:solidFill>
                  <a:srgbClr val="D6DCF5"/>
                </a:solidFill>
                <a:latin typeface="Consolas"/>
              </a:rPr>
              <a:t>(input.claimId,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Short-lived workflows can still fit — milliseconds or seconds are fine when you need durability, retries, or history</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