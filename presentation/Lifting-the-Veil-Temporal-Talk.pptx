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everyone. I’m Brian Simonson, Principal Engineer at Shamrock Trading Corporation. Shamrock is a world-leading provider of transportation, financial and technology services, helping businesses move freight, improve cash flow, and streamline operations across a global footprint.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temporalio/skill-temporal-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8.jpg"/><Relationship Id="rId5"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4480560" cy="411480"/>
          </a:xfrm>
          <a:prstGeom prst="rect">
            <a:avLst/>
          </a:prstGeom>
          <a:noFill/>
        </p:spPr>
        <p:txBody>
          <a:bodyPr wrap="square" anchor="t" lIns="0" rIns="0" tIns="0" bIns="0">
            <a:spAutoFit/>
          </a:bodyPr>
          <a:lstStyle/>
          <a:p>
            <a:r>
              <a:rPr sz="2400" b="1" i="0">
                <a:solidFill>
                  <a:srgbClr val="00734E"/>
                </a:solidFill>
                <a:latin typeface="Montserrat"/>
              </a:rPr>
              <a:t>SHAMROCK</a:t>
            </a:r>
          </a:p>
        </p:txBody>
      </p:sp>
      <p:sp>
        <p:nvSpPr>
          <p:cNvPr id="5" name="TextBox 4"/>
          <p:cNvSpPr txBox="1"/>
          <p:nvPr/>
        </p:nvSpPr>
        <p:spPr>
          <a:xfrm>
            <a:off x="640080" y="1874519"/>
            <a:ext cx="4572000" cy="822960"/>
          </a:xfrm>
          <a:prstGeom prst="rect">
            <a:avLst/>
          </a:prstGeom>
          <a:noFill/>
        </p:spPr>
        <p:txBody>
          <a:bodyPr wrap="square" anchor="t" lIns="0" rIns="0" tIns="0" bIns="0">
            <a:spAutoFit/>
          </a:bodyPr>
          <a:lstStyle/>
          <a:p>
            <a:r>
              <a:rPr sz="4200" b="1" i="0">
                <a:solidFill>
                  <a:srgbClr val="101418"/>
                </a:solidFill>
                <a:latin typeface="Montserrat"/>
              </a:rPr>
              <a:t>Brian Simonson</a:t>
            </a:r>
          </a:p>
        </p:txBody>
      </p:sp>
      <p:sp>
        <p:nvSpPr>
          <p:cNvPr id="6" name="TextBox 5"/>
          <p:cNvSpPr txBox="1"/>
          <p:nvPr/>
        </p:nvSpPr>
        <p:spPr>
          <a:xfrm>
            <a:off x="640080" y="2743200"/>
            <a:ext cx="4572000" cy="320040"/>
          </a:xfrm>
          <a:prstGeom prst="rect">
            <a:avLst/>
          </a:prstGeom>
          <a:noFill/>
        </p:spPr>
        <p:txBody>
          <a:bodyPr wrap="square" anchor="t" lIns="0" rIns="0" tIns="0" bIns="0">
            <a:spAutoFit/>
          </a:bodyPr>
          <a:lstStyle/>
          <a:p>
            <a:r>
              <a:rPr sz="1200" b="1" i="0">
                <a:solidFill>
                  <a:srgbClr val="00734E"/>
                </a:solidFill>
                <a:latin typeface="Montserrat"/>
              </a:rPr>
              <a:t>PRINCIPAL ENGINEER</a:t>
            </a:r>
          </a:p>
        </p:txBody>
      </p:sp>
      <p:sp>
        <p:nvSpPr>
          <p:cNvPr id="7" name="Rectangle 6"/>
          <p:cNvSpPr/>
          <p:nvPr/>
        </p:nvSpPr>
        <p:spPr>
          <a:xfrm>
            <a:off x="640080" y="3401568"/>
            <a:ext cx="4114800" cy="19050"/>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4434840" cy="1143000"/>
          </a:xfrm>
          <a:prstGeom prst="rect">
            <a:avLst/>
          </a:prstGeom>
          <a:noFill/>
        </p:spPr>
        <p:txBody>
          <a:bodyPr wrap="square" anchor="t" lIns="0" rIns="0" tIns="0" bIns="0">
            <a:spAutoFit/>
          </a:bodyPr>
          <a:lstStyle/>
          <a:p>
            <a:pPr>
              <a:lnSpc>
                <a:spcPct val="125000"/>
              </a:lnSpc>
            </a:pPr>
            <a:r>
              <a:rPr sz="1400" b="0" i="0">
                <a:solidFill>
                  <a:srgbClr val="4D5559"/>
                </a:solidFill>
                <a:latin typeface="Montserrat"/>
              </a:rPr>
              <a:t>Shamrock Trading Corporation is a world-leading provider of transportation, financial and technology services, helping businesses move freight, improve cash flow and streamline operations.</a:t>
            </a:r>
          </a:p>
        </p:txBody>
      </p:sp>
      <p:pic>
        <p:nvPicPr>
          <p:cNvPr id="9" name="Picture 8" descr="shamrock-headquarters.png"/>
          <p:cNvPicPr>
            <a:picLocks noChangeAspect="1"/>
          </p:cNvPicPr>
          <p:nvPr/>
        </p:nvPicPr>
        <p:blipFill>
          <a:blip r:embed="rId2"/>
          <a:stretch>
            <a:fillRect/>
          </a:stretch>
        </p:blipFill>
        <p:spPr>
          <a:xfrm>
            <a:off x="5577840" y="1325880"/>
            <a:ext cx="5897880" cy="3337560"/>
          </a:xfrm>
          <a:prstGeom prst="rect">
            <a:avLst/>
          </a:prstGeom>
          <a:effectLst/>
        </p:spPr>
      </p:pic>
      <p:sp>
        <p:nvSpPr>
          <p:cNvPr id="10" name="Rounded Rectangle 9"/>
          <p:cNvSpPr/>
          <p:nvPr/>
        </p:nvSpPr>
        <p:spPr>
          <a:xfrm>
            <a:off x="5577840" y="1325880"/>
            <a:ext cx="5897880" cy="3337560"/>
          </a:xfrm>
          <a:prstGeom prst="roundRect">
            <a:avLst/>
          </a:prstGeom>
          <a:noFill/>
          <a:ln w="19050">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5257800"/>
            <a:ext cx="10835640" cy="1051560"/>
          </a:xfrm>
          <a:prstGeom prst="roundRect">
            <a:avLst>
              <a:gd name="adj" fmla="val 6000"/>
            </a:avLst>
          </a:prstGeom>
          <a:solidFill>
            <a:srgbClr val="FFFFFF"/>
          </a:solidFill>
          <a:ln w="12700">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a:t>
            </a:r>
          </a:p>
          <a:p>
            <a:pPr algn="ctr"/>
            <a:r>
              <a:rPr sz="900" b="1" i="0">
                <a:solidFill>
                  <a:srgbClr val="101418"/>
                </a:solidFill>
                <a:latin typeface="Montserrat"/>
              </a:rPr>
              <a:t>BRANDS</a:t>
            </a:r>
          </a:p>
        </p:txBody>
      </p:sp>
      <p:sp>
        <p:nvSpPr>
          <p:cNvPr id="13" name="TextBox 12"/>
          <p:cNvSpPr txBox="1"/>
          <p:nvPr/>
        </p:nvSpPr>
        <p:spPr>
          <a:xfrm>
            <a:off x="24871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4" name="TextBox 13"/>
          <p:cNvSpPr txBox="1"/>
          <p:nvPr/>
        </p:nvSpPr>
        <p:spPr>
          <a:xfrm>
            <a:off x="30632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12</a:t>
            </a:r>
          </a:p>
          <a:p>
            <a:pPr algn="ctr"/>
            <a:r>
              <a:rPr sz="900" b="1" i="0">
                <a:solidFill>
                  <a:srgbClr val="101418"/>
                </a:solidFill>
                <a:latin typeface="Montserrat"/>
              </a:rPr>
              <a:t>LOCATIONS</a:t>
            </a:r>
          </a:p>
        </p:txBody>
      </p:sp>
      <p:sp>
        <p:nvSpPr>
          <p:cNvPr id="15" name="TextBox 14"/>
          <p:cNvSpPr txBox="1"/>
          <p:nvPr/>
        </p:nvSpPr>
        <p:spPr>
          <a:xfrm>
            <a:off x="45445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6" name="TextBox 15"/>
          <p:cNvSpPr txBox="1"/>
          <p:nvPr/>
        </p:nvSpPr>
        <p:spPr>
          <a:xfrm>
            <a:off x="51206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40</a:t>
            </a:r>
          </a:p>
          <a:p>
            <a:pPr algn="ctr"/>
            <a:r>
              <a:rPr sz="900" b="1" i="0">
                <a:solidFill>
                  <a:srgbClr val="101418"/>
                </a:solidFill>
                <a:latin typeface="Montserrat"/>
              </a:rPr>
              <a:t>LANGUAGES
SPOKEN</a:t>
            </a:r>
          </a:p>
        </p:txBody>
      </p:sp>
      <p:sp>
        <p:nvSpPr>
          <p:cNvPr id="17" name="TextBox 16"/>
          <p:cNvSpPr txBox="1"/>
          <p:nvPr/>
        </p:nvSpPr>
        <p:spPr>
          <a:xfrm>
            <a:off x="66019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8" name="TextBox 17"/>
          <p:cNvSpPr txBox="1"/>
          <p:nvPr/>
        </p:nvSpPr>
        <p:spPr>
          <a:xfrm>
            <a:off x="71780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40</a:t>
            </a:r>
          </a:p>
          <a:p>
            <a:pPr algn="ctr"/>
            <a:r>
              <a:rPr sz="900" b="1" i="0">
                <a:solidFill>
                  <a:srgbClr val="101418"/>
                </a:solidFill>
                <a:latin typeface="Montserrat"/>
              </a:rPr>
              <a:t>COUNTRIES
SERVED</a:t>
            </a:r>
          </a:p>
        </p:txBody>
      </p:sp>
      <p:sp>
        <p:nvSpPr>
          <p:cNvPr id="19" name="TextBox 18"/>
          <p:cNvSpPr txBox="1"/>
          <p:nvPr/>
        </p:nvSpPr>
        <p:spPr>
          <a:xfrm>
            <a:off x="86593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20" name="TextBox 19"/>
          <p:cNvSpPr txBox="1"/>
          <p:nvPr/>
        </p:nvSpPr>
        <p:spPr>
          <a:xfrm>
            <a:off x="92354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2.5k</a:t>
            </a:r>
          </a:p>
          <a:p>
            <a:pPr algn="ctr"/>
            <a:r>
              <a:rPr sz="900" b="1" i="0">
                <a:solidFill>
                  <a:srgbClr val="101418"/>
                </a:solidFill>
                <a:latin typeface="Montserrat"/>
              </a:rPr>
              <a:t>EMPLOYEES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 is not said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
        <p:nvSpPr>
          <p:cNvPr id="10" name="TextBox 9"/>
          <p:cNvSpPr txBox="1"/>
          <p:nvPr/>
        </p:nvSpPr>
        <p:spPr>
          <a:xfrm>
            <a:off x="640080" y="5897880"/>
            <a:ext cx="10881360" cy="320040"/>
          </a:xfrm>
          <a:prstGeom prst="rect">
            <a:avLst/>
          </a:prstGeom>
          <a:noFill/>
        </p:spPr>
        <p:txBody>
          <a:bodyPr wrap="square" anchor="t" lIns="0" rIns="0" tIns="0" bIns="0">
            <a:spAutoFit/>
          </a:bodyPr>
          <a:lstStyle/>
          <a:p>
            <a:r>
              <a:rPr sz="1300" b="0" i="0">
                <a:solidFill>
                  <a:srgbClr val="9AA2C0"/>
                </a:solidFill>
                <a:latin typeface="Segoe UI"/>
              </a:rPr>
              <a:t>Temporal AI skill: </a:t>
            </a:r>
            <a:r>
              <a:rPr sz="1300" b="0" i="0">
                <a:solidFill>
                  <a:srgbClr val="4C9FFE"/>
                </a:solidFill>
                <a:latin typeface="Consolas"/>
                <a:hlinkClick r:id="rId3"/>
              </a:rPr>
              <a:t>github.com/temporalio/skill-temporal-developer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9968"/>
            <a:ext cx="4709160" cy="914400"/>
          </a:xfrm>
          <a:prstGeom prst="rect">
            <a:avLst/>
          </a:prstGeom>
          <a:noFill/>
        </p:spPr>
        <p:txBody>
          <a:bodyPr wrap="square" anchor="t" lIns="0" rIns="0" tIns="0" bIns="0">
            <a:spAutoFit/>
          </a:bodyPr>
          <a:lstStyle/>
          <a:p>
            <a:r>
              <a:rPr sz="1800" b="1" i="0">
                <a:solidFill>
                  <a:srgbClr val="E6E9F5"/>
                </a:solidFill>
                <a:latin typeface="Segoe UI"/>
              </a:rPr>
              <a:t>React Dashboard</a:t>
            </a:r>
          </a:p>
          <a:p>
            <a:pPr>
              <a:spcBef>
                <a:spcPts val="500"/>
              </a:spcBef>
            </a:pPr>
            <a:r>
              <a:rPr sz="1300" b="0" i="0">
                <a:solidFill>
                  <a:srgbClr val="9AA2C0"/>
                </a:solidFill>
                <a:latin typeface="Segoe UI"/>
              </a:rPr>
              <a:t>Polls the API and keeps only preferences + recent workflow IDs in localStorage.</a:t>
            </a:r>
          </a:p>
        </p:txBody>
      </p:sp>
      <p:sp>
        <p:nvSpPr>
          <p:cNvPr id="8" name="Rounded Rectangle 7"/>
          <p:cNvSpPr/>
          <p:nvPr/>
        </p:nvSpPr>
        <p:spPr>
          <a:xfrm>
            <a:off x="598932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2029968"/>
            <a:ext cx="4709160" cy="914400"/>
          </a:xfrm>
          <a:prstGeom prst="rect">
            <a:avLst/>
          </a:prstGeom>
          <a:noFill/>
        </p:spPr>
        <p:txBody>
          <a:bodyPr wrap="square" anchor="t" lIns="0" rIns="0" tIns="0" bIns="0">
            <a:spAutoFit/>
          </a:bodyPr>
          <a:lstStyle/>
          <a:p>
            <a:r>
              <a:rPr sz="1800" b="1" i="0">
                <a:solidFill>
                  <a:srgbClr val="E6E9F5"/>
                </a:solidFill>
                <a:latin typeface="Segoe UI"/>
              </a:rPr>
              <a:t>NestJS API</a:t>
            </a:r>
          </a:p>
          <a:p>
            <a:pPr>
              <a:spcBef>
                <a:spcPts val="500"/>
              </a:spcBef>
            </a:pPr>
            <a:r>
              <a:rPr sz="1300" b="0" i="0">
                <a:solidFill>
                  <a:srgbClr val="9AA2C0"/>
                </a:solidFill>
                <a:latin typeface="Segoe UI"/>
              </a:rPr>
              <a:t>REST facade that starts workflows, sends signals, and runs workflow queries.</a:t>
            </a:r>
          </a:p>
        </p:txBody>
      </p:sp>
      <p:sp>
        <p:nvSpPr>
          <p:cNvPr id="10" name="Rounded Rectangle 9"/>
          <p:cNvSpPr/>
          <p:nvPr/>
        </p:nvSpPr>
        <p:spPr>
          <a:xfrm>
            <a:off x="640080" y="3246120"/>
            <a:ext cx="5166360" cy="12344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7288"/>
            <a:ext cx="4709160" cy="914400"/>
          </a:xfrm>
          <a:prstGeom prst="rect">
            <a:avLst/>
          </a:prstGeom>
          <a:noFill/>
        </p:spPr>
        <p:txBody>
          <a:bodyPr wrap="square" anchor="t" lIns="0" rIns="0" tIns="0" bIns="0">
            <a:spAutoFit/>
          </a:bodyPr>
          <a:lstStyle/>
          <a:p>
            <a:r>
              <a:rPr sz="1800" b="1" i="0">
                <a:solidFill>
                  <a:srgbClr val="4C9FFE"/>
                </a:solidFill>
                <a:latin typeface="Segoe UI"/>
              </a:rPr>
              <a:t>Temporal Server</a:t>
            </a:r>
          </a:p>
          <a:p>
            <a:pPr>
              <a:spcBef>
                <a:spcPts val="500"/>
              </a:spcBef>
            </a:pPr>
            <a:r>
              <a:rPr sz="1300" b="0" i="0">
                <a:solidFill>
                  <a:srgbClr val="9AA2C0"/>
                </a:solidFill>
                <a:latin typeface="Segoe UI"/>
              </a:rPr>
              <a:t>Event history, task queues, timers, visibility, and the authoritative claim state.</a:t>
            </a:r>
          </a:p>
        </p:txBody>
      </p:sp>
      <p:sp>
        <p:nvSpPr>
          <p:cNvPr id="12" name="Rounded Rectangle 11"/>
          <p:cNvSpPr/>
          <p:nvPr/>
        </p:nvSpPr>
        <p:spPr>
          <a:xfrm>
            <a:off x="5989320" y="324612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4709160" cy="914400"/>
          </a:xfrm>
          <a:prstGeom prst="rect">
            <a:avLst/>
          </a:prstGeom>
          <a:noFill/>
        </p:spPr>
        <p:txBody>
          <a:bodyPr wrap="square" anchor="t" lIns="0" rIns="0" tIns="0" bIns="0">
            <a:spAutoFit/>
          </a:bodyPr>
          <a:lstStyle/>
          <a:p>
            <a:r>
              <a:rPr sz="1800" b="1" i="0">
                <a:solidFill>
                  <a:srgbClr val="E6E9F5"/>
                </a:solidFill>
                <a:latin typeface="Segoe UI"/>
              </a:rPr>
              <a:t>NestJS Worker</a:t>
            </a:r>
          </a:p>
          <a:p>
            <a:pPr>
              <a:spcBef>
                <a:spcPts val="500"/>
              </a:spcBef>
            </a:pPr>
            <a:r>
              <a:rPr sz="1300" b="0" i="0">
                <a:solidFill>
                  <a:srgbClr val="9AA2C0"/>
                </a:solidFill>
                <a:latin typeface="Segoe UI"/>
              </a:rPr>
              <a:t>Runs deterministic workflow code and side-effecting activity implementations.</a:t>
            </a:r>
          </a:p>
        </p:txBody>
      </p:sp>
      <p:sp>
        <p:nvSpPr>
          <p:cNvPr id="14" name="TextBox 13"/>
          <p:cNvSpPr txBox="1"/>
          <p:nvPr/>
        </p:nvSpPr>
        <p:spPr>
          <a:xfrm>
            <a:off x="640080" y="4937760"/>
            <a:ext cx="3657600" cy="365760"/>
          </a:xfrm>
          <a:prstGeom prst="rect">
            <a:avLst/>
          </a:prstGeom>
          <a:noFill/>
        </p:spPr>
        <p:txBody>
          <a:bodyPr wrap="square" anchor="t" lIns="0" rIns="0" tIns="0" bIns="0">
            <a:spAutoFit/>
          </a:bodyPr>
          <a:lstStyle/>
          <a:p>
            <a:r>
              <a:rPr sz="1400" b="1" i="0">
                <a:solidFill>
                  <a:srgbClr val="F87171"/>
                </a:solidFill>
                <a:latin typeface="Segoe UI"/>
              </a:rPr>
              <a:t>✗ no database, anywhere</a:t>
            </a:r>
          </a:p>
        </p:txBody>
      </p:sp>
      <p:sp>
        <p:nvSpPr>
          <p:cNvPr id="15" name="TextBox 14"/>
          <p:cNvSpPr txBox="1"/>
          <p:nvPr/>
        </p:nvSpPr>
        <p:spPr>
          <a:xfrm>
            <a:off x="4297680" y="4937760"/>
            <a:ext cx="3657600" cy="365760"/>
          </a:xfrm>
          <a:prstGeom prst="rect">
            <a:avLst/>
          </a:prstGeom>
          <a:noFill/>
        </p:spPr>
        <p:txBody>
          <a:bodyPr wrap="square" anchor="t" lIns="0" rIns="0" tIns="0" bIns="0">
            <a:spAutoFit/>
          </a:bodyPr>
          <a:lstStyle/>
          <a:p>
            <a:r>
              <a:rPr sz="1400" b="1" i="0">
                <a:solidFill>
                  <a:srgbClr val="34D399"/>
                </a:solidFill>
                <a:latin typeface="Segoe UI"/>
              </a:rPr>
              <a:t>✓ Temporal event history is the state</a:t>
            </a:r>
          </a:p>
        </p:txBody>
      </p:sp>
      <p:sp>
        <p:nvSpPr>
          <p:cNvPr id="16" name="TextBox 15"/>
          <p:cNvSpPr txBox="1"/>
          <p:nvPr/>
        </p:nvSpPr>
        <p:spPr>
          <a:xfrm>
            <a:off x="7955280" y="4937760"/>
            <a:ext cx="3657600" cy="365760"/>
          </a:xfrm>
          <a:prstGeom prst="rect">
            <a:avLst/>
          </a:prstGeom>
          <a:noFill/>
        </p:spPr>
        <p:txBody>
          <a:bodyPr wrap="square" anchor="t" lIns="0" rIns="0" tIns="0" bIns="0">
            <a:spAutoFit/>
          </a:bodyPr>
          <a:lstStyle/>
          <a:p>
            <a:r>
              <a:rPr sz="1400" b="1" i="0">
                <a:solidFill>
                  <a:srgbClr val="38BDF8"/>
                </a:solidFill>
                <a:latin typeface="Segoe UI"/>
              </a:rPr>
              <a:t>✓ localStorage = prefs + recent ids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83664"/>
            <a:ext cx="3136392" cy="822960"/>
          </a:xfrm>
          <a:prstGeom prst="rect">
            <a:avLst/>
          </a:prstGeom>
          <a:noFill/>
        </p:spPr>
        <p:txBody>
          <a:bodyPr wrap="square" anchor="t" lIns="0" rIns="0" tIns="0" bIns="0">
            <a:spAutoFit/>
          </a:bodyPr>
          <a:lstStyle/>
          <a:p>
            <a:r>
              <a:rPr sz="1800" b="1" i="0">
                <a:solidFill>
                  <a:srgbClr val="E6E9F5"/>
                </a:solidFill>
                <a:latin typeface="Segoe UI"/>
              </a:rPr>
              <a:t>1. Submitted</a:t>
            </a:r>
          </a:p>
          <a:p>
            <a:r>
              <a:rPr sz="1300" b="0" i="0">
                <a:solidFill>
                  <a:srgbClr val="4C9FFE"/>
                </a:solidFill>
                <a:latin typeface="Consolas"/>
              </a:rPr>
              <a:t>workflow start</a:t>
            </a:r>
          </a:p>
        </p:txBody>
      </p:sp>
      <p:sp>
        <p:nvSpPr>
          <p:cNvPr id="8" name="Rounded Rectangle 7"/>
          <p:cNvSpPr/>
          <p:nvPr/>
        </p:nvSpPr>
        <p:spPr>
          <a:xfrm>
            <a:off x="4306824"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9704" y="1883664"/>
            <a:ext cx="3136392" cy="822960"/>
          </a:xfrm>
          <a:prstGeom prst="rect">
            <a:avLst/>
          </a:prstGeom>
          <a:noFill/>
        </p:spPr>
        <p:txBody>
          <a:bodyPr wrap="square" anchor="t" lIns="0" rIns="0" tIns="0" bIns="0">
            <a:spAutoFit/>
          </a:bodyPr>
          <a:lstStyle/>
          <a:p>
            <a:r>
              <a:rPr sz="1800" b="1" i="0">
                <a:solidFill>
                  <a:srgbClr val="E6E9F5"/>
                </a:solidFill>
                <a:latin typeface="Segoe UI"/>
              </a:rPr>
              <a:t>2. Validation</a:t>
            </a:r>
          </a:p>
          <a:p>
            <a:r>
              <a:rPr sz="1300" b="1" i="0">
                <a:solidFill>
                  <a:srgbClr val="7C5CFF"/>
                </a:solidFill>
                <a:latin typeface="Consolas"/>
              </a:rPr>
              <a:t>activity</a:t>
            </a:r>
            <a:r>
              <a:rPr sz="1300" b="0" i="0">
                <a:solidFill>
                  <a:srgbClr val="4C9FFE"/>
                </a:solidFill>
                <a:latin typeface="Consolas"/>
              </a:rPr>
              <a:t> + retry</a:t>
            </a:r>
          </a:p>
        </p:txBody>
      </p:sp>
      <p:sp>
        <p:nvSpPr>
          <p:cNvPr id="10" name="Rounded Rectangle 9"/>
          <p:cNvSpPr/>
          <p:nvPr/>
        </p:nvSpPr>
        <p:spPr>
          <a:xfrm>
            <a:off x="7973568"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1883664"/>
            <a:ext cx="3136392" cy="822960"/>
          </a:xfrm>
          <a:prstGeom prst="rect">
            <a:avLst/>
          </a:prstGeom>
          <a:noFill/>
        </p:spPr>
        <p:txBody>
          <a:bodyPr wrap="square" anchor="t" lIns="0" rIns="0" tIns="0" bIns="0">
            <a:spAutoFit/>
          </a:bodyPr>
          <a:lstStyle/>
          <a:p>
            <a:r>
              <a:rPr sz="1800" b="1" i="0">
                <a:solidFill>
                  <a:srgbClr val="E6E9F5"/>
                </a:solidFill>
                <a:latin typeface="Segoe UI"/>
              </a:rPr>
              <a:t>3. Coverage check</a:t>
            </a:r>
          </a:p>
          <a:p>
            <a:r>
              <a:rPr sz="1300" b="1" i="0">
                <a:solidFill>
                  <a:srgbClr val="7C5CFF"/>
                </a:solidFill>
                <a:latin typeface="Consolas"/>
              </a:rPr>
              <a:t>activity</a:t>
            </a:r>
            <a:r>
              <a:rPr sz="1300" b="0" i="0">
                <a:solidFill>
                  <a:srgbClr val="4C9FFE"/>
                </a:solidFill>
                <a:latin typeface="Consolas"/>
              </a:rPr>
              <a:t> + retry</a:t>
            </a:r>
          </a:p>
        </p:txBody>
      </p:sp>
      <p:sp>
        <p:nvSpPr>
          <p:cNvPr id="12" name="Rounded Rectangle 11"/>
          <p:cNvSpPr/>
          <p:nvPr/>
        </p:nvSpPr>
        <p:spPr>
          <a:xfrm>
            <a:off x="640080"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99816"/>
            <a:ext cx="3136392" cy="822960"/>
          </a:xfrm>
          <a:prstGeom prst="rect">
            <a:avLst/>
          </a:prstGeom>
          <a:noFill/>
        </p:spPr>
        <p:txBody>
          <a:bodyPr wrap="square" anchor="t" lIns="0" rIns="0" tIns="0" bIns="0">
            <a:spAutoFit/>
          </a:bodyPr>
          <a:lstStyle/>
          <a:p>
            <a:r>
              <a:rPr sz="1800" b="1" i="0">
                <a:solidFill>
                  <a:srgbClr val="E6E9F5"/>
                </a:solidFill>
                <a:latin typeface="Segoe UI"/>
              </a:rPr>
              <a:t>4. Damage assessment</a:t>
            </a:r>
          </a:p>
          <a:p>
            <a:r>
              <a:rPr sz="1300" b="0" i="0">
                <a:solidFill>
                  <a:srgbClr val="4C9FFE"/>
                </a:solidFill>
                <a:latin typeface="Consolas"/>
              </a:rPr>
              <a:t>heartbeat + cancel</a:t>
            </a:r>
          </a:p>
        </p:txBody>
      </p:sp>
      <p:sp>
        <p:nvSpPr>
          <p:cNvPr id="14" name="Rounded Rectangle 13"/>
          <p:cNvSpPr/>
          <p:nvPr/>
        </p:nvSpPr>
        <p:spPr>
          <a:xfrm>
            <a:off x="4306824"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4" y="3099816"/>
            <a:ext cx="3136392" cy="822960"/>
          </a:xfrm>
          <a:prstGeom prst="rect">
            <a:avLst/>
          </a:prstGeom>
          <a:noFill/>
        </p:spPr>
        <p:txBody>
          <a:bodyPr wrap="square" anchor="t" lIns="0" rIns="0" tIns="0" bIns="0">
            <a:spAutoFit/>
          </a:bodyPr>
          <a:lstStyle/>
          <a:p>
            <a:r>
              <a:rPr sz="1800" b="1" i="0">
                <a:solidFill>
                  <a:srgbClr val="E6E9F5"/>
                </a:solidFill>
                <a:latin typeface="Segoe UI"/>
              </a:rPr>
              <a:t>5. Fraud evaluation</a:t>
            </a:r>
          </a:p>
          <a:p>
            <a:r>
              <a:rPr sz="1300" b="0" i="0">
                <a:solidFill>
                  <a:srgbClr val="4C9FFE"/>
                </a:solidFill>
                <a:latin typeface="Consolas"/>
              </a:rPr>
              <a:t>child workflow</a:t>
            </a:r>
          </a:p>
        </p:txBody>
      </p:sp>
      <p:sp>
        <p:nvSpPr>
          <p:cNvPr id="16" name="Rounded Rectangle 15"/>
          <p:cNvSpPr/>
          <p:nvPr/>
        </p:nvSpPr>
        <p:spPr>
          <a:xfrm>
            <a:off x="7973568"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3099816"/>
            <a:ext cx="3136392" cy="822960"/>
          </a:xfrm>
          <a:prstGeom prst="rect">
            <a:avLst/>
          </a:prstGeom>
          <a:noFill/>
        </p:spPr>
        <p:txBody>
          <a:bodyPr wrap="square" anchor="t" lIns="0" rIns="0" tIns="0" bIns="0">
            <a:spAutoFit/>
          </a:bodyPr>
          <a:lstStyle/>
          <a:p>
            <a:r>
              <a:rPr sz="1800" b="1" i="0">
                <a:solidFill>
                  <a:srgbClr val="E6E9F5"/>
                </a:solidFill>
                <a:latin typeface="Segoe UI"/>
              </a:rPr>
              <a:t>6. Human review</a:t>
            </a:r>
          </a:p>
          <a:p>
            <a:r>
              <a:rPr sz="1300" b="0" i="0">
                <a:solidFill>
                  <a:srgbClr val="4C9FFE"/>
                </a:solidFill>
                <a:latin typeface="Consolas"/>
              </a:rPr>
              <a:t>signal · waits forever</a:t>
            </a:r>
          </a:p>
        </p:txBody>
      </p:sp>
      <p:sp>
        <p:nvSpPr>
          <p:cNvPr id="18" name="Rounded Rectangle 17"/>
          <p:cNvSpPr/>
          <p:nvPr/>
        </p:nvSpPr>
        <p:spPr>
          <a:xfrm>
            <a:off x="640080"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15968"/>
            <a:ext cx="3136392" cy="822960"/>
          </a:xfrm>
          <a:prstGeom prst="rect">
            <a:avLst/>
          </a:prstGeom>
          <a:noFill/>
        </p:spPr>
        <p:txBody>
          <a:bodyPr wrap="square" anchor="t" lIns="0" rIns="0" tIns="0" bIns="0">
            <a:spAutoFit/>
          </a:bodyPr>
          <a:lstStyle/>
          <a:p>
            <a:r>
              <a:rPr sz="1800" b="1" i="0">
                <a:solidFill>
                  <a:srgbClr val="E6E9F5"/>
                </a:solidFill>
                <a:latin typeface="Segoe UI"/>
              </a:rPr>
              <a:t>7. Decision</a:t>
            </a:r>
          </a:p>
          <a:p>
            <a:r>
              <a:rPr sz="1300" b="0" i="0">
                <a:solidFill>
                  <a:srgbClr val="4C9FFE"/>
                </a:solidFill>
                <a:latin typeface="Consolas"/>
              </a:rPr>
              <a:t>saga: release/reserve</a:t>
            </a:r>
          </a:p>
        </p:txBody>
      </p:sp>
      <p:sp>
        <p:nvSpPr>
          <p:cNvPr id="20" name="Rounded Rectangle 19"/>
          <p:cNvSpPr/>
          <p:nvPr/>
        </p:nvSpPr>
        <p:spPr>
          <a:xfrm>
            <a:off x="4306824"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9704" y="4315968"/>
            <a:ext cx="3136392" cy="822960"/>
          </a:xfrm>
          <a:prstGeom prst="rect">
            <a:avLst/>
          </a:prstGeom>
          <a:noFill/>
        </p:spPr>
        <p:txBody>
          <a:bodyPr wrap="square" anchor="t" lIns="0" rIns="0" tIns="0" bIns="0">
            <a:spAutoFit/>
          </a:bodyPr>
          <a:lstStyle/>
          <a:p>
            <a:r>
              <a:rPr sz="1800" b="1" i="0">
                <a:solidFill>
                  <a:srgbClr val="E6E9F5"/>
                </a:solidFill>
                <a:latin typeface="Segoe UI"/>
              </a:rPr>
              <a:t>8. Payment</a:t>
            </a:r>
          </a:p>
          <a:p>
            <a:r>
              <a:rPr sz="1300" b="0" i="0">
                <a:solidFill>
                  <a:srgbClr val="4C9FFE"/>
                </a:solidFill>
                <a:latin typeface="Consolas"/>
              </a:rPr>
              <a:t>durable timer + </a:t>
            </a:r>
            <a:r>
              <a:rPr sz="1300" b="1" i="0">
                <a:solidFill>
                  <a:srgbClr val="7C5CFF"/>
                </a:solidFill>
                <a:latin typeface="Consolas"/>
              </a:rPr>
              <a:t>activity</a:t>
            </a:r>
          </a:p>
        </p:txBody>
      </p:sp>
      <p:sp>
        <p:nvSpPr>
          <p:cNvPr id="22" name="Rounded Rectangle 21"/>
          <p:cNvSpPr/>
          <p:nvPr/>
        </p:nvSpPr>
        <p:spPr>
          <a:xfrm>
            <a:off x="7973568"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4315968"/>
            <a:ext cx="3136392" cy="822960"/>
          </a:xfrm>
          <a:prstGeom prst="rect">
            <a:avLst/>
          </a:prstGeom>
          <a:noFill/>
        </p:spPr>
        <p:txBody>
          <a:bodyPr wrap="square" anchor="t" lIns="0" rIns="0" tIns="0" bIns="0">
            <a:spAutoFit/>
          </a:bodyPr>
          <a:lstStyle/>
          <a:p>
            <a:r>
              <a:rPr sz="1800" b="1" i="0">
                <a:solidFill>
                  <a:srgbClr val="E6E9F5"/>
                </a:solidFill>
                <a:latin typeface="Segoe UI"/>
              </a:rPr>
              <a:t>9. Completed</a:t>
            </a:r>
          </a:p>
          <a:p>
            <a:r>
              <a:rPr sz="1300" b="0" i="0">
                <a:solidFill>
                  <a:srgbClr val="4C9FFE"/>
                </a:solidFill>
                <a:latin typeface="Consolas"/>
              </a:rPr>
              <a:t>workflow result</a:t>
            </a:r>
          </a:p>
        </p:txBody>
      </p:sp>
      <p:sp>
        <p:nvSpPr>
          <p:cNvPr id="24" name="TextBox 23"/>
          <p:cNvSpPr txBox="1"/>
          <p:nvPr/>
        </p:nvSpPr>
        <p:spPr>
          <a:xfrm>
            <a:off x="640080" y="5257800"/>
            <a:ext cx="10515600" cy="1097280"/>
          </a:xfrm>
          <a:prstGeom prst="rect">
            <a:avLst/>
          </a:prstGeom>
          <a:noFill/>
        </p:spPr>
        <p:txBody>
          <a:bodyPr wrap="square" anchor="t" lIns="0" rIns="0" tIns="0" bIns="0">
            <a:spAutoFit/>
          </a:bodyPr>
          <a:lstStyle/>
          <a:p>
            <a:r>
              <a:rPr sz="1500" b="0" i="0">
                <a:solidFill>
                  <a:srgbClr val="9AA2C0"/>
                </a:solidFill>
                <a:latin typeface="Segoe UI"/>
              </a:rPr>
              <a:t>Every chip on this rail is a query result, live, from a running Temporal workflow.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a:t>
            </a:r>
            <a:r>
              <a:rPr sz="1200" b="1" i="0">
                <a:solidFill>
                  <a:srgbClr val="4C9FFE"/>
                </a:solidFill>
                <a:latin typeface="Consolas"/>
              </a:rPr>
              <a:t>checkClaimHistory</a:t>
            </a:r>
            <a:r>
              <a:rPr sz="1200" b="0" i="0">
                <a:solidFill>
                  <a:srgbClr val="D6DCF5"/>
                </a:solidFill>
                <a:latin typeface="Consolas"/>
              </a:rPr>
              <a:t>, </a:t>
            </a:r>
            <a:r>
              <a:rPr sz="1200" b="1" i="0">
                <a:solidFill>
                  <a:srgbClr val="4C9FFE"/>
                </a:solidFill>
                <a:latin typeface="Consolas"/>
              </a:rPr>
              <a:t>checkWatchlists</a:t>
            </a:r>
            <a:r>
              <a:rPr sz="1200" b="0" i="0">
                <a:solidFill>
                  <a:srgbClr val="D6DCF5"/>
                </a:solidFill>
                <a:latin typeface="Consolas"/>
              </a:rPr>
              <a:t>, </a:t>
            </a:r>
            <a:r>
              <a:rPr sz="1200" b="1" i="0">
                <a:solidFill>
                  <a:srgbClr val="4C9FFE"/>
                </a:solidFill>
                <a:latin typeface="Consolas"/>
              </a:rPr>
              <a:t>scoreFraudRisk</a:t>
            </a:r>
            <a:r>
              <a:rPr sz="1200" b="0" i="0">
                <a:solidFill>
                  <a:srgbClr val="D6DCF5"/>
                </a:solidFill>
                <a:latin typeface="Consolas"/>
              </a:rPr>
              <a:t> } =
  proxyActivities&lt;typeof activities&gt;({ ...retryPolicy });
export async function </a:t>
            </a:r>
            <a:r>
              <a:rPr sz="1200" b="1" i="0">
                <a:solidFill>
                  <a:srgbClr val="4C9FFE"/>
                </a:solidFill>
                <a:latin typeface="Consolas"/>
              </a:rPr>
              <a:t>fraudCheckWorkflow</a:t>
            </a:r>
            <a:r>
              <a:rPr sz="1200" b="0" i="0">
                <a:solidFill>
                  <a:srgbClr val="D6DCF5"/>
                </a:solidFill>
                <a:latin typeface="Consolas"/>
              </a:rPr>
              <a:t>(input: ClaimInput) {
  const [history, watchlist] = await Promise.all([
    </a:t>
            </a:r>
            <a:r>
              <a:rPr sz="1200" b="1" i="0">
                <a:solidFill>
                  <a:srgbClr val="4C9FFE"/>
                </a:solidFill>
                <a:latin typeface="Consolas"/>
              </a:rPr>
              <a:t>checkClaimHistory</a:t>
            </a:r>
            <a:r>
              <a:rPr sz="1200" b="0" i="0">
                <a:solidFill>
                  <a:srgbClr val="D6DCF5"/>
                </a:solidFill>
                <a:latin typeface="Consolas"/>
              </a:rPr>
              <a:t>(input),
    </a:t>
            </a:r>
            <a:r>
              <a:rPr sz="1200" b="1" i="0">
                <a:solidFill>
                  <a:srgbClr val="4C9FFE"/>
                </a:solidFill>
                <a:latin typeface="Consolas"/>
              </a:rPr>
              <a:t>checkWatchlists</a:t>
            </a:r>
            <a:r>
              <a:rPr sz="1200" b="0" i="0">
                <a:solidFill>
                  <a:srgbClr val="D6DCF5"/>
                </a:solidFill>
                <a:latin typeface="Consolas"/>
              </a:rPr>
              <a:t>(input),
  ]);
  return await </a:t>
            </a:r>
            <a:r>
              <a:rPr sz="1200" b="1" i="0">
                <a:solidFill>
                  <a:srgbClr val="4C9FFE"/>
                </a:solidFill>
                <a:latin typeface="Consolas"/>
              </a:rPr>
              <a:t>scoreFraudRisk</a:t>
            </a:r>
            <a:r>
              <a:rPr sz="1200" b="0" i="0">
                <a:solidFill>
                  <a:srgbClr val="D6DCF5"/>
                </a:solidFill>
                <a:latin typeface="Consolas"/>
              </a:rPr>
              <a:t>(input.claimId,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LIVE</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Look at the Live Demo and Temporal UI</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Switch from the recorded walkthrough to the running application and Temporal Web UI.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Short-lived workflows can still fit — milliseconds or seconds are fine when you need durability, retries, or history</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