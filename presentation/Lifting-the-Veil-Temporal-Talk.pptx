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 intro yourself. Hook: 'How many of you have looked at Temporal's docs and thought this looks powerful, but I genuinely don't know if MY problem needs it?' That's the veil we're lifting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Temporal's pitch is abstract until it touches a concrete, messy business process you own.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three-act structure of the talk. Reproducible — anyone can do this on their own use case.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roadmap. Keep brief.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out loud, typo and all ('at lease 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isn't 'this prompt is bad' — it under-specifies exactly the decisions that make or break a durable-execution design.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Generalizable trick: use the model to interrogate its own upcoming task.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text is in the appendix. The point is the shape, not the word count.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Everything after is proof.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UI never talks to Temporal directly — only through the API.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stage list from the improved prompt. Stage 6 = the required signal, precisely specified.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it sit as a 'yes it really does all of this' moment.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Submit the Happy path preset. This whole timeline is one query, getClaimState, polled every 2s.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required signal from the original prompt. The workflow is genuinely suspended.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Activity execution &amp; retries panel — that's Temporal's own attempt counter.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permanent failure doesn't kill the workflow, it parks it waiting for a human decision.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moment of the talk. Let this one breathe; don't rush the narration.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time is short, this is the cut candidate.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Remind the room: everything the dashboard showed is also just visible in Temporal's own UI.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how many already do 3+ of these with cron jobs and status columns.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payoff — generalized version of 'the improved prompt.'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people to paste their own use case into this template tonight.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breath, then move to resources.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Fill in your actual repo URL before the talk.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floor. Be ready for: versioning, Cloud vs self-hosted, payload limits, vs Airflow/Step Functions.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1031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TEMPORAL · ENGINEERING TALK</a:t>
            </a:r>
          </a:p>
        </p:txBody>
      </p:sp>
      <p:sp>
        <p:nvSpPr>
          <p:cNvPr id="4" name="TextBox 3"/>
          <p:cNvSpPr txBox="1"/>
          <p:nvPr/>
        </p:nvSpPr>
        <p:spPr>
          <a:xfrm>
            <a:off x="640080" y="2423160"/>
            <a:ext cx="10515600" cy="365760"/>
          </a:xfrm>
          <a:prstGeom prst="rect">
            <a:avLst/>
          </a:prstGeom>
          <a:noFill/>
        </p:spPr>
        <p:txBody>
          <a:bodyPr wrap="square" anchor="t" lIns="0" rIns="0" tIns="0" bIns="0">
            <a:spAutoFit/>
          </a:bodyPr>
          <a:lstStyle/>
          <a:p>
            <a:pPr>
              <a:defRPr>
                <a:latin typeface="Segoe UI"/>
              </a:defRPr>
            </a:pPr>
            <a:r>
              <a:rPr sz="1300" b="1" i="0">
                <a:solidFill>
                  <a:srgbClr val="7C5CFF"/>
                </a:solidFill>
                <a:latin typeface="Segoe UI"/>
              </a:rPr>
              <a:t>A LIVE-CODED CASE STUDY</a:t>
            </a:r>
          </a:p>
        </p:txBody>
      </p:sp>
      <p:sp>
        <p:nvSpPr>
          <p:cNvPr id="5" name="TextBox 4"/>
          <p:cNvSpPr txBox="1"/>
          <p:nvPr/>
        </p:nvSpPr>
        <p:spPr>
          <a:xfrm>
            <a:off x="640080" y="2743200"/>
            <a:ext cx="9144000" cy="1463040"/>
          </a:xfrm>
          <a:prstGeom prst="rect">
            <a:avLst/>
          </a:prstGeom>
          <a:noFill/>
        </p:spPr>
        <p:txBody>
          <a:bodyPr wrap="square" anchor="t" lIns="0" rIns="0" tIns="0" bIns="0">
            <a:spAutoFit/>
          </a:bodyPr>
          <a:lstStyle/>
          <a:p>
            <a:r>
              <a:rPr sz="5400" b="1" i="0">
                <a:solidFill>
                  <a:srgbClr val="E6E9F5"/>
                </a:solidFill>
                <a:latin typeface="Segoe UI"/>
              </a:rPr>
              <a:t>Lifting the Veil</a:t>
            </a:r>
          </a:p>
        </p:txBody>
      </p:sp>
      <p:sp>
        <p:nvSpPr>
          <p:cNvPr id="6" name="TextBox 5"/>
          <p:cNvSpPr txBox="1"/>
          <p:nvPr/>
        </p:nvSpPr>
        <p:spPr>
          <a:xfrm>
            <a:off x="640080" y="3931920"/>
            <a:ext cx="7772400" cy="1097280"/>
          </a:xfrm>
          <a:prstGeom prst="rect">
            <a:avLst/>
          </a:prstGeom>
          <a:noFill/>
        </p:spPr>
        <p:txBody>
          <a:bodyPr wrap="square" anchor="t" lIns="0" rIns="0" tIns="0" bIns="0">
            <a:spAutoFit/>
          </a:bodyPr>
          <a:lstStyle/>
          <a:p>
            <a:r>
              <a:rPr sz="2000" b="0" i="0">
                <a:solidFill>
                  <a:srgbClr val="9AA2C0"/>
                </a:solidFill>
                <a:latin typeface="Segoe UI"/>
              </a:rPr>
              <a:t>How to match your use case &amp; Temporal — told through one prompt, one AI coding agent, and one insurance claim.</a:t>
            </a:r>
          </a:p>
        </p:txBody>
      </p:sp>
      <p:sp>
        <p:nvSpPr>
          <p:cNvPr id="7" name="Rectangle 6"/>
          <p:cNvSpPr/>
          <p:nvPr/>
        </p:nvSpPr>
        <p:spPr>
          <a:xfrm>
            <a:off x="640080" y="5212080"/>
            <a:ext cx="10881360" cy="12700"/>
          </a:xfrm>
          <a:prstGeom prst="rect">
            <a:avLst/>
          </a:prstGeom>
          <a:solidFill>
            <a:srgbClr val="23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349240"/>
            <a:ext cx="2377440" cy="640080"/>
          </a:xfrm>
          <a:prstGeom prst="rect">
            <a:avLst/>
          </a:prstGeom>
          <a:noFill/>
        </p:spPr>
        <p:txBody>
          <a:bodyPr wrap="square" anchor="t" lIns="0" rIns="0" tIns="0" bIns="0">
            <a:spAutoFit/>
          </a:bodyPr>
          <a:lstStyle/>
          <a:p>
            <a:r>
              <a:rPr sz="1600" b="1" i="0">
                <a:solidFill>
                  <a:srgbClr val="E6E9F5"/>
                </a:solidFill>
                <a:latin typeface="Segoe UI"/>
              </a:rPr>
              <a:t>~25 min</a:t>
            </a:r>
          </a:p>
          <a:p>
            <a:r>
              <a:rPr sz="1100" b="0" i="0">
                <a:solidFill>
                  <a:srgbClr val="9AA2C0"/>
                </a:solidFill>
                <a:latin typeface="Segoe UI"/>
              </a:rPr>
              <a:t>talk length</a:t>
            </a:r>
          </a:p>
        </p:txBody>
      </p:sp>
      <p:sp>
        <p:nvSpPr>
          <p:cNvPr id="9" name="TextBox 8"/>
          <p:cNvSpPr txBox="1"/>
          <p:nvPr/>
        </p:nvSpPr>
        <p:spPr>
          <a:xfrm>
            <a:off x="3017520" y="5349240"/>
            <a:ext cx="2377440" cy="640080"/>
          </a:xfrm>
          <a:prstGeom prst="rect">
            <a:avLst/>
          </a:prstGeom>
          <a:noFill/>
        </p:spPr>
        <p:txBody>
          <a:bodyPr wrap="square" anchor="t" lIns="0" rIns="0" tIns="0" bIns="0">
            <a:spAutoFit/>
          </a:bodyPr>
          <a:lstStyle/>
          <a:p>
            <a:r>
              <a:rPr sz="1600" b="1" i="0">
                <a:solidFill>
                  <a:srgbClr val="E6E9F5"/>
                </a:solidFill>
                <a:latin typeface="Segoe UI"/>
              </a:rPr>
              <a:t>1</a:t>
            </a:r>
          </a:p>
          <a:p>
            <a:r>
              <a:rPr sz="1100" b="0" i="0">
                <a:solidFill>
                  <a:srgbClr val="9AA2C0"/>
                </a:solidFill>
                <a:latin typeface="Segoe UI"/>
              </a:rPr>
              <a:t>prompt → full app</a:t>
            </a:r>
          </a:p>
        </p:txBody>
      </p:sp>
      <p:sp>
        <p:nvSpPr>
          <p:cNvPr id="10" name="TextBox 9"/>
          <p:cNvSpPr txBox="1"/>
          <p:nvPr/>
        </p:nvSpPr>
        <p:spPr>
          <a:xfrm>
            <a:off x="5394960" y="5349240"/>
            <a:ext cx="2377440" cy="640080"/>
          </a:xfrm>
          <a:prstGeom prst="rect">
            <a:avLst/>
          </a:prstGeom>
          <a:noFill/>
        </p:spPr>
        <p:txBody>
          <a:bodyPr wrap="square" anchor="t" lIns="0" rIns="0" tIns="0" bIns="0">
            <a:spAutoFit/>
          </a:bodyPr>
          <a:lstStyle/>
          <a:p>
            <a:r>
              <a:rPr sz="1600" b="1" i="0">
                <a:solidFill>
                  <a:srgbClr val="E6E9F5"/>
                </a:solidFill>
                <a:latin typeface="Segoe UI"/>
              </a:rPr>
              <a:t>0</a:t>
            </a:r>
          </a:p>
          <a:p>
            <a:r>
              <a:rPr sz="1100" b="0" i="0">
                <a:solidFill>
                  <a:srgbClr val="9AA2C0"/>
                </a:solidFill>
                <a:latin typeface="Segoe UI"/>
              </a:rPr>
              <a:t>databases used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QUESTION EVERYONE ACTUALLY HAS</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"This looks powerful. But is it right for </a:t>
            </a:r>
            <a:r>
              <a:rPr sz="3200" b="1" i="0">
                <a:solidFill>
                  <a:srgbClr val="4C9FFE"/>
                </a:solidFill>
                <a:latin typeface="Segoe UI"/>
              </a:rPr>
              <a:t>my</a:t>
            </a:r>
            <a:r>
              <a:rPr sz="3200" b="1" i="0">
                <a:solidFill>
                  <a:srgbClr val="E6E9F5"/>
                </a:solidFill>
                <a:latin typeface="Segoe UI"/>
              </a:rPr>
              <a:t> use case?"</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 every engineer's first honest reaction to Temporal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EXPERIMENT</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 asked AI a vague prompt. Here's what happened.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600200"/>
            <a:ext cx="10515600" cy="1097280"/>
          </a:xfrm>
          <a:prstGeom prst="rect">
            <a:avLst/>
          </a:prstGeom>
          <a:noFill/>
        </p:spPr>
        <p:txBody>
          <a:bodyPr wrap="square" anchor="t" lIns="0" rIns="0" tIns="0" bIns="0">
            <a:spAutoFit/>
          </a:bodyPr>
          <a:lstStyle/>
          <a:p>
            <a:r>
              <a:rPr sz="1500" b="0" i="0">
                <a:solidFill>
                  <a:srgbClr val="9AA2C0"/>
                </a:solidFill>
                <a:latin typeface="Segoe UI"/>
              </a:rPr>
              <a:t>Not “here is a finished spec, build it.” A genuinely rough, one-paragraph idea — the kind you'd type into a chat box on your commute. Then I watched what it took to turn that into something worth demoing to engineers.</a:t>
            </a:r>
          </a:p>
        </p:txBody>
      </p:sp>
      <p:sp>
        <p:nvSpPr>
          <p:cNvPr id="7" name="Rounded Rectangle 6"/>
          <p:cNvSpPr/>
          <p:nvPr/>
        </p:nvSpPr>
        <p:spPr>
          <a:xfrm>
            <a:off x="64008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1</a:t>
            </a:r>
          </a:p>
          <a:p>
            <a:pPr>
              <a:spcBef>
                <a:spcPts val="600"/>
              </a:spcBef>
            </a:pPr>
            <a:r>
              <a:rPr sz="1300" b="0" i="0">
                <a:solidFill>
                  <a:srgbClr val="9AA2C0"/>
                </a:solidFill>
                <a:latin typeface="Segoe UI"/>
              </a:rPr>
              <a:t>Write the rough idea, badly, on purpose</a:t>
            </a:r>
          </a:p>
        </p:txBody>
      </p:sp>
      <p:sp>
        <p:nvSpPr>
          <p:cNvPr id="9" name="Rounded Rectangle 8"/>
          <p:cNvSpPr/>
          <p:nvPr/>
        </p:nvSpPr>
        <p:spPr>
          <a:xfrm>
            <a:off x="435864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5980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2</a:t>
            </a:r>
          </a:p>
          <a:p>
            <a:pPr>
              <a:spcBef>
                <a:spcPts val="600"/>
              </a:spcBef>
            </a:pPr>
            <a:r>
              <a:rPr sz="1300" b="0" i="0">
                <a:solidFill>
                  <a:srgbClr val="9AA2C0"/>
                </a:solidFill>
                <a:latin typeface="Segoe UI"/>
              </a:rPr>
              <a:t>Ask AI to turn it into a real spec</a:t>
            </a:r>
          </a:p>
        </p:txBody>
      </p:sp>
      <p:sp>
        <p:nvSpPr>
          <p:cNvPr id="11" name="Rounded Rectangle 10"/>
          <p:cNvSpPr/>
          <p:nvPr/>
        </p:nvSpPr>
        <p:spPr>
          <a:xfrm>
            <a:off x="807720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836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3</a:t>
            </a:r>
          </a:p>
          <a:p>
            <a:pPr>
              <a:spcBef>
                <a:spcPts val="600"/>
              </a:spcBef>
            </a:pPr>
            <a:r>
              <a:rPr sz="1300" b="0" i="0">
                <a:solidFill>
                  <a:srgbClr val="9AA2C0"/>
                </a:solidFill>
                <a:latin typeface="Segoe UI"/>
              </a:rPr>
              <a:t>Hand that spec to a coding agent &amp; build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AGENDA</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Where we're headed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10515600" cy="4114800"/>
          </a:xfrm>
          <a:prstGeom prst="rect">
            <a:avLst/>
          </a:prstGeom>
          <a:noFill/>
        </p:spPr>
        <p:txBody>
          <a:bodyPr wrap="square" anchor="t" lIns="0" rIns="0" tIns="0" bIns="0">
            <a:spAutoFit/>
          </a:bodyPr>
          <a:lstStyle/>
          <a:p>
            <a:pPr>
              <a:spcAft>
                <a:spcPts val="1000"/>
              </a:spcAft>
            </a:pPr>
            <a:r>
              <a:rPr sz="1700" b="1" i="0">
                <a:solidFill>
                  <a:srgbClr val="34D399"/>
                </a:solidFill>
                <a:latin typeface="Segoe UI"/>
              </a:rPr>
              <a:t>01  </a:t>
            </a:r>
            <a:r>
              <a:rPr sz="1700" b="0" i="0">
                <a:solidFill>
                  <a:srgbClr val="E6E9F5"/>
                </a:solidFill>
                <a:latin typeface="Segoe UI"/>
              </a:rPr>
              <a:t>The prompt experiment — before &amp; after</a:t>
            </a:r>
          </a:p>
          <a:p>
            <a:pPr>
              <a:spcAft>
                <a:spcPts val="1000"/>
              </a:spcAft>
            </a:pPr>
            <a:r>
              <a:rPr sz="1700" b="1" i="0">
                <a:solidFill>
                  <a:srgbClr val="34D399"/>
                </a:solidFill>
                <a:latin typeface="Segoe UI"/>
              </a:rPr>
              <a:t>02  </a:t>
            </a:r>
            <a:r>
              <a:rPr sz="1700" b="0" i="0">
                <a:solidFill>
                  <a:srgbClr val="E6E9F5"/>
                </a:solidFill>
                <a:latin typeface="Segoe UI"/>
              </a:rPr>
              <a:t>What actually got built (architecture + lifecycle)</a:t>
            </a:r>
          </a:p>
          <a:p>
            <a:pPr>
              <a:spcAft>
                <a:spcPts val="1000"/>
              </a:spcAft>
            </a:pPr>
            <a:r>
              <a:rPr sz="1700" b="1" i="0">
                <a:solidFill>
                  <a:srgbClr val="34D399"/>
                </a:solidFill>
                <a:latin typeface="Segoe UI"/>
              </a:rPr>
              <a:t>03  </a:t>
            </a:r>
            <a:r>
              <a:rPr sz="1700" b="0" i="0">
                <a:solidFill>
                  <a:srgbClr val="E6E9F5"/>
                </a:solidFill>
                <a:latin typeface="Segoe UI"/>
              </a:rPr>
              <a:t>Live demo — 6 short cuts, real failures, real recovery</a:t>
            </a:r>
          </a:p>
          <a:p>
            <a:pPr>
              <a:spcAft>
                <a:spcPts val="1000"/>
              </a:spcAft>
            </a:pPr>
            <a:r>
              <a:rPr sz="1700" b="1" i="0">
                <a:solidFill>
                  <a:srgbClr val="34D399"/>
                </a:solidFill>
                <a:latin typeface="Segoe UI"/>
              </a:rPr>
              <a:t>04  </a:t>
            </a:r>
            <a:r>
              <a:rPr sz="1700" b="0" i="0">
                <a:solidFill>
                  <a:srgbClr val="E6E9F5"/>
                </a:solidFill>
                <a:latin typeface="Segoe UI"/>
              </a:rPr>
              <a:t>Lessons — how to match your use case to Temporal</a:t>
            </a:r>
          </a:p>
          <a:p>
            <a:pPr>
              <a:spcAft>
                <a:spcPts val="1000"/>
              </a:spcAft>
            </a:pPr>
            <a:r>
              <a:rPr sz="1700" b="1" i="0">
                <a:solidFill>
                  <a:srgbClr val="34D399"/>
                </a:solidFill>
                <a:latin typeface="Segoe UI"/>
              </a:rPr>
              <a:t>05  </a:t>
            </a:r>
            <a:r>
              <a:rPr sz="1700" b="0" i="0">
                <a:solidFill>
                  <a:srgbClr val="E6E9F5"/>
                </a:solidFill>
                <a:latin typeface="Segoe UI"/>
              </a:rPr>
              <a:t>Resources &amp; how to try this yourself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01</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The Prompt Experiment</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Before and after — and why the gap between them is the whole lesson.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I ACTUALLY TYPED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My first prompt (verbatim)</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chat — untitled idea</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400" b="0" i="0">
                <a:solidFill>
                  <a:srgbClr val="D6DCF5"/>
                </a:solidFill>
                <a:latin typeface="Consolas"/>
              </a:rPr>
              <a:t>&gt; I want to see what temporal workflows can do for me. Create me a project with a UI to track workflow progress and for me to interact with the workflows. Scenario: Claim process for an insurance company. No database, just get state and progress from temporal itself. Use a local temporal instance. Implement any cool ideas you can think of. Make sure there is at lease 1 wait for signal from the UI. Use local storage so the UI persists on refresh.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READ IT AGAIN, LIKE A CODING AGENT HAS TO</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Five things it never says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5120640" cy="2286000"/>
          </a:xfrm>
          <a:prstGeom prst="rect">
            <a:avLst/>
          </a:prstGeom>
          <a:noFill/>
        </p:spPr>
        <p:txBody>
          <a:bodyPr wrap="square" anchor="t" lIns="0" rIns="0" tIns="0" bIns="0">
            <a:spAutoFit/>
          </a:bodyPr>
          <a:lstStyle/>
          <a:p>
            <a:r>
              <a:rPr sz="1400" b="0" i="0">
                <a:solidFill>
                  <a:srgbClr val="9AA2C0"/>
                </a:solidFill>
                <a:latin typeface="Consolas"/>
              </a:rPr>
              <a:t>“…track workflow progress… interact with the workflows… no database… any cool ideas… at lease 1 wait for signal… local storage so it persists…”</a:t>
            </a:r>
          </a:p>
        </p:txBody>
      </p:sp>
      <p:sp>
        <p:nvSpPr>
          <p:cNvPr id="7" name="TextBox 6"/>
          <p:cNvSpPr txBox="1"/>
          <p:nvPr/>
        </p:nvSpPr>
        <p:spPr>
          <a:xfrm>
            <a:off x="6035040" y="1828800"/>
            <a:ext cx="5486400" cy="2743200"/>
          </a:xfrm>
          <a:prstGeom prst="rect">
            <a:avLst/>
          </a:prstGeom>
          <a:noFill/>
        </p:spPr>
        <p:txBody>
          <a:bodyPr wrap="square" anchor="t" lIns="0" rIns="0" tIns="0" bIns="0">
            <a:spAutoFit/>
          </a:bodyPr>
          <a:lstStyle/>
          <a:p>
            <a:pPr>
              <a:spcAft>
                <a:spcPts val="800"/>
              </a:spcAft>
            </a:pPr>
            <a:r>
              <a:rPr sz="1500" b="1" i="0">
                <a:solidFill>
                  <a:srgbClr val="34D399"/>
                </a:solidFill>
                <a:latin typeface="Segoe UI"/>
              </a:rPr>
              <a:t>?  </a:t>
            </a:r>
            <a:r>
              <a:rPr sz="1500" b="0" i="0">
                <a:solidFill>
                  <a:srgbClr val="E6E9F5"/>
                </a:solidFill>
                <a:latin typeface="Segoe UI"/>
              </a:rPr>
              <a:t>Which failures are transient vs. permanent?</a:t>
            </a:r>
          </a:p>
          <a:p>
            <a:pPr>
              <a:spcAft>
                <a:spcPts val="800"/>
              </a:spcAft>
            </a:pPr>
            <a:r>
              <a:rPr sz="1500" b="1" i="0">
                <a:solidFill>
                  <a:srgbClr val="34D399"/>
                </a:solidFill>
                <a:latin typeface="Segoe UI"/>
              </a:rPr>
              <a:t>?  </a:t>
            </a:r>
            <a:r>
              <a:rPr sz="1500" b="0" i="0">
                <a:solidFill>
                  <a:srgbClr val="E6E9F5"/>
                </a:solidFill>
                <a:latin typeface="Segoe UI"/>
              </a:rPr>
              <a:t>What must never be lost on a crash?</a:t>
            </a:r>
          </a:p>
          <a:p>
            <a:pPr>
              <a:spcAft>
                <a:spcPts val="800"/>
              </a:spcAft>
            </a:pPr>
            <a:r>
              <a:rPr sz="1500" b="1" i="0">
                <a:solidFill>
                  <a:srgbClr val="34D399"/>
                </a:solidFill>
                <a:latin typeface="Segoe UI"/>
              </a:rPr>
              <a:t>?  </a:t>
            </a:r>
            <a:r>
              <a:rPr sz="1500" b="0" i="0">
                <a:solidFill>
                  <a:srgbClr val="E6E9F5"/>
                </a:solidFill>
                <a:latin typeface="Segoe UI"/>
              </a:rPr>
              <a:t>Where's the API/worker/UI boundary?</a:t>
            </a:r>
          </a:p>
          <a:p>
            <a:pPr>
              <a:spcAft>
                <a:spcPts val="800"/>
              </a:spcAft>
            </a:pPr>
            <a:r>
              <a:rPr sz="1500" b="1" i="0">
                <a:solidFill>
                  <a:srgbClr val="34D399"/>
                </a:solidFill>
                <a:latin typeface="Segoe UI"/>
              </a:rPr>
              <a:t>?  </a:t>
            </a:r>
            <a:r>
              <a:rPr sz="1500" b="0" i="0">
                <a:solidFill>
                  <a:srgbClr val="E6E9F5"/>
                </a:solidFill>
                <a:latin typeface="Segoe UI"/>
              </a:rPr>
              <a:t>What does “interact with” mean — signals? updates?</a:t>
            </a:r>
          </a:p>
          <a:p>
            <a:pPr>
              <a:spcAft>
                <a:spcPts val="800"/>
              </a:spcAft>
            </a:pPr>
            <a:r>
              <a:rPr sz="1500" b="1" i="0">
                <a:solidFill>
                  <a:srgbClr val="34D399"/>
                </a:solidFill>
                <a:latin typeface="Segoe UI"/>
              </a:rPr>
              <a:t>?  </a:t>
            </a:r>
            <a:r>
              <a:rPr sz="1500" b="0" i="0">
                <a:solidFill>
                  <a:srgbClr val="E6E9F5"/>
                </a:solidFill>
                <a:latin typeface="Segoe UI"/>
              </a:rPr>
              <a:t>“Cool ideas” = infinite scope, zero acceptance criteria</a:t>
            </a:r>
          </a:p>
        </p:txBody>
      </p:sp>
      <p:sp>
        <p:nvSpPr>
          <p:cNvPr id="8" name="TextBox 7"/>
          <p:cNvSpPr txBox="1"/>
          <p:nvPr/>
        </p:nvSpPr>
        <p:spPr>
          <a:xfrm>
            <a:off x="640080" y="4572000"/>
            <a:ext cx="10515600" cy="1097280"/>
          </a:xfrm>
          <a:prstGeom prst="rect">
            <a:avLst/>
          </a:prstGeom>
          <a:noFill/>
        </p:spPr>
        <p:txBody>
          <a:bodyPr wrap="square" anchor="t" lIns="0" rIns="0" tIns="0" bIns="0">
            <a:spAutoFit/>
          </a:bodyPr>
          <a:lstStyle/>
          <a:p>
            <a:r>
              <a:rPr sz="1400" b="0" i="0">
                <a:solidFill>
                  <a:srgbClr val="9AA2C0"/>
                </a:solidFill>
                <a:latin typeface="Segoe UI"/>
              </a:rPr>
              <a:t>None of this makes the prompt bad — it's a perfectly normal first draft.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MOVE THAT ACTUALLY MATTERS</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 didn't fix the prompt myself. I asked AI to fix it.</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WHY NOT WRITE THE SPEC BY HAND?</a:t>
            </a:r>
          </a:p>
          <a:p>
            <a:pPr>
              <a:spcBef>
                <a:spcPts val="600"/>
              </a:spcBef>
            </a:pPr>
            <a:r>
              <a:rPr sz="1300" b="0" i="0">
                <a:solidFill>
                  <a:srgbClr val="9AA2C0"/>
                </a:solidFill>
                <a:latin typeface="Segoe UI"/>
              </a:rPr>
              <a:t>Because “what should a good Temporal spec contain” is itself a question worth delegating.</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WHAT I ASKED FOR</a:t>
            </a:r>
          </a:p>
          <a:p>
            <a:pPr>
              <a:spcBef>
                <a:spcPts val="600"/>
              </a:spcBef>
            </a:pPr>
            <a:r>
              <a:rPr sz="1300" b="0" i="0">
                <a:solidFill>
                  <a:srgbClr val="9AA2C0"/>
                </a:solidFill>
                <a:latin typeface="Segoe UI"/>
              </a:rPr>
              <a:t>“Would this be good for a coding-agent prompt?” — then iterated until the answer covered architecture, failure modes, and UI/UX explicitly.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CAME BACK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The improved prompt  (condensed)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STACK &amp; ARCHITECTURE, NAMED EXPLICITLY</a:t>
            </a:r>
          </a:p>
          <a:p>
            <a:pPr>
              <a:spcBef>
                <a:spcPts val="600"/>
              </a:spcBef>
            </a:pPr>
            <a:r>
              <a:rPr sz="1300" b="0" i="0">
                <a:solidFill>
                  <a:srgbClr val="9AA2C0"/>
                </a:solidFill>
                <a:latin typeface="Segoe UI"/>
              </a:rPr>
              <a:t>Temporal TS SDK · local dev server · NestJS API + worker · React + TS UI · Docker Compose · separate workflow/activity/client/API/UI layers</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DURABILITY REQUIREMENTS, NAMED EXPLICITLY</a:t>
            </a:r>
          </a:p>
          <a:p>
            <a:pPr>
              <a:spcBef>
                <a:spcPts val="600"/>
              </a:spcBef>
            </a:pPr>
            <a:r>
              <a:rPr sz="1300" b="0" i="0">
                <a:solidFill>
                  <a:srgbClr val="9AA2C0"/>
                </a:solidFill>
                <a:latin typeface="Segoe UI"/>
              </a:rPr>
              <a:t>retry policies per activity · at least one timer · a child workflow · signals for every human action · queries for state/progress · cancellation handling</a:t>
            </a:r>
          </a:p>
        </p:txBody>
      </p:sp>
      <p:sp>
        <p:nvSpPr>
          <p:cNvPr id="10" name="Rounded Rectangle 9"/>
          <p:cNvSpPr/>
          <p:nvPr/>
        </p:nvSpPr>
        <p:spPr>
          <a:xfrm>
            <a:off x="64008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078224"/>
            <a:ext cx="4901184" cy="1554480"/>
          </a:xfrm>
          <a:prstGeom prst="rect">
            <a:avLst/>
          </a:prstGeom>
          <a:noFill/>
        </p:spPr>
        <p:txBody>
          <a:bodyPr wrap="square" anchor="t" lIns="0" rIns="0" tIns="0" bIns="0">
            <a:spAutoFit/>
          </a:bodyPr>
          <a:lstStyle/>
          <a:p>
            <a:r>
              <a:rPr sz="1200" b="1" i="0">
                <a:solidFill>
                  <a:srgbClr val="4C9FFE"/>
                </a:solidFill>
                <a:latin typeface="Segoe UI"/>
              </a:rPr>
              <a:t>THE CLAIM LIFECYCLE, SPELLED OUT</a:t>
            </a:r>
          </a:p>
          <a:p>
            <a:pPr>
              <a:spcBef>
                <a:spcPts val="600"/>
              </a:spcBef>
            </a:pPr>
            <a:r>
              <a:rPr sz="1300" b="0" i="0">
                <a:solidFill>
                  <a:srgbClr val="9AA2C0"/>
                </a:solidFill>
                <a:latin typeface="Segoe UI"/>
              </a:rPr>
              <a:t>9 named stages from submission to payout — not “any cool ideas,” a concrete process to map onto primitives</a:t>
            </a:r>
          </a:p>
        </p:txBody>
      </p:sp>
      <p:sp>
        <p:nvSpPr>
          <p:cNvPr id="12" name="Rounded Rectangle 11"/>
          <p:cNvSpPr/>
          <p:nvPr/>
        </p:nvSpPr>
        <p:spPr>
          <a:xfrm>
            <a:off x="621792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4078224"/>
            <a:ext cx="4901184" cy="1554480"/>
          </a:xfrm>
          <a:prstGeom prst="rect">
            <a:avLst/>
          </a:prstGeom>
          <a:noFill/>
        </p:spPr>
        <p:txBody>
          <a:bodyPr wrap="square" anchor="t" lIns="0" rIns="0" tIns="0" bIns="0">
            <a:spAutoFit/>
          </a:bodyPr>
          <a:lstStyle/>
          <a:p>
            <a:r>
              <a:rPr sz="1200" b="1" i="0">
                <a:solidFill>
                  <a:srgbClr val="4C9FFE"/>
                </a:solidFill>
                <a:latin typeface="Segoe UI"/>
              </a:rPr>
              <a:t>DEFINITION OF DONE</a:t>
            </a:r>
          </a:p>
          <a:p>
            <a:pPr>
              <a:spcBef>
                <a:spcPts val="600"/>
              </a:spcBef>
            </a:pPr>
            <a:r>
              <a:rPr sz="1300" b="0" i="0">
                <a:solidFill>
                  <a:srgbClr val="9AA2C0"/>
                </a:solidFill>
                <a:latin typeface="Segoe UI"/>
              </a:rPr>
              <a:t>README, unit tests, one integration test that signals a real workflow to completion, build/lint/test must pass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THESIS OF THIS WHOLE TALK</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Temporal doesn't reward clever prompts.
</a:t>
            </a:r>
            <a:r>
              <a:rPr sz="3200" b="1" i="0">
                <a:solidFill>
                  <a:srgbClr val="E6E9F5"/>
                </a:solidFill>
                <a:latin typeface="Segoe UI"/>
              </a:rPr>
              <a:t>It rewards being </a:t>
            </a:r>
            <a:r>
              <a:rPr sz="3200" b="1" i="0">
                <a:solidFill>
                  <a:srgbClr val="4C9FFE"/>
                </a:solidFill>
                <a:latin typeface="Segoe UI"/>
              </a:rPr>
              <a:t>explicit about failure.</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Name the retries. Name the waits. Name what must survive a crash. The rest is implementation detail.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02</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What Got Built</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An insurance claims console where Temporal — not a database — is the source of truth.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ARCHITECTURE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Four pieces, one source of truth</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2011680"/>
            <a:ext cx="2468880" cy="10058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React Dashboard</a:t>
            </a:r>
          </a:p>
          <a:p>
            <a:pPr algn="ctr"/>
            <a:r>
              <a:rPr sz="1000" b="0" i="0">
                <a:solidFill>
                  <a:srgbClr val="9AA2C0"/>
                </a:solidFill>
                <a:latin typeface="Segoe UI"/>
              </a:rPr>
              <a:t>polling · localStorage prefs only</a:t>
            </a:r>
          </a:p>
        </p:txBody>
      </p:sp>
      <p:sp>
        <p:nvSpPr>
          <p:cNvPr id="8" name="TextBox 7"/>
          <p:cNvSpPr txBox="1"/>
          <p:nvPr/>
        </p:nvSpPr>
        <p:spPr>
          <a:xfrm>
            <a:off x="3108960" y="2331720"/>
            <a:ext cx="320040" cy="457200"/>
          </a:xfrm>
          <a:prstGeom prst="rect">
            <a:avLst/>
          </a:prstGeom>
          <a:noFill/>
        </p:spPr>
        <p:txBody>
          <a:bodyPr wrap="square" anchor="t" lIns="0" rIns="0" tIns="0" bIns="0">
            <a:spAutoFit/>
          </a:bodyPr>
          <a:lstStyle/>
          <a:p>
            <a:pPr algn="ctr"/>
            <a:r>
              <a:rPr sz="2000" b="0" i="0">
                <a:solidFill>
                  <a:srgbClr val="4C9FFE"/>
                </a:solidFill>
                <a:latin typeface="Segoe UI"/>
              </a:rPr>
              <a:t>→</a:t>
            </a:r>
          </a:p>
        </p:txBody>
      </p:sp>
      <p:sp>
        <p:nvSpPr>
          <p:cNvPr id="9" name="Rounded Rectangle 8"/>
          <p:cNvSpPr/>
          <p:nvPr/>
        </p:nvSpPr>
        <p:spPr>
          <a:xfrm>
            <a:off x="3429000" y="2011680"/>
            <a:ext cx="2468880" cy="10058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NestJS API</a:t>
            </a:r>
          </a:p>
          <a:p>
            <a:pPr algn="ctr"/>
            <a:r>
              <a:rPr sz="1000" b="0" i="0">
                <a:solidFill>
                  <a:srgbClr val="9AA2C0"/>
                </a:solidFill>
                <a:latin typeface="Segoe UI"/>
              </a:rPr>
              <a:t>Temporal client · REST facade</a:t>
            </a:r>
          </a:p>
        </p:txBody>
      </p:sp>
      <p:sp>
        <p:nvSpPr>
          <p:cNvPr id="11" name="TextBox 10"/>
          <p:cNvSpPr txBox="1"/>
          <p:nvPr/>
        </p:nvSpPr>
        <p:spPr>
          <a:xfrm>
            <a:off x="5897880" y="2331720"/>
            <a:ext cx="320040" cy="457200"/>
          </a:xfrm>
          <a:prstGeom prst="rect">
            <a:avLst/>
          </a:prstGeom>
          <a:noFill/>
        </p:spPr>
        <p:txBody>
          <a:bodyPr wrap="square" anchor="t" lIns="0" rIns="0" tIns="0" bIns="0">
            <a:spAutoFit/>
          </a:bodyPr>
          <a:lstStyle/>
          <a:p>
            <a:pPr algn="ctr"/>
            <a:r>
              <a:rPr sz="2000" b="0" i="0">
                <a:solidFill>
                  <a:srgbClr val="4C9FFE"/>
                </a:solidFill>
                <a:latin typeface="Segoe UI"/>
              </a:rPr>
              <a:t>→</a:t>
            </a:r>
          </a:p>
        </p:txBody>
      </p:sp>
      <p:sp>
        <p:nvSpPr>
          <p:cNvPr id="12" name="Rounded Rectangle 11"/>
          <p:cNvSpPr/>
          <p:nvPr/>
        </p:nvSpPr>
        <p:spPr>
          <a:xfrm>
            <a:off x="6217920" y="2011680"/>
            <a:ext cx="2468880" cy="1005840"/>
          </a:xfrm>
          <a:prstGeom prst="roundRect">
            <a:avLst>
              <a:gd name="adj" fmla="val 6000"/>
            </a:avLst>
          </a:prstGeom>
          <a:solidFill>
            <a:srgbClr val="1C1630"/>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Temporal Server</a:t>
            </a:r>
          </a:p>
          <a:p>
            <a:pPr algn="ctr"/>
            <a:r>
              <a:rPr sz="1000" b="0" i="0">
                <a:solidFill>
                  <a:srgbClr val="9AA2C0"/>
                </a:solidFill>
                <a:latin typeface="Segoe UI"/>
              </a:rPr>
              <a:t>event history · task queue · visibility</a:t>
            </a:r>
          </a:p>
        </p:txBody>
      </p:sp>
      <p:sp>
        <p:nvSpPr>
          <p:cNvPr id="14" name="TextBox 13"/>
          <p:cNvSpPr txBox="1"/>
          <p:nvPr/>
        </p:nvSpPr>
        <p:spPr>
          <a:xfrm>
            <a:off x="8686800" y="2331720"/>
            <a:ext cx="320040" cy="457200"/>
          </a:xfrm>
          <a:prstGeom prst="rect">
            <a:avLst/>
          </a:prstGeom>
          <a:noFill/>
        </p:spPr>
        <p:txBody>
          <a:bodyPr wrap="square" anchor="t" lIns="0" rIns="0" tIns="0" bIns="0">
            <a:spAutoFit/>
          </a:bodyPr>
          <a:lstStyle/>
          <a:p>
            <a:pPr algn="ctr"/>
            <a:r>
              <a:rPr sz="2000" b="0" i="0">
                <a:solidFill>
                  <a:srgbClr val="4C9FFE"/>
                </a:solidFill>
                <a:latin typeface="Segoe UI"/>
              </a:rPr>
              <a:t>→</a:t>
            </a:r>
          </a:p>
        </p:txBody>
      </p:sp>
      <p:sp>
        <p:nvSpPr>
          <p:cNvPr id="15" name="Rounded Rectangle 14"/>
          <p:cNvSpPr/>
          <p:nvPr/>
        </p:nvSpPr>
        <p:spPr>
          <a:xfrm>
            <a:off x="9006840" y="2011680"/>
            <a:ext cx="2468880" cy="10058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NestJS Worker</a:t>
            </a:r>
          </a:p>
          <a:p>
            <a:pPr algn="ctr"/>
            <a:r>
              <a:rPr sz="1000" b="0" i="0">
                <a:solidFill>
                  <a:srgbClr val="9AA2C0"/>
                </a:solidFill>
                <a:latin typeface="Segoe UI"/>
              </a:rPr>
              <a:t>workflows + activities</a:t>
            </a:r>
          </a:p>
        </p:txBody>
      </p:sp>
      <p:sp>
        <p:nvSpPr>
          <p:cNvPr id="17" name="TextBox 16"/>
          <p:cNvSpPr txBox="1"/>
          <p:nvPr/>
        </p:nvSpPr>
        <p:spPr>
          <a:xfrm>
            <a:off x="640080" y="3383280"/>
            <a:ext cx="3657600" cy="365760"/>
          </a:xfrm>
          <a:prstGeom prst="rect">
            <a:avLst/>
          </a:prstGeom>
          <a:noFill/>
        </p:spPr>
        <p:txBody>
          <a:bodyPr wrap="square" anchor="t" lIns="0" rIns="0" tIns="0" bIns="0">
            <a:spAutoFit/>
          </a:bodyPr>
          <a:lstStyle/>
          <a:p>
            <a:r>
              <a:rPr sz="1300" b="1" i="0">
                <a:solidFill>
                  <a:srgbClr val="F87171"/>
                </a:solidFill>
                <a:latin typeface="Segoe UI"/>
              </a:rPr>
              <a:t>✗ no database, anywhere</a:t>
            </a:r>
          </a:p>
        </p:txBody>
      </p:sp>
      <p:sp>
        <p:nvSpPr>
          <p:cNvPr id="18" name="TextBox 17"/>
          <p:cNvSpPr txBox="1"/>
          <p:nvPr/>
        </p:nvSpPr>
        <p:spPr>
          <a:xfrm>
            <a:off x="4297680" y="3383280"/>
            <a:ext cx="3657600" cy="365760"/>
          </a:xfrm>
          <a:prstGeom prst="rect">
            <a:avLst/>
          </a:prstGeom>
          <a:noFill/>
        </p:spPr>
        <p:txBody>
          <a:bodyPr wrap="square" anchor="t" lIns="0" rIns="0" tIns="0" bIns="0">
            <a:spAutoFit/>
          </a:bodyPr>
          <a:lstStyle/>
          <a:p>
            <a:r>
              <a:rPr sz="1300" b="1" i="0">
                <a:solidFill>
                  <a:srgbClr val="34D399"/>
                </a:solidFill>
                <a:latin typeface="Segoe UI"/>
              </a:rPr>
              <a:t>✓ Temporal event history is the state</a:t>
            </a:r>
          </a:p>
        </p:txBody>
      </p:sp>
      <p:sp>
        <p:nvSpPr>
          <p:cNvPr id="19" name="TextBox 18"/>
          <p:cNvSpPr txBox="1"/>
          <p:nvPr/>
        </p:nvSpPr>
        <p:spPr>
          <a:xfrm>
            <a:off x="7955280" y="3383280"/>
            <a:ext cx="3657600" cy="365760"/>
          </a:xfrm>
          <a:prstGeom prst="rect">
            <a:avLst/>
          </a:prstGeom>
          <a:noFill/>
        </p:spPr>
        <p:txBody>
          <a:bodyPr wrap="square" anchor="t" lIns="0" rIns="0" tIns="0" bIns="0">
            <a:spAutoFit/>
          </a:bodyPr>
          <a:lstStyle/>
          <a:p>
            <a:r>
              <a:rPr sz="1300" b="1" i="0">
                <a:solidFill>
                  <a:srgbClr val="38BDF8"/>
                </a:solidFill>
                <a:latin typeface="Segoe UI"/>
              </a:rPr>
              <a:t>✓ localStorage = prefs + recent ids only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BUSINESS PROCESS</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Nine stages → nine Temporal decisions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938528"/>
            <a:ext cx="3227832" cy="640080"/>
          </a:xfrm>
          <a:prstGeom prst="rect">
            <a:avLst/>
          </a:prstGeom>
          <a:noFill/>
        </p:spPr>
        <p:txBody>
          <a:bodyPr wrap="square" anchor="t" lIns="0" rIns="0" tIns="0" bIns="0">
            <a:spAutoFit/>
          </a:bodyPr>
          <a:lstStyle/>
          <a:p>
            <a:r>
              <a:rPr sz="1400" b="1" i="0">
                <a:solidFill>
                  <a:srgbClr val="E6E9F5"/>
                </a:solidFill>
                <a:latin typeface="Segoe UI"/>
              </a:rPr>
              <a:t>1. Submitted</a:t>
            </a:r>
          </a:p>
          <a:p>
            <a:r>
              <a:rPr sz="1100" b="0" i="0">
                <a:solidFill>
                  <a:srgbClr val="4C9FFE"/>
                </a:solidFill>
                <a:latin typeface="Consolas"/>
              </a:rPr>
              <a:t>workflow start</a:t>
            </a:r>
          </a:p>
        </p:txBody>
      </p:sp>
      <p:sp>
        <p:nvSpPr>
          <p:cNvPr id="8" name="Rounded Rectangle 7"/>
          <p:cNvSpPr/>
          <p:nvPr/>
        </p:nvSpPr>
        <p:spPr>
          <a:xfrm>
            <a:off x="4279392"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16552" y="1938528"/>
            <a:ext cx="3227832" cy="640080"/>
          </a:xfrm>
          <a:prstGeom prst="rect">
            <a:avLst/>
          </a:prstGeom>
          <a:noFill/>
        </p:spPr>
        <p:txBody>
          <a:bodyPr wrap="square" anchor="t" lIns="0" rIns="0" tIns="0" bIns="0">
            <a:spAutoFit/>
          </a:bodyPr>
          <a:lstStyle/>
          <a:p>
            <a:r>
              <a:rPr sz="1400" b="1" i="0">
                <a:solidFill>
                  <a:srgbClr val="E6E9F5"/>
                </a:solidFill>
                <a:latin typeface="Segoe UI"/>
              </a:rPr>
              <a:t>2. Validation</a:t>
            </a:r>
          </a:p>
          <a:p>
            <a:r>
              <a:rPr sz="1100" b="0" i="0">
                <a:solidFill>
                  <a:srgbClr val="4C9FFE"/>
                </a:solidFill>
                <a:latin typeface="Consolas"/>
              </a:rPr>
              <a:t>activity + retry</a:t>
            </a:r>
          </a:p>
        </p:txBody>
      </p:sp>
      <p:sp>
        <p:nvSpPr>
          <p:cNvPr id="10" name="Rounded Rectangle 9"/>
          <p:cNvSpPr/>
          <p:nvPr/>
        </p:nvSpPr>
        <p:spPr>
          <a:xfrm>
            <a:off x="7918704"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55864" y="1938528"/>
            <a:ext cx="3227832" cy="640080"/>
          </a:xfrm>
          <a:prstGeom prst="rect">
            <a:avLst/>
          </a:prstGeom>
          <a:noFill/>
        </p:spPr>
        <p:txBody>
          <a:bodyPr wrap="square" anchor="t" lIns="0" rIns="0" tIns="0" bIns="0">
            <a:spAutoFit/>
          </a:bodyPr>
          <a:lstStyle/>
          <a:p>
            <a:r>
              <a:rPr sz="1400" b="1" i="0">
                <a:solidFill>
                  <a:srgbClr val="E6E9F5"/>
                </a:solidFill>
                <a:latin typeface="Segoe UI"/>
              </a:rPr>
              <a:t>3. Coverage check</a:t>
            </a:r>
          </a:p>
          <a:p>
            <a:r>
              <a:rPr sz="1100" b="0" i="0">
                <a:solidFill>
                  <a:srgbClr val="4C9FFE"/>
                </a:solidFill>
                <a:latin typeface="Consolas"/>
              </a:rPr>
              <a:t>activity + retry</a:t>
            </a:r>
          </a:p>
        </p:txBody>
      </p:sp>
      <p:sp>
        <p:nvSpPr>
          <p:cNvPr id="12" name="Rounded Rectangle 11"/>
          <p:cNvSpPr/>
          <p:nvPr/>
        </p:nvSpPr>
        <p:spPr>
          <a:xfrm>
            <a:off x="640080"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898648"/>
            <a:ext cx="3227832" cy="640080"/>
          </a:xfrm>
          <a:prstGeom prst="rect">
            <a:avLst/>
          </a:prstGeom>
          <a:noFill/>
        </p:spPr>
        <p:txBody>
          <a:bodyPr wrap="square" anchor="t" lIns="0" rIns="0" tIns="0" bIns="0">
            <a:spAutoFit/>
          </a:bodyPr>
          <a:lstStyle/>
          <a:p>
            <a:r>
              <a:rPr sz="1400" b="1" i="0">
                <a:solidFill>
                  <a:srgbClr val="E6E9F5"/>
                </a:solidFill>
                <a:latin typeface="Segoe UI"/>
              </a:rPr>
              <a:t>4. Damage assessment</a:t>
            </a:r>
          </a:p>
          <a:p>
            <a:r>
              <a:rPr sz="1100" b="0" i="0">
                <a:solidFill>
                  <a:srgbClr val="4C9FFE"/>
                </a:solidFill>
                <a:latin typeface="Consolas"/>
              </a:rPr>
              <a:t>heartbeat + cancel</a:t>
            </a:r>
          </a:p>
        </p:txBody>
      </p:sp>
      <p:sp>
        <p:nvSpPr>
          <p:cNvPr id="14" name="Rounded Rectangle 13"/>
          <p:cNvSpPr/>
          <p:nvPr/>
        </p:nvSpPr>
        <p:spPr>
          <a:xfrm>
            <a:off x="4279392"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6552" y="2898648"/>
            <a:ext cx="3227832" cy="640080"/>
          </a:xfrm>
          <a:prstGeom prst="rect">
            <a:avLst/>
          </a:prstGeom>
          <a:noFill/>
        </p:spPr>
        <p:txBody>
          <a:bodyPr wrap="square" anchor="t" lIns="0" rIns="0" tIns="0" bIns="0">
            <a:spAutoFit/>
          </a:bodyPr>
          <a:lstStyle/>
          <a:p>
            <a:r>
              <a:rPr sz="1400" b="1" i="0">
                <a:solidFill>
                  <a:srgbClr val="E6E9F5"/>
                </a:solidFill>
                <a:latin typeface="Segoe UI"/>
              </a:rPr>
              <a:t>5. Fraud evaluation</a:t>
            </a:r>
          </a:p>
          <a:p>
            <a:r>
              <a:rPr sz="1100" b="0" i="0">
                <a:solidFill>
                  <a:srgbClr val="4C9FFE"/>
                </a:solidFill>
                <a:latin typeface="Consolas"/>
              </a:rPr>
              <a:t>child workflow</a:t>
            </a:r>
          </a:p>
        </p:txBody>
      </p:sp>
      <p:sp>
        <p:nvSpPr>
          <p:cNvPr id="16" name="Rounded Rectangle 15"/>
          <p:cNvSpPr/>
          <p:nvPr/>
        </p:nvSpPr>
        <p:spPr>
          <a:xfrm>
            <a:off x="7918704"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55864" y="2898648"/>
            <a:ext cx="3227832" cy="640080"/>
          </a:xfrm>
          <a:prstGeom prst="rect">
            <a:avLst/>
          </a:prstGeom>
          <a:noFill/>
        </p:spPr>
        <p:txBody>
          <a:bodyPr wrap="square" anchor="t" lIns="0" rIns="0" tIns="0" bIns="0">
            <a:spAutoFit/>
          </a:bodyPr>
          <a:lstStyle/>
          <a:p>
            <a:r>
              <a:rPr sz="1400" b="1" i="0">
                <a:solidFill>
                  <a:srgbClr val="E6E9F5"/>
                </a:solidFill>
                <a:latin typeface="Segoe UI"/>
              </a:rPr>
              <a:t>6. Human review</a:t>
            </a:r>
          </a:p>
          <a:p>
            <a:r>
              <a:rPr sz="1100" b="0" i="0">
                <a:solidFill>
                  <a:srgbClr val="4C9FFE"/>
                </a:solidFill>
                <a:latin typeface="Consolas"/>
              </a:rPr>
              <a:t>signal · waits forever</a:t>
            </a:r>
          </a:p>
        </p:txBody>
      </p:sp>
      <p:sp>
        <p:nvSpPr>
          <p:cNvPr id="18" name="Rounded Rectangle 17"/>
          <p:cNvSpPr/>
          <p:nvPr/>
        </p:nvSpPr>
        <p:spPr>
          <a:xfrm>
            <a:off x="640080"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3858768"/>
            <a:ext cx="3227832" cy="640080"/>
          </a:xfrm>
          <a:prstGeom prst="rect">
            <a:avLst/>
          </a:prstGeom>
          <a:noFill/>
        </p:spPr>
        <p:txBody>
          <a:bodyPr wrap="square" anchor="t" lIns="0" rIns="0" tIns="0" bIns="0">
            <a:spAutoFit/>
          </a:bodyPr>
          <a:lstStyle/>
          <a:p>
            <a:r>
              <a:rPr sz="1400" b="1" i="0">
                <a:solidFill>
                  <a:srgbClr val="E6E9F5"/>
                </a:solidFill>
                <a:latin typeface="Segoe UI"/>
              </a:rPr>
              <a:t>7. Decision</a:t>
            </a:r>
          </a:p>
          <a:p>
            <a:r>
              <a:rPr sz="1100" b="0" i="0">
                <a:solidFill>
                  <a:srgbClr val="4C9FFE"/>
                </a:solidFill>
                <a:latin typeface="Consolas"/>
              </a:rPr>
              <a:t>saga: release/reserve</a:t>
            </a:r>
          </a:p>
        </p:txBody>
      </p:sp>
      <p:sp>
        <p:nvSpPr>
          <p:cNvPr id="20" name="Rounded Rectangle 19"/>
          <p:cNvSpPr/>
          <p:nvPr/>
        </p:nvSpPr>
        <p:spPr>
          <a:xfrm>
            <a:off x="4279392"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16552" y="3858768"/>
            <a:ext cx="3227832" cy="640080"/>
          </a:xfrm>
          <a:prstGeom prst="rect">
            <a:avLst/>
          </a:prstGeom>
          <a:noFill/>
        </p:spPr>
        <p:txBody>
          <a:bodyPr wrap="square" anchor="t" lIns="0" rIns="0" tIns="0" bIns="0">
            <a:spAutoFit/>
          </a:bodyPr>
          <a:lstStyle/>
          <a:p>
            <a:r>
              <a:rPr sz="1400" b="1" i="0">
                <a:solidFill>
                  <a:srgbClr val="E6E9F5"/>
                </a:solidFill>
                <a:latin typeface="Segoe UI"/>
              </a:rPr>
              <a:t>8. Payment</a:t>
            </a:r>
          </a:p>
          <a:p>
            <a:r>
              <a:rPr sz="1100" b="0" i="0">
                <a:solidFill>
                  <a:srgbClr val="4C9FFE"/>
                </a:solidFill>
                <a:latin typeface="Consolas"/>
              </a:rPr>
              <a:t>durable timer + activity</a:t>
            </a:r>
          </a:p>
        </p:txBody>
      </p:sp>
      <p:sp>
        <p:nvSpPr>
          <p:cNvPr id="22" name="Rounded Rectangle 21"/>
          <p:cNvSpPr/>
          <p:nvPr/>
        </p:nvSpPr>
        <p:spPr>
          <a:xfrm>
            <a:off x="7918704"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55864" y="3858768"/>
            <a:ext cx="3227832" cy="640080"/>
          </a:xfrm>
          <a:prstGeom prst="rect">
            <a:avLst/>
          </a:prstGeom>
          <a:noFill/>
        </p:spPr>
        <p:txBody>
          <a:bodyPr wrap="square" anchor="t" lIns="0" rIns="0" tIns="0" bIns="0">
            <a:spAutoFit/>
          </a:bodyPr>
          <a:lstStyle/>
          <a:p>
            <a:r>
              <a:rPr sz="1400" b="1" i="0">
                <a:solidFill>
                  <a:srgbClr val="E6E9F5"/>
                </a:solidFill>
                <a:latin typeface="Segoe UI"/>
              </a:rPr>
              <a:t>9. Completed</a:t>
            </a:r>
          </a:p>
          <a:p>
            <a:r>
              <a:rPr sz="1100" b="0" i="0">
                <a:solidFill>
                  <a:srgbClr val="4C9FFE"/>
                </a:solidFill>
                <a:latin typeface="Consolas"/>
              </a:rPr>
              <a:t>workflow result</a:t>
            </a:r>
          </a:p>
        </p:txBody>
      </p:sp>
      <p:sp>
        <p:nvSpPr>
          <p:cNvPr id="24" name="TextBox 23"/>
          <p:cNvSpPr txBox="1"/>
          <p:nvPr/>
        </p:nvSpPr>
        <p:spPr>
          <a:xfrm>
            <a:off x="640080" y="4754880"/>
            <a:ext cx="10515600" cy="1097280"/>
          </a:xfrm>
          <a:prstGeom prst="rect">
            <a:avLst/>
          </a:prstGeom>
          <a:noFill/>
        </p:spPr>
        <p:txBody>
          <a:bodyPr wrap="square" anchor="t" lIns="0" rIns="0" tIns="0" bIns="0">
            <a:spAutoFit/>
          </a:bodyPr>
          <a:lstStyle/>
          <a:p>
            <a:r>
              <a:rPr sz="1400" b="0" i="0">
                <a:solidFill>
                  <a:srgbClr val="9AA2C0"/>
                </a:solidFill>
                <a:latin typeface="Segoe UI"/>
              </a:rPr>
              <a:t>Every chip on this rail is a query result, live, from a running Temporal workflow.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TEMPORAL BINGO CARD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What's actually demonstrated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3041904" cy="914400"/>
          </a:xfrm>
          <a:prstGeom prst="rect">
            <a:avLst/>
          </a:prstGeom>
          <a:noFill/>
        </p:spPr>
        <p:txBody>
          <a:bodyPr wrap="square" anchor="t" lIns="0" rIns="0" tIns="0" bIns="0">
            <a:spAutoFit/>
          </a:bodyPr>
          <a:lstStyle/>
          <a:p>
            <a:r>
              <a:rPr sz="1200" b="1" i="0">
                <a:solidFill>
                  <a:srgbClr val="34D399"/>
                </a:solidFill>
                <a:latin typeface="Segoe UI"/>
              </a:rPr>
              <a:t>RETRY POLICIES</a:t>
            </a:r>
          </a:p>
          <a:p>
            <a:pPr>
              <a:spcBef>
                <a:spcPts val="600"/>
              </a:spcBef>
            </a:pPr>
            <a:r>
              <a:rPr sz="1300" b="0" i="0">
                <a:solidFill>
                  <a:srgbClr val="9AA2C0"/>
                </a:solidFill>
                <a:latin typeface="Segoe UI"/>
              </a:rPr>
              <a:t>per-stage, configurable backoff</a:t>
            </a:r>
          </a:p>
        </p:txBody>
      </p:sp>
      <p:sp>
        <p:nvSpPr>
          <p:cNvPr id="8" name="Rounded Rectangle 7"/>
          <p:cNvSpPr/>
          <p:nvPr/>
        </p:nvSpPr>
        <p:spPr>
          <a:xfrm>
            <a:off x="435864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9808" y="1975104"/>
            <a:ext cx="3041904" cy="914400"/>
          </a:xfrm>
          <a:prstGeom prst="rect">
            <a:avLst/>
          </a:prstGeom>
          <a:noFill/>
        </p:spPr>
        <p:txBody>
          <a:bodyPr wrap="square" anchor="t" lIns="0" rIns="0" tIns="0" bIns="0">
            <a:spAutoFit/>
          </a:bodyPr>
          <a:lstStyle/>
          <a:p>
            <a:r>
              <a:rPr sz="1200" b="1" i="0">
                <a:solidFill>
                  <a:srgbClr val="F87171"/>
                </a:solidFill>
                <a:latin typeface="Segoe UI"/>
              </a:rPr>
              <a:t>NON-RETRYABLE FAILURES</a:t>
            </a:r>
          </a:p>
          <a:p>
            <a:pPr>
              <a:spcBef>
                <a:spcPts val="600"/>
              </a:spcBef>
            </a:pPr>
            <a:r>
              <a:rPr sz="1300" b="0" i="0">
                <a:solidFill>
                  <a:srgbClr val="9AA2C0"/>
                </a:solidFill>
                <a:latin typeface="Segoe UI"/>
              </a:rPr>
              <a:t>permanent errors stop cleanly</a:t>
            </a:r>
          </a:p>
        </p:txBody>
      </p:sp>
      <p:sp>
        <p:nvSpPr>
          <p:cNvPr id="10" name="Rounded Rectangle 9"/>
          <p:cNvSpPr/>
          <p:nvPr/>
        </p:nvSpPr>
        <p:spPr>
          <a:xfrm>
            <a:off x="807720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78368" y="1975104"/>
            <a:ext cx="3041904" cy="914400"/>
          </a:xfrm>
          <a:prstGeom prst="rect">
            <a:avLst/>
          </a:prstGeom>
          <a:noFill/>
        </p:spPr>
        <p:txBody>
          <a:bodyPr wrap="square" anchor="t" lIns="0" rIns="0" tIns="0" bIns="0">
            <a:spAutoFit/>
          </a:bodyPr>
          <a:lstStyle/>
          <a:p>
            <a:r>
              <a:rPr sz="1200" b="1" i="0">
                <a:solidFill>
                  <a:srgbClr val="38BDF8"/>
                </a:solidFill>
                <a:latin typeface="Segoe UI"/>
              </a:rPr>
              <a:t>DURABLE TIMERS</a:t>
            </a:r>
          </a:p>
          <a:p>
            <a:pPr>
              <a:spcBef>
                <a:spcPts val="600"/>
              </a:spcBef>
            </a:pPr>
            <a:r>
              <a:rPr sz="1300" b="0" i="0">
                <a:solidFill>
                  <a:srgbClr val="9AA2C0"/>
                </a:solidFill>
                <a:latin typeface="Segoe UI"/>
              </a:rPr>
              <a:t>settlement hold + reminder loop</a:t>
            </a:r>
          </a:p>
        </p:txBody>
      </p:sp>
      <p:sp>
        <p:nvSpPr>
          <p:cNvPr id="12" name="Rounded Rectangle 11"/>
          <p:cNvSpPr/>
          <p:nvPr/>
        </p:nvSpPr>
        <p:spPr>
          <a:xfrm>
            <a:off x="64008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3438144"/>
            <a:ext cx="3041904" cy="914400"/>
          </a:xfrm>
          <a:prstGeom prst="rect">
            <a:avLst/>
          </a:prstGeom>
          <a:noFill/>
        </p:spPr>
        <p:txBody>
          <a:bodyPr wrap="square" anchor="t" lIns="0" rIns="0" tIns="0" bIns="0">
            <a:spAutoFit/>
          </a:bodyPr>
          <a:lstStyle/>
          <a:p>
            <a:r>
              <a:rPr sz="1200" b="1" i="0">
                <a:solidFill>
                  <a:srgbClr val="7C5CFF"/>
                </a:solidFill>
                <a:latin typeface="Segoe UI"/>
              </a:rPr>
              <a:t>CHILD WORKFLOW</a:t>
            </a:r>
          </a:p>
          <a:p>
            <a:pPr>
              <a:spcBef>
                <a:spcPts val="600"/>
              </a:spcBef>
            </a:pPr>
            <a:r>
              <a:rPr sz="1300" b="0" i="0">
                <a:solidFill>
                  <a:srgbClr val="9AA2C0"/>
                </a:solidFill>
                <a:latin typeface="Segoe UI"/>
              </a:rPr>
              <a:t>fraud check, own history</a:t>
            </a:r>
          </a:p>
        </p:txBody>
      </p:sp>
      <p:sp>
        <p:nvSpPr>
          <p:cNvPr id="14" name="Rounded Rectangle 13"/>
          <p:cNvSpPr/>
          <p:nvPr/>
        </p:nvSpPr>
        <p:spPr>
          <a:xfrm>
            <a:off x="435864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9808" y="3438144"/>
            <a:ext cx="3041904" cy="914400"/>
          </a:xfrm>
          <a:prstGeom prst="rect">
            <a:avLst/>
          </a:prstGeom>
          <a:noFill/>
        </p:spPr>
        <p:txBody>
          <a:bodyPr wrap="square" anchor="t" lIns="0" rIns="0" tIns="0" bIns="0">
            <a:spAutoFit/>
          </a:bodyPr>
          <a:lstStyle/>
          <a:p>
            <a:r>
              <a:rPr sz="1200" b="1" i="0">
                <a:solidFill>
                  <a:srgbClr val="38BDF8"/>
                </a:solidFill>
                <a:latin typeface="Segoe UI"/>
              </a:rPr>
              <a:t>SIGNALS</a:t>
            </a:r>
          </a:p>
          <a:p>
            <a:pPr>
              <a:spcBef>
                <a:spcPts val="600"/>
              </a:spcBef>
            </a:pPr>
            <a:r>
              <a:rPr sz="1300" b="0" i="0">
                <a:solidFill>
                  <a:srgbClr val="9AA2C0"/>
                </a:solidFill>
                <a:latin typeface="Segoe UI"/>
              </a:rPr>
              <a:t>approve / deny / info / recover</a:t>
            </a:r>
          </a:p>
        </p:txBody>
      </p:sp>
      <p:sp>
        <p:nvSpPr>
          <p:cNvPr id="16" name="Rounded Rectangle 15"/>
          <p:cNvSpPr/>
          <p:nvPr/>
        </p:nvSpPr>
        <p:spPr>
          <a:xfrm>
            <a:off x="807720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8368" y="3438144"/>
            <a:ext cx="3041904" cy="914400"/>
          </a:xfrm>
          <a:prstGeom prst="rect">
            <a:avLst/>
          </a:prstGeom>
          <a:noFill/>
        </p:spPr>
        <p:txBody>
          <a:bodyPr wrap="square" anchor="t" lIns="0" rIns="0" tIns="0" bIns="0">
            <a:spAutoFit/>
          </a:bodyPr>
          <a:lstStyle/>
          <a:p>
            <a:r>
              <a:rPr sz="1200" b="1" i="0">
                <a:solidFill>
                  <a:srgbClr val="4C9FFE"/>
                </a:solidFill>
                <a:latin typeface="Segoe UI"/>
              </a:rPr>
              <a:t>QUERIES</a:t>
            </a:r>
          </a:p>
          <a:p>
            <a:pPr>
              <a:spcBef>
                <a:spcPts val="600"/>
              </a:spcBef>
            </a:pPr>
            <a:r>
              <a:rPr sz="1300" b="0" i="0">
                <a:solidFill>
                  <a:srgbClr val="9AA2C0"/>
                </a:solidFill>
                <a:latin typeface="Segoe UI"/>
              </a:rPr>
              <a:t>live state + progress %</a:t>
            </a:r>
          </a:p>
        </p:txBody>
      </p:sp>
      <p:sp>
        <p:nvSpPr>
          <p:cNvPr id="18" name="Rounded Rectangle 17"/>
          <p:cNvSpPr/>
          <p:nvPr/>
        </p:nvSpPr>
        <p:spPr>
          <a:xfrm>
            <a:off x="64008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 y="4901184"/>
            <a:ext cx="3041904" cy="914400"/>
          </a:xfrm>
          <a:prstGeom prst="rect">
            <a:avLst/>
          </a:prstGeom>
          <a:noFill/>
        </p:spPr>
        <p:txBody>
          <a:bodyPr wrap="square" anchor="t" lIns="0" rIns="0" tIns="0" bIns="0">
            <a:spAutoFit/>
          </a:bodyPr>
          <a:lstStyle/>
          <a:p>
            <a:r>
              <a:rPr sz="1200" b="1" i="0">
                <a:solidFill>
                  <a:srgbClr val="4C9FFE"/>
                </a:solidFill>
                <a:latin typeface="Segoe UI"/>
              </a:rPr>
              <a:t>UPDATE + VALIDATOR</a:t>
            </a:r>
          </a:p>
          <a:p>
            <a:pPr>
              <a:spcBef>
                <a:spcPts val="600"/>
              </a:spcBef>
            </a:pPr>
            <a:r>
              <a:rPr sz="1300" b="0" i="0">
                <a:solidFill>
                  <a:srgbClr val="9AA2C0"/>
                </a:solidFill>
                <a:latin typeface="Segoe UI"/>
              </a:rPr>
              <a:t>adjuster notes, rejected inline</a:t>
            </a:r>
          </a:p>
        </p:txBody>
      </p:sp>
      <p:sp>
        <p:nvSpPr>
          <p:cNvPr id="20" name="Rounded Rectangle 19"/>
          <p:cNvSpPr/>
          <p:nvPr/>
        </p:nvSpPr>
        <p:spPr>
          <a:xfrm>
            <a:off x="435864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59808" y="4901184"/>
            <a:ext cx="3041904" cy="914400"/>
          </a:xfrm>
          <a:prstGeom prst="rect">
            <a:avLst/>
          </a:prstGeom>
          <a:noFill/>
        </p:spPr>
        <p:txBody>
          <a:bodyPr wrap="square" anchor="t" lIns="0" rIns="0" tIns="0" bIns="0">
            <a:spAutoFit/>
          </a:bodyPr>
          <a:lstStyle/>
          <a:p>
            <a:r>
              <a:rPr sz="1200" b="1" i="0">
                <a:solidFill>
                  <a:srgbClr val="FBBF24"/>
                </a:solidFill>
                <a:latin typeface="Segoe UI"/>
              </a:rPr>
              <a:t>CANCELLATION</a:t>
            </a:r>
          </a:p>
          <a:p>
            <a:pPr>
              <a:spcBef>
                <a:spcPts val="600"/>
              </a:spcBef>
            </a:pPr>
            <a:r>
              <a:rPr sz="1300" b="0" i="0">
                <a:solidFill>
                  <a:srgbClr val="9AA2C0"/>
                </a:solidFill>
                <a:latin typeface="Segoe UI"/>
              </a:rPr>
              <a:t>saga-style compensation</a:t>
            </a:r>
          </a:p>
        </p:txBody>
      </p:sp>
      <p:sp>
        <p:nvSpPr>
          <p:cNvPr id="22" name="Rounded Rectangle 21"/>
          <p:cNvSpPr/>
          <p:nvPr/>
        </p:nvSpPr>
        <p:spPr>
          <a:xfrm>
            <a:off x="807720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8368" y="4901184"/>
            <a:ext cx="3041904" cy="914400"/>
          </a:xfrm>
          <a:prstGeom prst="rect">
            <a:avLst/>
          </a:prstGeom>
          <a:noFill/>
        </p:spPr>
        <p:txBody>
          <a:bodyPr wrap="square" anchor="t" lIns="0" rIns="0" tIns="0" bIns="0">
            <a:spAutoFit/>
          </a:bodyPr>
          <a:lstStyle/>
          <a:p>
            <a:r>
              <a:rPr sz="1200" b="1" i="0">
                <a:solidFill>
                  <a:srgbClr val="4C9FFE"/>
                </a:solidFill>
                <a:latin typeface="Segoe UI"/>
              </a:rPr>
              <a:t>SEARCH ATTRIBUTES</a:t>
            </a:r>
          </a:p>
          <a:p>
            <a:pPr>
              <a:spcBef>
                <a:spcPts val="600"/>
              </a:spcBef>
            </a:pPr>
            <a:r>
              <a:rPr sz="1300" b="0" i="0">
                <a:solidFill>
                  <a:srgbClr val="9AA2C0"/>
                </a:solidFill>
                <a:latin typeface="Segoe UI"/>
              </a:rPr>
              <a:t>find claims by status/type/score</a:t>
            </a:r>
          </a:p>
        </p:txBody>
      </p:sp>
      <p:sp>
        <p:nvSpPr>
          <p:cNvPr id="24" name="Rounded Rectangle 23"/>
          <p:cNvSpPr/>
          <p:nvPr/>
        </p:nvSpPr>
        <p:spPr>
          <a:xfrm>
            <a:off x="64008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6364224"/>
            <a:ext cx="3041904" cy="914400"/>
          </a:xfrm>
          <a:prstGeom prst="rect">
            <a:avLst/>
          </a:prstGeom>
          <a:noFill/>
        </p:spPr>
        <p:txBody>
          <a:bodyPr wrap="square" anchor="t" lIns="0" rIns="0" tIns="0" bIns="0">
            <a:spAutoFit/>
          </a:bodyPr>
          <a:lstStyle/>
          <a:p>
            <a:r>
              <a:rPr sz="1200" b="1" i="0">
                <a:solidFill>
                  <a:srgbClr val="34D399"/>
                </a:solidFill>
                <a:latin typeface="Segoe UI"/>
              </a:rPr>
              <a:t>WORKER-RESTART DURABILITY</a:t>
            </a:r>
          </a:p>
          <a:p>
            <a:pPr>
              <a:spcBef>
                <a:spcPts val="600"/>
              </a:spcBef>
            </a:pPr>
            <a:r>
              <a:rPr sz="1300" b="0" i="0">
                <a:solidFill>
                  <a:srgbClr val="9AA2C0"/>
                </a:solidFill>
                <a:latin typeface="Segoe UI"/>
              </a:rPr>
              <a:t>kill it mid-claim, resume</a:t>
            </a:r>
          </a:p>
        </p:txBody>
      </p:sp>
      <p:sp>
        <p:nvSpPr>
          <p:cNvPr id="26" name="Rounded Rectangle 25"/>
          <p:cNvSpPr/>
          <p:nvPr/>
        </p:nvSpPr>
        <p:spPr>
          <a:xfrm>
            <a:off x="435864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59808" y="6364224"/>
            <a:ext cx="3041904" cy="914400"/>
          </a:xfrm>
          <a:prstGeom prst="rect">
            <a:avLst/>
          </a:prstGeom>
          <a:noFill/>
        </p:spPr>
        <p:txBody>
          <a:bodyPr wrap="square" anchor="t" lIns="0" rIns="0" tIns="0" bIns="0">
            <a:spAutoFit/>
          </a:bodyPr>
          <a:lstStyle/>
          <a:p>
            <a:r>
              <a:rPr sz="1200" b="1" i="0">
                <a:solidFill>
                  <a:srgbClr val="4C9FFE"/>
                </a:solidFill>
                <a:latin typeface="Segoe UI"/>
              </a:rPr>
              <a:t>HEARTBEATS</a:t>
            </a:r>
          </a:p>
          <a:p>
            <a:pPr>
              <a:spcBef>
                <a:spcPts val="600"/>
              </a:spcBef>
            </a:pPr>
            <a:r>
              <a:rPr sz="1300" b="0" i="0">
                <a:solidFill>
                  <a:srgbClr val="9AA2C0"/>
                </a:solidFill>
                <a:latin typeface="Segoe UI"/>
              </a:rPr>
              <a:t>cancellable long-running activity</a:t>
            </a:r>
          </a:p>
        </p:txBody>
      </p:sp>
      <p:sp>
        <p:nvSpPr>
          <p:cNvPr id="28" name="Rounded Rectangle 27"/>
          <p:cNvSpPr/>
          <p:nvPr/>
        </p:nvSpPr>
        <p:spPr>
          <a:xfrm>
            <a:off x="807720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78368" y="6364224"/>
            <a:ext cx="3041904" cy="914400"/>
          </a:xfrm>
          <a:prstGeom prst="rect">
            <a:avLst/>
          </a:prstGeom>
          <a:noFill/>
        </p:spPr>
        <p:txBody>
          <a:bodyPr wrap="square" anchor="t" lIns="0" rIns="0" tIns="0" bIns="0">
            <a:spAutoFit/>
          </a:bodyPr>
          <a:lstStyle/>
          <a:p>
            <a:r>
              <a:rPr sz="1200" b="1" i="0">
                <a:solidFill>
                  <a:srgbClr val="F87171"/>
                </a:solidFill>
                <a:latin typeface="Segoe UI"/>
              </a:rPr>
              <a:t>NO DATABASE</a:t>
            </a:r>
          </a:p>
          <a:p>
            <a:pPr>
              <a:spcBef>
                <a:spcPts val="600"/>
              </a:spcBef>
            </a:pPr>
            <a:r>
              <a:rPr sz="1300" b="0" i="0">
                <a:solidFill>
                  <a:srgbClr val="9AA2C0"/>
                </a:solidFill>
                <a:latin typeface="Segoe UI"/>
              </a:rPr>
              <a:t>Temporal is the only state store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03</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Let's See It Run</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Six short cuts. Real failures. Real recovery. No cuts hiding a crash.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7C5CFF"/>
                </a:solidFill>
                <a:latin typeface="Segoe UI"/>
              </a:rPr>
              <a:t>DEMO 1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Submit a claim, watch it run</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submit-and-progress.mp4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presentation/recordings/01-submit-and-progress.mp4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Dashboard → Submit claim → live redirect</a:t>
            </a:r>
          </a:p>
          <a:p>
            <a:pPr>
              <a:spcAft>
                <a:spcPts val="400"/>
              </a:spcAft>
            </a:pPr>
            <a:r>
              <a:rPr sz="1300" b="0" i="0">
                <a:solidFill>
                  <a:srgbClr val="9AA2C0"/>
                </a:solidFill>
                <a:latin typeface="Segoe UI"/>
              </a:rPr>
              <a:t>▸ Stage timeline updates via polling, no refresh</a:t>
            </a:r>
          </a:p>
          <a:p>
            <a:pPr>
              <a:spcAft>
                <a:spcPts val="400"/>
              </a:spcAft>
            </a:pPr>
            <a:r>
              <a:rPr sz="1300" b="0" i="0">
                <a:solidFill>
                  <a:srgbClr val="9AA2C0"/>
                </a:solidFill>
                <a:latin typeface="Segoe UI"/>
              </a:rPr>
              <a:t>▸ Progress % computed from stage weights, not hardcoded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38BDF8"/>
                </a:solidFill>
                <a:latin typeface="Segoe UI"/>
              </a:rPr>
              <a:t>DEMO 2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The workflow waits — forever — for you</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human-review-signals.mp4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presentation/recordings/02-human-review-signals.mp4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Claim parks at “Human adjuster review”</a:t>
            </a:r>
          </a:p>
          <a:p>
            <a:pPr>
              <a:spcAft>
                <a:spcPts val="400"/>
              </a:spcAft>
            </a:pPr>
            <a:r>
              <a:rPr sz="1300" b="0" i="0">
                <a:solidFill>
                  <a:srgbClr val="9AA2C0"/>
                </a:solidFill>
                <a:latin typeface="Segoe UI"/>
              </a:rPr>
              <a:t>▸ Request more info → provide info → back to review</a:t>
            </a:r>
          </a:p>
          <a:p>
            <a:pPr>
              <a:spcAft>
                <a:spcPts val="400"/>
              </a:spcAft>
            </a:pPr>
            <a:r>
              <a:rPr sz="1300" b="0" i="0">
                <a:solidFill>
                  <a:srgbClr val="9AA2C0"/>
                </a:solidFill>
                <a:latin typeface="Segoe UI"/>
              </a:rPr>
              <a:t>▸ Approve → durable settlement timer → paid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FBBF24"/>
                </a:solidFill>
                <a:latin typeface="Segoe UI"/>
              </a:rPr>
              <a:t>DEMO 3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Break it a little — watch it heal itself</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transient-retry.mp4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presentation/recordings/03-transient-retry.mp4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Arm “transient failure” on damage assessment</a:t>
            </a:r>
          </a:p>
          <a:p>
            <a:pPr>
              <a:spcAft>
                <a:spcPts val="400"/>
              </a:spcAft>
            </a:pPr>
            <a:r>
              <a:rPr sz="1300" b="0" i="0">
                <a:solidFill>
                  <a:srgbClr val="9AA2C0"/>
                </a:solidFill>
                <a:latin typeface="Segoe UI"/>
              </a:rPr>
              <a:t>▸ Activity panel shows attempt 1, 2, 3 — live</a:t>
            </a:r>
          </a:p>
          <a:p>
            <a:pPr>
              <a:spcAft>
                <a:spcPts val="400"/>
              </a:spcAft>
            </a:pPr>
            <a:r>
              <a:rPr sz="1300" b="0" i="0">
                <a:solidFill>
                  <a:srgbClr val="9AA2C0"/>
                </a:solidFill>
                <a:latin typeface="Segoe UI"/>
              </a:rPr>
              <a:t>▸ Same code path, zero extra retry logic written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F87171"/>
                </a:solidFill>
                <a:latin typeface="Segoe UI"/>
              </a:rPr>
              <a:t>DEMO 4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Break it for real — recover it from the UI</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permanent-failure-recovery.mp4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presentation/recordings/04-permanent-failure-recovery.mp4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“Break payment (permanent)” → non-retryable ApplicationFailure</a:t>
            </a:r>
          </a:p>
          <a:p>
            <a:pPr>
              <a:spcAft>
                <a:spcPts val="400"/>
              </a:spcAft>
            </a:pPr>
            <a:r>
              <a:rPr sz="1300" b="0" i="0">
                <a:solidFill>
                  <a:srgbClr val="9AA2C0"/>
                </a:solidFill>
                <a:latin typeface="Segoe UI"/>
              </a:rPr>
              <a:t>▸ Claim parks in “blocked on failure” — not crashed, not lost</a:t>
            </a:r>
          </a:p>
          <a:p>
            <a:pPr>
              <a:spcAft>
                <a:spcPts val="400"/>
              </a:spcAft>
            </a:pPr>
            <a:r>
              <a:rPr sz="1300" b="0" i="0">
                <a:solidFill>
                  <a:srgbClr val="9AA2C0"/>
                </a:solidFill>
                <a:latin typeface="Segoe UI"/>
              </a:rPr>
              <a:t>▸ Operator clicks Retry → clears fault → claim completes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34D399"/>
                </a:solidFill>
                <a:latin typeface="Segoe UI"/>
              </a:rPr>
              <a:t>DEMO 5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Kill the worker. Mid-claim. On purpose.</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worker-restart-durability.mp4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presentation/recordings/05-worker-restart-durability.mp4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“Kill &amp; restart worker” while a claim is blocked</a:t>
            </a:r>
          </a:p>
          <a:p>
            <a:pPr>
              <a:spcAft>
                <a:spcPts val="400"/>
              </a:spcAft>
            </a:pPr>
            <a:r>
              <a:rPr sz="1300" b="0" i="0">
                <a:solidFill>
                  <a:srgbClr val="9AA2C0"/>
                </a:solidFill>
                <a:latin typeface="Segoe UI"/>
              </a:rPr>
              <a:t>▸ worker-…-gen1 dies, worker-…-gen2 comes up</a:t>
            </a:r>
          </a:p>
          <a:p>
            <a:pPr>
              <a:spcAft>
                <a:spcPts val="400"/>
              </a:spcAft>
            </a:pPr>
            <a:r>
              <a:rPr sz="1300" b="0" i="0">
                <a:solidFill>
                  <a:srgbClr val="9AA2C0"/>
                </a:solidFill>
                <a:latin typeface="Segoe UI"/>
              </a:rPr>
              <a:t>▸ Claim resumes exactly where it was — timers included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9AA2C0"/>
                </a:solidFill>
                <a:latin typeface="Segoe UI"/>
              </a:rPr>
              <a:t>DEMO 6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Cancel mid-flight — compensations run</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cancellation-saga.mp4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presentation/recordings/06-cancellation-saga.mp4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Cancel a running claim from the dashboard</a:t>
            </a:r>
          </a:p>
          <a:p>
            <a:pPr>
              <a:spcAft>
                <a:spcPts val="400"/>
              </a:spcAft>
            </a:pPr>
            <a:r>
              <a:rPr sz="1300" b="0" i="0">
                <a:solidFill>
                  <a:srgbClr val="9AA2C0"/>
                </a:solidFill>
                <a:latin typeface="Segoe UI"/>
              </a:rPr>
              <a:t>▸ Reserve released, payment reversed, claimant notified</a:t>
            </a:r>
          </a:p>
          <a:p>
            <a:pPr>
              <a:spcAft>
                <a:spcPts val="400"/>
              </a:spcAft>
            </a:pPr>
            <a:r>
              <a:rPr sz="1300" b="0" i="0">
                <a:solidFill>
                  <a:srgbClr val="9AA2C0"/>
                </a:solidFill>
                <a:latin typeface="Segoe UI"/>
              </a:rPr>
              <a:t>▸ Workflow closes CANCELED — cleanly, not abruptly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7C5CFF"/>
                </a:solidFill>
                <a:latin typeface="Segoe UI"/>
              </a:rPr>
              <a:t>BONUS</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The same story, from Temporal's Web UI</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temporal-web-ui-tour.mp4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presentation/recordings/07-temporal-web-ui-tour.mp4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Event history: every retry, timer, signal, child workflow</a:t>
            </a:r>
          </a:p>
          <a:p>
            <a:pPr>
              <a:spcAft>
                <a:spcPts val="400"/>
              </a:spcAft>
            </a:pPr>
            <a:r>
              <a:rPr sz="1300" b="0" i="0">
                <a:solidFill>
                  <a:srgbClr val="9AA2C0"/>
                </a:solidFill>
                <a:latin typeface="Segoe UI"/>
              </a:rPr>
              <a:t>▸ Search: ClaimStatus = “awaiting-review” AND FraudScore &gt;= 75</a:t>
            </a:r>
          </a:p>
          <a:p>
            <a:pPr>
              <a:spcAft>
                <a:spcPts val="400"/>
              </a:spcAft>
            </a:pPr>
            <a:r>
              <a:rPr sz="1300" b="0" i="0">
                <a:solidFill>
                  <a:srgbClr val="9AA2C0"/>
                </a:solidFill>
                <a:latin typeface="Segoe UI"/>
              </a:rPr>
              <a:t>▸ Run getClaimState as a raw query, no UI involved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04</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Matching Your Use Case</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Turning what we just saw into a checklist you can use on Monday.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PATTERN MATCH</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Signals you have a good Temporal use case</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10515600" cy="4114800"/>
          </a:xfrm>
          <a:prstGeom prst="rect">
            <a:avLst/>
          </a:prstGeom>
          <a:noFill/>
        </p:spPr>
        <p:txBody>
          <a:bodyPr wrap="square" anchor="t" lIns="0" rIns="0" tIns="0" bIns="0">
            <a:spAutoFit/>
          </a:bodyPr>
          <a:lstStyle/>
          <a:p>
            <a:pPr>
              <a:spcAft>
                <a:spcPts val="1000"/>
              </a:spcAft>
            </a:pPr>
            <a:r>
              <a:rPr sz="1700" b="1" i="0">
                <a:solidFill>
                  <a:srgbClr val="34D399"/>
                </a:solidFill>
                <a:latin typeface="Segoe UI"/>
              </a:rPr>
              <a:t>✓  </a:t>
            </a:r>
            <a:r>
              <a:rPr sz="1700" b="0" i="0">
                <a:solidFill>
                  <a:srgbClr val="E6E9F5"/>
                </a:solidFill>
                <a:latin typeface="Segoe UI"/>
              </a:rPr>
              <a:t>A process that spans minutes, days, or months — not one request/response</a:t>
            </a:r>
          </a:p>
          <a:p>
            <a:pPr>
              <a:spcAft>
                <a:spcPts val="1000"/>
              </a:spcAft>
            </a:pPr>
            <a:r>
              <a:rPr sz="1700" b="1" i="0">
                <a:solidFill>
                  <a:srgbClr val="34D399"/>
                </a:solidFill>
                <a:latin typeface="Segoe UI"/>
              </a:rPr>
              <a:t>✓  </a:t>
            </a:r>
            <a:r>
              <a:rPr sz="1700" b="0" i="0">
                <a:solidFill>
                  <a:srgbClr val="E6E9F5"/>
                </a:solidFill>
                <a:latin typeface="Segoe UI"/>
              </a:rPr>
              <a:t>A human has to approve, deny, or provide info at some unknown point</a:t>
            </a:r>
          </a:p>
          <a:p>
            <a:pPr>
              <a:spcAft>
                <a:spcPts val="1000"/>
              </a:spcAft>
            </a:pPr>
            <a:r>
              <a:rPr sz="1700" b="1" i="0">
                <a:solidFill>
                  <a:srgbClr val="34D399"/>
                </a:solidFill>
                <a:latin typeface="Segoe UI"/>
              </a:rPr>
              <a:t>✓  </a:t>
            </a:r>
            <a:r>
              <a:rPr sz="1700" b="0" i="0">
                <a:solidFill>
                  <a:srgbClr val="E6E9F5"/>
                </a:solidFill>
                <a:latin typeface="Segoe UI"/>
              </a:rPr>
              <a:t>Steps call flaky external systems that need retries with backoff</a:t>
            </a:r>
          </a:p>
          <a:p>
            <a:pPr>
              <a:spcAft>
                <a:spcPts val="1000"/>
              </a:spcAft>
            </a:pPr>
            <a:r>
              <a:rPr sz="1700" b="1" i="0">
                <a:solidFill>
                  <a:srgbClr val="34D399"/>
                </a:solidFill>
                <a:latin typeface="Segoe UI"/>
              </a:rPr>
              <a:t>✓  </a:t>
            </a:r>
            <a:r>
              <a:rPr sz="1700" b="0" i="0">
                <a:solidFill>
                  <a:srgbClr val="E6E9F5"/>
                </a:solidFill>
                <a:latin typeface="Segoe UI"/>
              </a:rPr>
              <a:t>A crash mid-process must not lose or double-run anything</a:t>
            </a:r>
          </a:p>
          <a:p>
            <a:pPr>
              <a:spcAft>
                <a:spcPts val="1000"/>
              </a:spcAft>
            </a:pPr>
            <a:r>
              <a:rPr sz="1700" b="1" i="0">
                <a:solidFill>
                  <a:srgbClr val="34D399"/>
                </a:solidFill>
                <a:latin typeface="Segoe UI"/>
              </a:rPr>
              <a:t>✓  </a:t>
            </a:r>
            <a:r>
              <a:rPr sz="1700" b="0" i="0">
                <a:solidFill>
                  <a:srgbClr val="E6E9F5"/>
                </a:solidFill>
                <a:latin typeface="Segoe UI"/>
              </a:rPr>
              <a:t>You need an audit trail of exactly what happened, in order</a:t>
            </a:r>
          </a:p>
          <a:p>
            <a:pPr>
              <a:spcAft>
                <a:spcPts val="1000"/>
              </a:spcAft>
            </a:pPr>
            <a:r>
              <a:rPr sz="1700" b="1" i="0">
                <a:solidFill>
                  <a:srgbClr val="34D399"/>
                </a:solidFill>
                <a:latin typeface="Segoe UI"/>
              </a:rPr>
              <a:t>✓  </a:t>
            </a:r>
            <a:r>
              <a:rPr sz="1700" b="0" i="0">
                <a:solidFill>
                  <a:srgbClr val="E6E9F5"/>
                </a:solidFill>
                <a:latin typeface="Segoe UI"/>
              </a:rPr>
              <a:t>Multiple steps must be undone together if a later one fails (saga)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REUSABLE TRICK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Before you prompt: name the durability questions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ASK ABOUT FAILURE</a:t>
            </a:r>
          </a:p>
          <a:p>
            <a:pPr>
              <a:spcBef>
                <a:spcPts val="600"/>
              </a:spcBef>
            </a:pPr>
            <a:r>
              <a:rPr sz="1300" b="0" i="0">
                <a:solidFill>
                  <a:srgbClr val="9AA2C0"/>
                </a:solidFill>
                <a:latin typeface="Segoe UI"/>
              </a:rPr>
              <a:t>What activities can fail transiently? What's permanent? What must be non-retryable?</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ASK ABOUT WAITING</a:t>
            </a:r>
          </a:p>
          <a:p>
            <a:pPr>
              <a:spcBef>
                <a:spcPts val="600"/>
              </a:spcBef>
            </a:pPr>
            <a:r>
              <a:rPr sz="1300" b="0" i="0">
                <a:solidFill>
                  <a:srgbClr val="9AA2C0"/>
                </a:solidFill>
                <a:latin typeface="Segoe UI"/>
              </a:rPr>
              <a:t>What waits on a human? For how long? What happens if nobody answers?</a:t>
            </a:r>
          </a:p>
        </p:txBody>
      </p:sp>
      <p:sp>
        <p:nvSpPr>
          <p:cNvPr id="10" name="Rounded Rectangle 9"/>
          <p:cNvSpPr/>
          <p:nvPr/>
        </p:nvSpPr>
        <p:spPr>
          <a:xfrm>
            <a:off x="64008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078224"/>
            <a:ext cx="4901184" cy="1554480"/>
          </a:xfrm>
          <a:prstGeom prst="rect">
            <a:avLst/>
          </a:prstGeom>
          <a:noFill/>
        </p:spPr>
        <p:txBody>
          <a:bodyPr wrap="square" anchor="t" lIns="0" rIns="0" tIns="0" bIns="0">
            <a:spAutoFit/>
          </a:bodyPr>
          <a:lstStyle/>
          <a:p>
            <a:r>
              <a:rPr sz="1200" b="1" i="0">
                <a:solidFill>
                  <a:srgbClr val="4C9FFE"/>
                </a:solidFill>
                <a:latin typeface="Segoe UI"/>
              </a:rPr>
              <a:t>ASK ABOUT STATE</a:t>
            </a:r>
          </a:p>
          <a:p>
            <a:pPr>
              <a:spcBef>
                <a:spcPts val="600"/>
              </a:spcBef>
            </a:pPr>
            <a:r>
              <a:rPr sz="1300" b="0" i="0">
                <a:solidFill>
                  <a:srgbClr val="9AA2C0"/>
                </a:solidFill>
                <a:latin typeface="Segoe UI"/>
              </a:rPr>
              <a:t>What must survive a crash? Who is the source of truth?</a:t>
            </a:r>
          </a:p>
        </p:txBody>
      </p:sp>
      <p:sp>
        <p:nvSpPr>
          <p:cNvPr id="12" name="Rounded Rectangle 11"/>
          <p:cNvSpPr/>
          <p:nvPr/>
        </p:nvSpPr>
        <p:spPr>
          <a:xfrm>
            <a:off x="621792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4078224"/>
            <a:ext cx="4901184" cy="1554480"/>
          </a:xfrm>
          <a:prstGeom prst="rect">
            <a:avLst/>
          </a:prstGeom>
          <a:noFill/>
        </p:spPr>
        <p:txBody>
          <a:bodyPr wrap="square" anchor="t" lIns="0" rIns="0" tIns="0" bIns="0">
            <a:spAutoFit/>
          </a:bodyPr>
          <a:lstStyle/>
          <a:p>
            <a:r>
              <a:rPr sz="1200" b="1" i="0">
                <a:solidFill>
                  <a:srgbClr val="4C9FFE"/>
                </a:solidFill>
                <a:latin typeface="Segoe UI"/>
              </a:rPr>
              <a:t>ASK ABOUT BOUNDARIES</a:t>
            </a:r>
          </a:p>
          <a:p>
            <a:pPr>
              <a:spcBef>
                <a:spcPts val="600"/>
              </a:spcBef>
            </a:pPr>
            <a:r>
              <a:rPr sz="1300" b="0" i="0">
                <a:solidFill>
                  <a:srgbClr val="9AA2C0"/>
                </a:solidFill>
                <a:latin typeface="Segoe UI"/>
              </a:rPr>
              <a:t>Where does UI end and API begin? Where does API end and worker begin?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HOMEWORK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Try this yourself, this week</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prompt-template.txt</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400" b="0" i="0">
                <a:solidFill>
                  <a:srgbClr val="D6DCF5"/>
                </a:solidFill>
                <a:latin typeface="Consolas"/>
              </a:rPr>
              <a:t>&gt; Here's my rough idea: [describe your process in 2-3 sentences]. Turn this into a spec for a coding agent building it on Temporal. Explicitly call out: which steps need retries and what kind of failures they should tolerate, where a human needs to approve/reject/provide input and how long we should wait, what a crash mid-process must not lose, and how the UI/API/worker boundaries should be drawn. Then build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RECAP</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The veil isn't Temporal.
</a:t>
            </a:r>
            <a:r>
              <a:rPr sz="3200" b="1" i="0">
                <a:solidFill>
                  <a:srgbClr val="E6E9F5"/>
                </a:solidFill>
                <a:latin typeface="Segoe UI"/>
              </a:rPr>
              <a:t>It's </a:t>
            </a:r>
            <a:r>
              <a:rPr sz="3200" b="1" i="0">
                <a:solidFill>
                  <a:srgbClr val="4C9FFE"/>
                </a:solidFill>
                <a:latin typeface="Segoe UI"/>
              </a:rPr>
              <a:t>under-specified requirements.</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Name the failures, the waits, and the source of truth — Temporal does the rest.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GO BUILD SOMETHING</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Resources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188720"/>
          </a:xfrm>
          <a:prstGeom prst="rect">
            <a:avLst/>
          </a:prstGeom>
          <a:noFill/>
        </p:spPr>
        <p:txBody>
          <a:bodyPr wrap="square" anchor="t" lIns="0" rIns="0" tIns="0" bIns="0">
            <a:spAutoFit/>
          </a:bodyPr>
          <a:lstStyle/>
          <a:p>
            <a:r>
              <a:rPr sz="1200" b="1" i="0">
                <a:solidFill>
                  <a:srgbClr val="4C9FFE"/>
                </a:solidFill>
                <a:latin typeface="Segoe UI"/>
              </a:rPr>
              <a:t>THIS DEMO</a:t>
            </a:r>
          </a:p>
          <a:p>
            <a:pPr>
              <a:spcBef>
                <a:spcPts val="600"/>
              </a:spcBef>
            </a:pPr>
            <a:r>
              <a:rPr sz="1300" b="0" i="0">
                <a:solidFill>
                  <a:srgbClr val="9AA2C0"/>
                </a:solidFill>
                <a:latin typeface="Segoe UI"/>
              </a:rPr>
              <a:t>Full source, README, tests — github.com/&lt;you&gt;/temporal-claims-demo</a:t>
            </a:r>
          </a:p>
        </p:txBody>
      </p:sp>
      <p:sp>
        <p:nvSpPr>
          <p:cNvPr id="8" name="Rounded Rectangle 7"/>
          <p:cNvSpPr/>
          <p:nvPr/>
        </p:nvSpPr>
        <p:spPr>
          <a:xfrm>
            <a:off x="621792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188720"/>
          </a:xfrm>
          <a:prstGeom prst="rect">
            <a:avLst/>
          </a:prstGeom>
          <a:noFill/>
        </p:spPr>
        <p:txBody>
          <a:bodyPr wrap="square" anchor="t" lIns="0" rIns="0" tIns="0" bIns="0">
            <a:spAutoFit/>
          </a:bodyPr>
          <a:lstStyle/>
          <a:p>
            <a:r>
              <a:rPr sz="1200" b="1" i="0">
                <a:solidFill>
                  <a:srgbClr val="4C9FFE"/>
                </a:solidFill>
                <a:latin typeface="Segoe UI"/>
              </a:rPr>
              <a:t>TEMPORAL DOCS</a:t>
            </a:r>
          </a:p>
          <a:p>
            <a:pPr>
              <a:spcBef>
                <a:spcPts val="600"/>
              </a:spcBef>
            </a:pPr>
            <a:r>
              <a:rPr sz="1300" b="0" i="0">
                <a:solidFill>
                  <a:srgbClr val="9AA2C0"/>
                </a:solidFill>
                <a:latin typeface="Segoe UI"/>
              </a:rPr>
              <a:t>docs.temporal.io · TypeScript SDK samples</a:t>
            </a:r>
          </a:p>
        </p:txBody>
      </p:sp>
      <p:sp>
        <p:nvSpPr>
          <p:cNvPr id="10" name="Rounded Rectangle 9"/>
          <p:cNvSpPr/>
          <p:nvPr/>
        </p:nvSpPr>
        <p:spPr>
          <a:xfrm>
            <a:off x="64008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3712464"/>
            <a:ext cx="4901184" cy="1188720"/>
          </a:xfrm>
          <a:prstGeom prst="rect">
            <a:avLst/>
          </a:prstGeom>
          <a:noFill/>
        </p:spPr>
        <p:txBody>
          <a:bodyPr wrap="square" anchor="t" lIns="0" rIns="0" tIns="0" bIns="0">
            <a:spAutoFit/>
          </a:bodyPr>
          <a:lstStyle/>
          <a:p>
            <a:r>
              <a:rPr sz="1200" b="1" i="0">
                <a:solidFill>
                  <a:srgbClr val="4C9FFE"/>
                </a:solidFill>
                <a:latin typeface="Segoe UI"/>
              </a:rPr>
              <a:t>COMMUNITY</a:t>
            </a:r>
          </a:p>
          <a:p>
            <a:pPr>
              <a:spcBef>
                <a:spcPts val="600"/>
              </a:spcBef>
            </a:pPr>
            <a:r>
              <a:rPr sz="1300" b="0" i="0">
                <a:solidFill>
                  <a:srgbClr val="9AA2C0"/>
                </a:solidFill>
                <a:latin typeface="Segoe UI"/>
              </a:rPr>
              <a:t>Temporal Slack · community forum · local meetups</a:t>
            </a:r>
          </a:p>
        </p:txBody>
      </p:sp>
      <p:sp>
        <p:nvSpPr>
          <p:cNvPr id="12" name="Rounded Rectangle 11"/>
          <p:cNvSpPr/>
          <p:nvPr/>
        </p:nvSpPr>
        <p:spPr>
          <a:xfrm>
            <a:off x="621792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3712464"/>
            <a:ext cx="4901184" cy="1188720"/>
          </a:xfrm>
          <a:prstGeom prst="rect">
            <a:avLst/>
          </a:prstGeom>
          <a:noFill/>
        </p:spPr>
        <p:txBody>
          <a:bodyPr wrap="square" anchor="t" lIns="0" rIns="0" tIns="0" bIns="0">
            <a:spAutoFit/>
          </a:bodyPr>
          <a:lstStyle/>
          <a:p>
            <a:r>
              <a:rPr sz="1200" b="1" i="0">
                <a:solidFill>
                  <a:srgbClr val="4C9FFE"/>
                </a:solidFill>
                <a:latin typeface="Segoe UI"/>
              </a:rPr>
              <a:t>THE PROMPT TEMPLATE</a:t>
            </a:r>
          </a:p>
          <a:p>
            <a:pPr>
              <a:spcBef>
                <a:spcPts val="600"/>
              </a:spcBef>
            </a:pPr>
            <a:r>
              <a:rPr sz="1300" b="0" i="0">
                <a:solidFill>
                  <a:srgbClr val="9AA2C0"/>
                </a:solidFill>
                <a:latin typeface="Segoe UI"/>
              </a:rPr>
              <a:t>Previous slide — steal it, adapt it, use it on your own use case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1031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TEMPORAL · ENGINEERING TALK</a:t>
            </a:r>
          </a:p>
        </p:txBody>
      </p:sp>
      <p:sp>
        <p:nvSpPr>
          <p:cNvPr id="4" name="TextBox 3"/>
          <p:cNvSpPr txBox="1"/>
          <p:nvPr/>
        </p:nvSpPr>
        <p:spPr>
          <a:xfrm>
            <a:off x="640080" y="2468880"/>
            <a:ext cx="9144000" cy="1463040"/>
          </a:xfrm>
          <a:prstGeom prst="rect">
            <a:avLst/>
          </a:prstGeom>
          <a:noFill/>
        </p:spPr>
        <p:txBody>
          <a:bodyPr wrap="square" anchor="t" lIns="0" rIns="0" tIns="0" bIns="0">
            <a:spAutoFit/>
          </a:bodyPr>
          <a:lstStyle/>
          <a:p>
            <a:r>
              <a:rPr sz="5400" b="1" i="0">
                <a:solidFill>
                  <a:srgbClr val="E6E9F5"/>
                </a:solidFill>
                <a:latin typeface="Segoe UI"/>
              </a:rPr>
              <a:t>Thank you.</a:t>
            </a:r>
          </a:p>
        </p:txBody>
      </p:sp>
      <p:sp>
        <p:nvSpPr>
          <p:cNvPr id="5" name="TextBox 4"/>
          <p:cNvSpPr txBox="1"/>
          <p:nvPr/>
        </p:nvSpPr>
        <p:spPr>
          <a:xfrm>
            <a:off x="640080" y="3931920"/>
            <a:ext cx="7772400" cy="1097280"/>
          </a:xfrm>
          <a:prstGeom prst="rect">
            <a:avLst/>
          </a:prstGeom>
          <a:noFill/>
        </p:spPr>
        <p:txBody>
          <a:bodyPr wrap="square" anchor="t" lIns="0" rIns="0" tIns="0" bIns="0">
            <a:spAutoFit/>
          </a:bodyPr>
          <a:lstStyle/>
          <a:p>
            <a:r>
              <a:rPr sz="2000" b="0" i="0">
                <a:solidFill>
                  <a:srgbClr val="9AA2C0"/>
                </a:solidFill>
                <a:latin typeface="Segoe UI"/>
              </a:rPr>
              <a:t>Questions, war stories, and “would this work for my use case” conversations welcome.</a:t>
            </a:r>
          </a:p>
        </p:txBody>
      </p:sp>
      <p:sp>
        <p:nvSpPr>
          <p:cNvPr id="6" name="Rectangle 5"/>
          <p:cNvSpPr/>
          <p:nvPr/>
        </p:nvSpPr>
        <p:spPr>
          <a:xfrm>
            <a:off x="640080" y="5212080"/>
            <a:ext cx="10881360" cy="12700"/>
          </a:xfrm>
          <a:prstGeom prst="rect">
            <a:avLst/>
          </a:prstGeom>
          <a:solidFill>
            <a:srgbClr val="23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Backup Slides</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Full prompt text and a code map, for anyone who wants the receipts.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APPENDIX A</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The improved prompt, in full</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chat — refined spec (1/2)</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300" b="0" i="0">
                <a:solidFill>
                  <a:srgbClr val="D6DCF5"/>
                </a:solidFill>
                <a:latin typeface="Consolas"/>
              </a:rPr>
              <a:t>I want to explore Temporal's capabilities by building a complete demonstration application for an insurance claim process. Create a working monorepo using: Temporal TypeScript SDK, a local Temporal development server, NestJS for the backend/API and Temporal worker, React with TypeScript for the UI, Docker Compose where useful. Do not use a database. Temporal must be the source of truth for workflow state and progress. Browser localStorage may be used to preserve UI preferences and recently viewed workflow IDs across refreshes, but it must not be treated as the authoritative workflow state.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APPENDIX A (CONTINUED)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The improved prompt — capability list</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chat — refined spec (2/2)</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300" b="0" i="0">
                <a:solidFill>
                  <a:srgbClr val="D6DCF5"/>
                </a:solidFill>
                <a:latin typeface="Consolas"/>
              </a:rPr>
              <a:t>Activities with configurable retry policies · at least one timer or durable sleep · at least one child workflow · at least one UI-driven signal where the workflow pauses for human input · workflow queries that expose current state and progress · cancellation handling · activity and workflow failure handling · a way to retry or recover from a simulated failure · meaningful workflow IDs and search attributes · workflow history remaining valid across worker restarts. The human-review step should wait indefinitely for an adjuster to approve, deny, or request more information.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APPENDIX B</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Code map — where each capability lives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188720"/>
          </a:xfrm>
          <a:prstGeom prst="rect">
            <a:avLst/>
          </a:prstGeom>
          <a:noFill/>
        </p:spPr>
        <p:txBody>
          <a:bodyPr wrap="square" anchor="t" lIns="0" rIns="0" tIns="0" bIns="0">
            <a:spAutoFit/>
          </a:bodyPr>
          <a:lstStyle/>
          <a:p>
            <a:r>
              <a:rPr sz="1200" b="1" i="0">
                <a:solidFill>
                  <a:srgbClr val="4C9FFE"/>
                </a:solidFill>
                <a:latin typeface="Segoe UI"/>
              </a:rPr>
              <a:t>WORKFLOW LOGIC</a:t>
            </a:r>
          </a:p>
          <a:p>
            <a:pPr>
              <a:spcBef>
                <a:spcPts val="600"/>
              </a:spcBef>
            </a:pPr>
            <a:r>
              <a:rPr sz="1300" b="0" i="0">
                <a:solidFill>
                  <a:srgbClr val="9AA2C0"/>
                </a:solidFill>
                <a:latin typeface="Segoe UI"/>
              </a:rPr>
              <a:t>packages/worker/src/workflows/claim.workflow.ts
packages/worker/src/workflows/fraud-check.workflow.ts</a:t>
            </a:r>
          </a:p>
        </p:txBody>
      </p:sp>
      <p:sp>
        <p:nvSpPr>
          <p:cNvPr id="8" name="Rounded Rectangle 7"/>
          <p:cNvSpPr/>
          <p:nvPr/>
        </p:nvSpPr>
        <p:spPr>
          <a:xfrm>
            <a:off x="621792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188720"/>
          </a:xfrm>
          <a:prstGeom prst="rect">
            <a:avLst/>
          </a:prstGeom>
          <a:noFill/>
        </p:spPr>
        <p:txBody>
          <a:bodyPr wrap="square" anchor="t" lIns="0" rIns="0" tIns="0" bIns="0">
            <a:spAutoFit/>
          </a:bodyPr>
          <a:lstStyle/>
          <a:p>
            <a:r>
              <a:rPr sz="1200" b="1" i="0">
                <a:solidFill>
                  <a:srgbClr val="4C9FFE"/>
                </a:solidFill>
                <a:latin typeface="Segoe UI"/>
              </a:rPr>
              <a:t>ACTIVITIES &amp; SIMULATED FAILURES</a:t>
            </a:r>
          </a:p>
          <a:p>
            <a:pPr>
              <a:spcBef>
                <a:spcPts val="600"/>
              </a:spcBef>
            </a:pPr>
            <a:r>
              <a:rPr sz="1300" b="0" i="0">
                <a:solidFill>
                  <a:srgbClr val="9AA2C0"/>
                </a:solidFill>
                <a:latin typeface="Segoe UI"/>
              </a:rPr>
              <a:t>packages/worker/src/activities/*.ts</a:t>
            </a:r>
          </a:p>
        </p:txBody>
      </p:sp>
      <p:sp>
        <p:nvSpPr>
          <p:cNvPr id="10" name="Rounded Rectangle 9"/>
          <p:cNvSpPr/>
          <p:nvPr/>
        </p:nvSpPr>
        <p:spPr>
          <a:xfrm>
            <a:off x="64008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3712464"/>
            <a:ext cx="4901184" cy="1188720"/>
          </a:xfrm>
          <a:prstGeom prst="rect">
            <a:avLst/>
          </a:prstGeom>
          <a:noFill/>
        </p:spPr>
        <p:txBody>
          <a:bodyPr wrap="square" anchor="t" lIns="0" rIns="0" tIns="0" bIns="0">
            <a:spAutoFit/>
          </a:bodyPr>
          <a:lstStyle/>
          <a:p>
            <a:r>
              <a:rPr sz="1200" b="1" i="0">
                <a:solidFill>
                  <a:srgbClr val="4C9FFE"/>
                </a:solidFill>
                <a:latin typeface="Segoe UI"/>
              </a:rPr>
              <a:t>REST FACADE OVER TEMPORAL</a:t>
            </a:r>
          </a:p>
          <a:p>
            <a:pPr>
              <a:spcBef>
                <a:spcPts val="600"/>
              </a:spcBef>
            </a:pPr>
            <a:r>
              <a:rPr sz="1300" b="0" i="0">
                <a:solidFill>
                  <a:srgbClr val="9AA2C0"/>
                </a:solidFill>
                <a:latin typeface="Segoe UI"/>
              </a:rPr>
              <a:t>packages/api/src/claims/claims.service.ts</a:t>
            </a:r>
          </a:p>
        </p:txBody>
      </p:sp>
      <p:sp>
        <p:nvSpPr>
          <p:cNvPr id="12" name="Rounded Rectangle 11"/>
          <p:cNvSpPr/>
          <p:nvPr/>
        </p:nvSpPr>
        <p:spPr>
          <a:xfrm>
            <a:off x="621792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3712464"/>
            <a:ext cx="4901184" cy="1188720"/>
          </a:xfrm>
          <a:prstGeom prst="rect">
            <a:avLst/>
          </a:prstGeom>
          <a:noFill/>
        </p:spPr>
        <p:txBody>
          <a:bodyPr wrap="square" anchor="t" lIns="0" rIns="0" tIns="0" bIns="0">
            <a:spAutoFit/>
          </a:bodyPr>
          <a:lstStyle/>
          <a:p>
            <a:r>
              <a:rPr sz="1200" b="1" i="0">
                <a:solidFill>
                  <a:srgbClr val="4C9FFE"/>
                </a:solidFill>
                <a:latin typeface="Segoe UI"/>
              </a:rPr>
              <a:t>DASHBOARD</a:t>
            </a:r>
          </a:p>
          <a:p>
            <a:pPr>
              <a:spcBef>
                <a:spcPts val="600"/>
              </a:spcBef>
            </a:pPr>
            <a:r>
              <a:rPr sz="1300" b="0" i="0">
                <a:solidFill>
                  <a:srgbClr val="9AA2C0"/>
                </a:solidFill>
                <a:latin typeface="Segoe UI"/>
              </a:rPr>
              <a:t>packages/web/src/pages/ClaimDetailPage.tsx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