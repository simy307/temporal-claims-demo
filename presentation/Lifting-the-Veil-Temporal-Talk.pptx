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4" ContentType="video/unknown"/>
  <Override PartName="/ppt/media/media2.mp4" ContentType="video/unknown"/>
  <Override PartName="/ppt/media/media3.mp4" ContentType="video/unknown"/>
  <Override PartName="/ppt/media/media4.mp4" ContentType="video/unknown"/>
  <Override PartName="/ppt/media/media5.mp4" ContentType="video/unknown"/>
  <Override PartName="/ppt/media/media6.mp4" ContentType="video/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intro yourself. Hook: 'How many of you have looked at Temporal's docs and thought this looks powerful, but I genuinely don't know if MY problem needs it?' That's the veil we're lifting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Keep brief.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Temporal's pitch is abstract until it touches a concrete, messy business process you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three-act structure of the talk. Reproducible — anyone can do this on their own use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out loud, typo and all ('at lease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turning point: the prompt stopped being a wish list and became a set of architectural constraints, Temporal capabilities, UI requirements, and acceptance criteria.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isn't 'this prompt is bad' — it under-specifies exactly the decisions that make or break a durable-execution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Generalizable trick: use the model to interrogate its own upcoming task.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text is in the appendix. The point is the shape, not the word 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The refined prompt made this specific demo cleaner, but the takeaway isn't 'write a perfect spec or don't bother.' Even the rough first draft would have gotten a working workflow with retries and durability for free.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UI never talks to Temporal directly — only through the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stage list from the improved prompt. Stage 6 = the required signal, precisely specified.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Folder-level version of the architecture diagram. Each package has exactly one job: web renders and polls, api translates HTTP to Temporal client calls, worker is the only place workflow and activity code lives. Activities are one function per file, grouped by domain.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Timeline tab for this app's fraud-check child workflow, not a mockup. The code on top is the entire body — just a proxyActivities call and three activity invocations, two of them running in parallel. That parallelism is exactly what you see as two overlapping bars below, with zero extra instrumentation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it sit as a 'yes it really does all of this' moment.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 the Happy path preset. This whole timeline is one query, getClaimState, polled every 2s.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required signal from the original prompt. The workflow is genuinely suspended.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Activity execution &amp; retries panel — that's Temporal's own attempt counter.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permanent failure doesn't kill the workflow, it parks it waiting for a human decision.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moment of the talk. Let this one breathe; don't rush the narration.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time is short, this is the cut candidate.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how many already do 3+ of these with cron jobs and status columns.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payoff — a generalized checklist for deciding whether a process maps cleanly to Temporal.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people to paste their own use case into this template tonight.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your actual repo URL before the talk.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Be ready for: versioning, Cloud vs self-hosted, payload limits, vs Airflow/Step Functions.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github.com/temporalio/skill-temporal-develop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jp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4.jpg"/><Relationship Id="rId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5.jpg"/><Relationship Id="rId5"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6.jpg"/><Relationship Id="rId5"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7.jpg"/><Relationship Id="rId5"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TEMPORAL · ENGINEERING TALK</a:t>
            </a:r>
          </a:p>
        </p:txBody>
      </p:sp>
      <p:sp>
        <p:nvSpPr>
          <p:cNvPr id="4" name="TextBox 3"/>
          <p:cNvSpPr txBox="1"/>
          <p:nvPr/>
        </p:nvSpPr>
        <p:spPr>
          <a:xfrm>
            <a:off x="640080" y="2423160"/>
            <a:ext cx="10515600" cy="365760"/>
          </a:xfrm>
          <a:prstGeom prst="rect">
            <a:avLst/>
          </a:prstGeom>
          <a:noFill/>
        </p:spPr>
        <p:txBody>
          <a:bodyPr wrap="square" anchor="t" lIns="0" rIns="0" tIns="0" bIns="0">
            <a:spAutoFit/>
          </a:bodyPr>
          <a:lstStyle/>
          <a:p>
            <a:pPr>
              <a:defRPr>
                <a:latin typeface="Segoe UI"/>
              </a:defRPr>
            </a:pPr>
            <a:r>
              <a:rPr sz="1300" b="1" i="0">
                <a:solidFill>
                  <a:srgbClr val="7C5CFF"/>
                </a:solidFill>
                <a:latin typeface="Segoe UI"/>
              </a:rPr>
              <a:t>A LIVE-CODED CASE STUDY</a:t>
            </a:r>
          </a:p>
        </p:txBody>
      </p:sp>
      <p:sp>
        <p:nvSpPr>
          <p:cNvPr id="5" name="TextBox 4"/>
          <p:cNvSpPr txBox="1"/>
          <p:nvPr/>
        </p:nvSpPr>
        <p:spPr>
          <a:xfrm>
            <a:off x="640080" y="2743200"/>
            <a:ext cx="9144000" cy="1463040"/>
          </a:xfrm>
          <a:prstGeom prst="rect">
            <a:avLst/>
          </a:prstGeom>
          <a:noFill/>
        </p:spPr>
        <p:txBody>
          <a:bodyPr wrap="square" anchor="t" lIns="0" rIns="0" tIns="0" bIns="0">
            <a:spAutoFit/>
          </a:bodyPr>
          <a:lstStyle/>
          <a:p>
            <a:r>
              <a:rPr sz="5400" b="1" i="0">
                <a:solidFill>
                  <a:srgbClr val="E6E9F5"/>
                </a:solidFill>
                <a:latin typeface="Segoe UI"/>
              </a:rPr>
              <a:t>Lifting the Veil</a:t>
            </a:r>
          </a:p>
        </p:txBody>
      </p:sp>
      <p:sp>
        <p:nvSpPr>
          <p:cNvPr id="6" name="TextBox 5"/>
          <p:cNvSpPr txBox="1"/>
          <p:nvPr/>
        </p:nvSpPr>
        <p:spPr>
          <a:xfrm>
            <a:off x="640080" y="3931920"/>
            <a:ext cx="7772400" cy="1097280"/>
          </a:xfrm>
          <a:prstGeom prst="rect">
            <a:avLst/>
          </a:prstGeom>
          <a:noFill/>
        </p:spPr>
        <p:txBody>
          <a:bodyPr wrap="square" anchor="t" lIns="0" rIns="0" tIns="0" bIns="0">
            <a:spAutoFit/>
          </a:bodyPr>
          <a:lstStyle/>
          <a:p>
            <a:r>
              <a:rPr sz="2000" b="0" i="0">
                <a:solidFill>
                  <a:srgbClr val="9AA2C0"/>
                </a:solidFill>
                <a:latin typeface="Segoe UI"/>
              </a:rPr>
              <a:t>How to match your use case &amp; Temporal — one prompt, one AI coding agent, and one insurance claim.</a:t>
            </a:r>
          </a:p>
        </p:txBody>
      </p:sp>
      <p:sp>
        <p:nvSpPr>
          <p:cNvPr id="7" name="Rectangle 6"/>
          <p:cNvSpPr/>
          <p:nvPr/>
        </p:nvSpPr>
        <p:spPr>
          <a:xfrm>
            <a:off x="640080" y="5212080"/>
            <a:ext cx="10881360" cy="12700"/>
          </a:xfrm>
          <a:prstGeom prst="rect">
            <a:avLst/>
          </a:prstGeom>
          <a:solidFill>
            <a:srgbClr val="23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349240"/>
            <a:ext cx="2377440" cy="640080"/>
          </a:xfrm>
          <a:prstGeom prst="rect">
            <a:avLst/>
          </a:prstGeom>
          <a:noFill/>
        </p:spPr>
        <p:txBody>
          <a:bodyPr wrap="square" anchor="t" lIns="0" rIns="0" tIns="0" bIns="0">
            <a:spAutoFit/>
          </a:bodyPr>
          <a:lstStyle/>
          <a:p>
            <a:r>
              <a:rPr sz="1600" b="1" i="0">
                <a:solidFill>
                  <a:srgbClr val="E6E9F5"/>
                </a:solidFill>
                <a:latin typeface="Segoe UI"/>
              </a:rPr>
              <a:t>1</a:t>
            </a:r>
          </a:p>
          <a:p>
            <a:r>
              <a:rPr sz="1100" b="0" i="0">
                <a:solidFill>
                  <a:srgbClr val="9AA2C0"/>
                </a:solidFill>
                <a:latin typeface="Segoe UI"/>
              </a:rPr>
              <a:t>prompt → full app</a:t>
            </a:r>
          </a:p>
        </p:txBody>
      </p:sp>
      <p:sp>
        <p:nvSpPr>
          <p:cNvPr id="9" name="TextBox 8"/>
          <p:cNvSpPr txBox="1"/>
          <p:nvPr/>
        </p:nvSpPr>
        <p:spPr>
          <a:xfrm>
            <a:off x="3017520" y="5349240"/>
            <a:ext cx="2377440" cy="640080"/>
          </a:xfrm>
          <a:prstGeom prst="rect">
            <a:avLst/>
          </a:prstGeom>
          <a:noFill/>
        </p:spPr>
        <p:txBody>
          <a:bodyPr wrap="square" anchor="t" lIns="0" rIns="0" tIns="0" bIns="0">
            <a:spAutoFit/>
          </a:bodyPr>
          <a:lstStyle/>
          <a:p>
            <a:r>
              <a:rPr sz="1600" b="1" i="0">
                <a:solidFill>
                  <a:srgbClr val="E6E9F5"/>
                </a:solidFill>
                <a:latin typeface="Segoe UI"/>
              </a:rPr>
              <a:t>0</a:t>
            </a:r>
          </a:p>
          <a:p>
            <a:r>
              <a:rPr sz="1100" b="0" i="0">
                <a:solidFill>
                  <a:srgbClr val="9AA2C0"/>
                </a:solidFill>
                <a:latin typeface="Segoe UI"/>
              </a:rPr>
              <a:t>databases used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AGENDA</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Where we're headed</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TextBox 5"/>
          <p:cNvSpPr txBox="1"/>
          <p:nvPr/>
        </p:nvSpPr>
        <p:spPr>
          <a:xfrm>
            <a:off x="640080" y="1828800"/>
            <a:ext cx="10515600" cy="4114800"/>
          </a:xfrm>
          <a:prstGeom prst="rect">
            <a:avLst/>
          </a:prstGeom>
          <a:noFill/>
        </p:spPr>
        <p:txBody>
          <a:bodyPr wrap="square" anchor="t" lIns="0" rIns="0" tIns="0" bIns="0">
            <a:spAutoFit/>
          </a:bodyPr>
          <a:lstStyle/>
          <a:p>
            <a:pPr>
              <a:spcAft>
                <a:spcPts val="1000"/>
              </a:spcAft>
            </a:pPr>
            <a:r>
              <a:rPr sz="1700" b="1" i="0">
                <a:solidFill>
                  <a:srgbClr val="34D399"/>
                </a:solidFill>
                <a:latin typeface="Segoe UI"/>
              </a:rPr>
              <a:t>01  </a:t>
            </a:r>
            <a:r>
              <a:rPr sz="1700" b="0" i="0">
                <a:solidFill>
                  <a:srgbClr val="E6E9F5"/>
                </a:solidFill>
                <a:latin typeface="Segoe UI"/>
              </a:rPr>
              <a:t>The prompt experiment — before &amp; after</a:t>
            </a:r>
          </a:p>
          <a:p>
            <a:pPr>
              <a:spcAft>
                <a:spcPts val="1000"/>
              </a:spcAft>
            </a:pPr>
            <a:r>
              <a:rPr sz="1700" b="1" i="0">
                <a:solidFill>
                  <a:srgbClr val="34D399"/>
                </a:solidFill>
                <a:latin typeface="Segoe UI"/>
              </a:rPr>
              <a:t>02  </a:t>
            </a:r>
            <a:r>
              <a:rPr sz="1700" b="0" i="0">
                <a:solidFill>
                  <a:srgbClr val="E6E9F5"/>
                </a:solidFill>
                <a:latin typeface="Segoe UI"/>
              </a:rPr>
              <a:t>What actually got built (architecture + lifecycle)</a:t>
            </a:r>
          </a:p>
          <a:p>
            <a:pPr>
              <a:spcAft>
                <a:spcPts val="1000"/>
              </a:spcAft>
            </a:pPr>
            <a:r>
              <a:rPr sz="1700" b="1" i="0">
                <a:solidFill>
                  <a:srgbClr val="34D399"/>
                </a:solidFill>
                <a:latin typeface="Segoe UI"/>
              </a:rPr>
              <a:t>03  </a:t>
            </a:r>
            <a:r>
              <a:rPr sz="1700" b="0" i="0">
                <a:solidFill>
                  <a:srgbClr val="E6E9F5"/>
                </a:solidFill>
                <a:latin typeface="Segoe UI"/>
              </a:rPr>
              <a:t>Live demo — real failures, real recovery</a:t>
            </a:r>
          </a:p>
          <a:p>
            <a:pPr>
              <a:spcAft>
                <a:spcPts val="1000"/>
              </a:spcAft>
            </a:pPr>
            <a:r>
              <a:rPr sz="1700" b="1" i="0">
                <a:solidFill>
                  <a:srgbClr val="34D399"/>
                </a:solidFill>
                <a:latin typeface="Segoe UI"/>
              </a:rPr>
              <a:t>04  </a:t>
            </a:r>
            <a:r>
              <a:rPr sz="1700" b="0" i="0">
                <a:solidFill>
                  <a:srgbClr val="E6E9F5"/>
                </a:solidFill>
                <a:latin typeface="Segoe UI"/>
              </a:rPr>
              <a:t>Lessons — how to match your use case to Temporal</a:t>
            </a:r>
          </a:p>
          <a:p>
            <a:pPr>
              <a:spcAft>
                <a:spcPts val="1000"/>
              </a:spcAft>
            </a:pPr>
            <a:r>
              <a:rPr sz="1700" b="1" i="0">
                <a:solidFill>
                  <a:srgbClr val="34D399"/>
                </a:solidFill>
                <a:latin typeface="Segoe UI"/>
              </a:rPr>
              <a:t>05  </a:t>
            </a:r>
            <a:r>
              <a:rPr sz="1700" b="0" i="0">
                <a:solidFill>
                  <a:srgbClr val="E6E9F5"/>
                </a:solidFill>
                <a:latin typeface="Segoe UI"/>
              </a:rPr>
              <a:t>Resources &amp; how to try this yourself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9164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QUESTION EVERYONE ACTUALLY HAS</a:t>
            </a:r>
          </a:p>
        </p:txBody>
      </p:sp>
      <p:sp>
        <p:nvSpPr>
          <p:cNvPr id="4" name="TextBox 3"/>
          <p:cNvSpPr txBox="1"/>
          <p:nvPr/>
        </p:nvSpPr>
        <p:spPr>
          <a:xfrm>
            <a:off x="822960" y="2103120"/>
            <a:ext cx="9875520" cy="2926080"/>
          </a:xfrm>
          <a:prstGeom prst="rect">
            <a:avLst/>
          </a:prstGeom>
          <a:noFill/>
        </p:spPr>
        <p:txBody>
          <a:bodyPr wrap="square" anchor="t" lIns="0" rIns="0" tIns="0" bIns="0">
            <a:spAutoFit/>
          </a:bodyPr>
          <a:lstStyle/>
          <a:p>
            <a:r>
              <a:rPr sz="3200" b="1" i="0">
                <a:solidFill>
                  <a:srgbClr val="E6E9F5"/>
                </a:solidFill>
                <a:latin typeface="Segoe UI"/>
              </a:rPr>
              <a:t>"This looks powerful. But is it right for </a:t>
            </a:r>
            <a:r>
              <a:rPr sz="3200" b="1" i="0">
                <a:solidFill>
                  <a:srgbClr val="4C9FFE"/>
                </a:solidFill>
                <a:latin typeface="Segoe UI"/>
              </a:rPr>
              <a:t>my</a:t>
            </a:r>
            <a:r>
              <a:rPr sz="3200" b="1" i="0">
                <a:solidFill>
                  <a:srgbClr val="E6E9F5"/>
                </a:solidFill>
                <a:latin typeface="Segoe UI"/>
              </a:rPr>
              <a:t> use case?"</a:t>
            </a:r>
          </a:p>
        </p:txBody>
      </p:sp>
      <p:sp>
        <p:nvSpPr>
          <p:cNvPr id="5" name="TextBox 4"/>
          <p:cNvSpPr txBox="1"/>
          <p:nvPr/>
        </p:nvSpPr>
        <p:spPr>
          <a:xfrm>
            <a:off x="822960" y="5257800"/>
            <a:ext cx="8961120" cy="731520"/>
          </a:xfrm>
          <a:prstGeom prst="rect">
            <a:avLst/>
          </a:prstGeom>
          <a:noFill/>
        </p:spPr>
        <p:txBody>
          <a:bodyPr wrap="square" anchor="t" lIns="0" rIns="0" tIns="0" bIns="0">
            <a:spAutoFit/>
          </a:bodyPr>
          <a:lstStyle/>
          <a:p>
            <a:r>
              <a:rPr sz="1500" b="0" i="0">
                <a:solidFill>
                  <a:srgbClr val="9AA2C0"/>
                </a:solidFill>
                <a:latin typeface="Segoe UI"/>
              </a:rPr>
              <a:t>— every engineer's first honest reaction to Temporal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EXPERIMENT</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I asked AI a vague prompt. Here's what happened.</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TextBox 5"/>
          <p:cNvSpPr txBox="1"/>
          <p:nvPr/>
        </p:nvSpPr>
        <p:spPr>
          <a:xfrm>
            <a:off x="640080" y="1600200"/>
            <a:ext cx="10515600" cy="1097280"/>
          </a:xfrm>
          <a:prstGeom prst="rect">
            <a:avLst/>
          </a:prstGeom>
          <a:noFill/>
        </p:spPr>
        <p:txBody>
          <a:bodyPr wrap="square" anchor="t" lIns="0" rIns="0" tIns="0" bIns="0">
            <a:spAutoFit/>
          </a:bodyPr>
          <a:lstStyle/>
          <a:p>
            <a:r>
              <a:rPr sz="1500" b="0" i="0">
                <a:solidFill>
                  <a:srgbClr val="9AA2C0"/>
                </a:solidFill>
                <a:latin typeface="Segoe UI"/>
              </a:rPr>
              <a:t>Not “here is a finished spec, build it.” A genuinely rough, one-paragraph idea.</a:t>
            </a:r>
          </a:p>
        </p:txBody>
      </p:sp>
      <p:sp>
        <p:nvSpPr>
          <p:cNvPr id="7" name="Rounded Rectangle 6"/>
          <p:cNvSpPr/>
          <p:nvPr/>
        </p:nvSpPr>
        <p:spPr>
          <a:xfrm>
            <a:off x="640080" y="265176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798064"/>
            <a:ext cx="3041904" cy="914400"/>
          </a:xfrm>
          <a:prstGeom prst="rect">
            <a:avLst/>
          </a:prstGeom>
          <a:noFill/>
        </p:spPr>
        <p:txBody>
          <a:bodyPr wrap="square" anchor="t" lIns="0" rIns="0" tIns="0" bIns="0">
            <a:spAutoFit/>
          </a:bodyPr>
          <a:lstStyle/>
          <a:p>
            <a:r>
              <a:rPr sz="1200" b="1" i="0">
                <a:solidFill>
                  <a:srgbClr val="7C5CFF"/>
                </a:solidFill>
                <a:latin typeface="Segoe UI"/>
              </a:rPr>
              <a:t>STEP 1</a:t>
            </a:r>
          </a:p>
          <a:p>
            <a:pPr>
              <a:spcBef>
                <a:spcPts val="600"/>
              </a:spcBef>
            </a:pPr>
            <a:r>
              <a:rPr sz="1300" b="0" i="0">
                <a:solidFill>
                  <a:srgbClr val="9AA2C0"/>
                </a:solidFill>
                <a:latin typeface="Segoe UI"/>
              </a:rPr>
              <a:t>Write the rough idea</a:t>
            </a:r>
          </a:p>
        </p:txBody>
      </p:sp>
      <p:sp>
        <p:nvSpPr>
          <p:cNvPr id="9" name="Rounded Rectangle 8"/>
          <p:cNvSpPr/>
          <p:nvPr/>
        </p:nvSpPr>
        <p:spPr>
          <a:xfrm>
            <a:off x="4358640" y="265176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9808" y="2798064"/>
            <a:ext cx="3041904" cy="914400"/>
          </a:xfrm>
          <a:prstGeom prst="rect">
            <a:avLst/>
          </a:prstGeom>
          <a:noFill/>
        </p:spPr>
        <p:txBody>
          <a:bodyPr wrap="square" anchor="t" lIns="0" rIns="0" tIns="0" bIns="0">
            <a:spAutoFit/>
          </a:bodyPr>
          <a:lstStyle/>
          <a:p>
            <a:r>
              <a:rPr sz="1200" b="1" i="0">
                <a:solidFill>
                  <a:srgbClr val="7C5CFF"/>
                </a:solidFill>
                <a:latin typeface="Segoe UI"/>
              </a:rPr>
              <a:t>STEP 2</a:t>
            </a:r>
          </a:p>
          <a:p>
            <a:pPr>
              <a:spcBef>
                <a:spcPts val="600"/>
              </a:spcBef>
            </a:pPr>
            <a:r>
              <a:rPr sz="1300" b="0" i="0">
                <a:solidFill>
                  <a:srgbClr val="9AA2C0"/>
                </a:solidFill>
                <a:latin typeface="Segoe UI"/>
              </a:rPr>
              <a:t>Ask AI to turn it into a real spec</a:t>
            </a:r>
          </a:p>
        </p:txBody>
      </p:sp>
      <p:sp>
        <p:nvSpPr>
          <p:cNvPr id="11" name="Rounded Rectangle 10"/>
          <p:cNvSpPr/>
          <p:nvPr/>
        </p:nvSpPr>
        <p:spPr>
          <a:xfrm>
            <a:off x="8077200" y="265176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8368" y="2798064"/>
            <a:ext cx="3041904" cy="914400"/>
          </a:xfrm>
          <a:prstGeom prst="rect">
            <a:avLst/>
          </a:prstGeom>
          <a:noFill/>
        </p:spPr>
        <p:txBody>
          <a:bodyPr wrap="square" anchor="t" lIns="0" rIns="0" tIns="0" bIns="0">
            <a:spAutoFit/>
          </a:bodyPr>
          <a:lstStyle/>
          <a:p>
            <a:r>
              <a:rPr sz="1200" b="1" i="0">
                <a:solidFill>
                  <a:srgbClr val="7C5CFF"/>
                </a:solidFill>
                <a:latin typeface="Segoe UI"/>
              </a:rPr>
              <a:t>STEP 3</a:t>
            </a:r>
          </a:p>
          <a:p>
            <a:pPr>
              <a:spcBef>
                <a:spcPts val="600"/>
              </a:spcBef>
            </a:pPr>
            <a:r>
              <a:rPr sz="1300" b="0" i="0">
                <a:solidFill>
                  <a:srgbClr val="9AA2C0"/>
                </a:solidFill>
                <a:latin typeface="Segoe UI"/>
              </a:rPr>
              <a:t>Hand that spec to a coding agent &amp; build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3657600" cy="1463040"/>
          </a:xfrm>
          <a:prstGeom prst="rect">
            <a:avLst/>
          </a:prstGeom>
          <a:noFill/>
        </p:spPr>
        <p:txBody>
          <a:bodyPr wrap="square" anchor="t" lIns="0" rIns="0" tIns="0" bIns="0">
            <a:spAutoFit/>
          </a:bodyPr>
          <a:lstStyle/>
          <a:p>
            <a:r>
              <a:rPr sz="7200" b="1" i="0">
                <a:solidFill>
                  <a:srgbClr val="7C5CFF"/>
                </a:solidFill>
                <a:latin typeface="Consolas"/>
              </a:rPr>
              <a:t>01</a:t>
            </a:r>
          </a:p>
        </p:txBody>
      </p:sp>
      <p:sp>
        <p:nvSpPr>
          <p:cNvPr id="4" name="TextBox 3"/>
          <p:cNvSpPr txBox="1"/>
          <p:nvPr/>
        </p:nvSpPr>
        <p:spPr>
          <a:xfrm>
            <a:off x="822960" y="3383280"/>
            <a:ext cx="8686800" cy="1005840"/>
          </a:xfrm>
          <a:prstGeom prst="rect">
            <a:avLst/>
          </a:prstGeom>
          <a:noFill/>
        </p:spPr>
        <p:txBody>
          <a:bodyPr wrap="square" anchor="t" lIns="0" rIns="0" tIns="0" bIns="0">
            <a:spAutoFit/>
          </a:bodyPr>
          <a:lstStyle/>
          <a:p>
            <a:r>
              <a:rPr sz="4000" b="1" i="0">
                <a:solidFill>
                  <a:srgbClr val="E6E9F5"/>
                </a:solidFill>
                <a:latin typeface="Segoe UI"/>
              </a:rPr>
              <a:t>The Prompt Experiment</a:t>
            </a:r>
          </a:p>
        </p:txBody>
      </p:sp>
      <p:sp>
        <p:nvSpPr>
          <p:cNvPr id="5" name="TextBox 4"/>
          <p:cNvSpPr txBox="1"/>
          <p:nvPr/>
        </p:nvSpPr>
        <p:spPr>
          <a:xfrm>
            <a:off x="822960" y="4206240"/>
            <a:ext cx="6858000" cy="914400"/>
          </a:xfrm>
          <a:prstGeom prst="rect">
            <a:avLst/>
          </a:prstGeom>
          <a:noFill/>
        </p:spPr>
        <p:txBody>
          <a:bodyPr wrap="square" anchor="t" lIns="0" rIns="0" tIns="0" bIns="0">
            <a:spAutoFit/>
          </a:bodyPr>
          <a:lstStyle/>
          <a:p>
            <a:r>
              <a:rPr sz="1700" b="0" i="0">
                <a:solidFill>
                  <a:srgbClr val="9AA2C0"/>
                </a:solidFill>
                <a:latin typeface="Segoe UI"/>
              </a:rPr>
              <a:t>A concrete way to see what Temporal can do for your use case.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WHAT I ACTUALLY TYPED</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My first prompt (verbatim)</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10881360" cy="2377440"/>
          </a:xfrm>
          <a:prstGeom prst="roundRect">
            <a:avLst>
              <a:gd name="adj" fmla="val 6000"/>
            </a:avLst>
          </a:prstGeom>
          <a:solidFill>
            <a:srgbClr val="0D1020"/>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28800"/>
            <a:ext cx="10881360" cy="365760"/>
          </a:xfrm>
          <a:prstGeom prst="roundRect">
            <a:avLst/>
          </a:prstGeom>
          <a:solidFill>
            <a:srgbClr val="151934"/>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83664"/>
            <a:ext cx="10515600" cy="274320"/>
          </a:xfrm>
          <a:prstGeom prst="rect">
            <a:avLst/>
          </a:prstGeom>
          <a:noFill/>
        </p:spPr>
        <p:txBody>
          <a:bodyPr wrap="square" anchor="t" lIns="0" rIns="0" tIns="0" bIns="0">
            <a:spAutoFit/>
          </a:bodyPr>
          <a:lstStyle/>
          <a:p>
            <a:r>
              <a:rPr sz="1100" b="0" i="0">
                <a:solidFill>
                  <a:srgbClr val="9AA2C0"/>
                </a:solidFill>
                <a:latin typeface="Consolas"/>
              </a:rPr>
              <a:t>●  ●  ●    chat — untitled idea</a:t>
            </a:r>
          </a:p>
        </p:txBody>
      </p:sp>
      <p:sp>
        <p:nvSpPr>
          <p:cNvPr id="9" name="TextBox 8"/>
          <p:cNvSpPr txBox="1"/>
          <p:nvPr/>
        </p:nvSpPr>
        <p:spPr>
          <a:xfrm>
            <a:off x="868680" y="2331720"/>
            <a:ext cx="10424160" cy="1691640"/>
          </a:xfrm>
          <a:prstGeom prst="rect">
            <a:avLst/>
          </a:prstGeom>
          <a:noFill/>
        </p:spPr>
        <p:txBody>
          <a:bodyPr wrap="square" anchor="t" lIns="0" rIns="0" tIns="0" bIns="0">
            <a:spAutoFit/>
          </a:bodyPr>
          <a:lstStyle/>
          <a:p>
            <a:pPr>
              <a:lnSpc>
                <a:spcPct val="130000"/>
              </a:lnSpc>
            </a:pPr>
            <a:r>
              <a:rPr sz="1400" b="0" i="0">
                <a:solidFill>
                  <a:srgbClr val="D6DCF5"/>
                </a:solidFill>
                <a:latin typeface="Consolas"/>
              </a:rPr>
              <a:t>&gt; I want to see what temporal workflows can do for me. Create me a project with a UI to track workflow progress and for me to interact with the workflows. Scenario: Claim process for an insurance company. No database, just get state and progress from temporal itself. Use a local temporal instance. Implement any cool ideas you can think of. Make sure there is at lease 1 wait for signal from the UI. Use local storage so the UI persists on refresh.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WHAT IT BECAME</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An excerpt from the full implementation prompt</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10881360" cy="2377440"/>
          </a:xfrm>
          <a:prstGeom prst="roundRect">
            <a:avLst>
              <a:gd name="adj" fmla="val 6000"/>
            </a:avLst>
          </a:prstGeom>
          <a:solidFill>
            <a:srgbClr val="0D1020"/>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28800"/>
            <a:ext cx="10881360" cy="365760"/>
          </a:xfrm>
          <a:prstGeom prst="roundRect">
            <a:avLst/>
          </a:prstGeom>
          <a:solidFill>
            <a:srgbClr val="151934"/>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83664"/>
            <a:ext cx="10515600" cy="274320"/>
          </a:xfrm>
          <a:prstGeom prst="rect">
            <a:avLst/>
          </a:prstGeom>
          <a:noFill/>
        </p:spPr>
        <p:txBody>
          <a:bodyPr wrap="square" anchor="t" lIns="0" rIns="0" tIns="0" bIns="0">
            <a:spAutoFit/>
          </a:bodyPr>
          <a:lstStyle/>
          <a:p>
            <a:r>
              <a:rPr sz="1100" b="0" i="0">
                <a:solidFill>
                  <a:srgbClr val="9AA2C0"/>
                </a:solidFill>
                <a:latin typeface="Consolas"/>
              </a:rPr>
              <a:t>●  ●  ●    prompt — Temporal claims demo spec</a:t>
            </a:r>
          </a:p>
        </p:txBody>
      </p:sp>
      <p:sp>
        <p:nvSpPr>
          <p:cNvPr id="9" name="TextBox 8"/>
          <p:cNvSpPr txBox="1"/>
          <p:nvPr/>
        </p:nvSpPr>
        <p:spPr>
          <a:xfrm>
            <a:off x="868680" y="2331720"/>
            <a:ext cx="10424160" cy="1691640"/>
          </a:xfrm>
          <a:prstGeom prst="rect">
            <a:avLst/>
          </a:prstGeom>
          <a:noFill/>
        </p:spPr>
        <p:txBody>
          <a:bodyPr wrap="square" anchor="t" lIns="0" rIns="0" tIns="0" bIns="0">
            <a:spAutoFit/>
          </a:bodyPr>
          <a:lstStyle/>
          <a:p>
            <a:pPr>
              <a:lnSpc>
                <a:spcPct val="130000"/>
              </a:lnSpc>
            </a:pPr>
            <a:r>
              <a:rPr sz="1100" b="0" i="0">
                <a:solidFill>
                  <a:srgbClr val="D6DCF5"/>
                </a:solidFill>
                <a:latin typeface="Consolas"/>
              </a:rPr>
              <a:t>&gt; Create a working monorepo using:
- Temporal TypeScript SDK
- A local Temporal development server
- NestJS for the backend/API and Temporal worker
- React with TypeScript for the UI
- Docker Compose where useful
Do not use a database. Temporal must be the source of truth for workflow state and progress.
The human-review step should wait indefinitely for an adjuster to approve, deny, or request more information. The UI must clearly show that the workflow is waiting for input and provide controls for sending the appropriate signal.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READ IT AGAIN, LIKE A CODING AGENT HAS TO</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What is not said</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TextBox 5"/>
          <p:cNvSpPr txBox="1"/>
          <p:nvPr/>
        </p:nvSpPr>
        <p:spPr>
          <a:xfrm>
            <a:off x="640080" y="1828800"/>
            <a:ext cx="5120640" cy="2286000"/>
          </a:xfrm>
          <a:prstGeom prst="rect">
            <a:avLst/>
          </a:prstGeom>
          <a:noFill/>
        </p:spPr>
        <p:txBody>
          <a:bodyPr wrap="square" anchor="t" lIns="0" rIns="0" tIns="0" bIns="0">
            <a:spAutoFit/>
          </a:bodyPr>
          <a:lstStyle/>
          <a:p>
            <a:r>
              <a:rPr sz="1400" b="0" i="0">
                <a:solidFill>
                  <a:srgbClr val="9AA2C0"/>
                </a:solidFill>
                <a:latin typeface="Consolas"/>
              </a:rPr>
              <a:t>“…track workflow progress… interact with the workflows… no database… any cool ideas… at lease 1 wait for signal… local storage so it persists…”</a:t>
            </a:r>
          </a:p>
        </p:txBody>
      </p:sp>
      <p:sp>
        <p:nvSpPr>
          <p:cNvPr id="7" name="TextBox 6"/>
          <p:cNvSpPr txBox="1"/>
          <p:nvPr/>
        </p:nvSpPr>
        <p:spPr>
          <a:xfrm>
            <a:off x="6035040" y="1828800"/>
            <a:ext cx="5486400" cy="2743200"/>
          </a:xfrm>
          <a:prstGeom prst="rect">
            <a:avLst/>
          </a:prstGeom>
          <a:noFill/>
        </p:spPr>
        <p:txBody>
          <a:bodyPr wrap="square" anchor="t" lIns="0" rIns="0" tIns="0" bIns="0">
            <a:spAutoFit/>
          </a:bodyPr>
          <a:lstStyle/>
          <a:p>
            <a:pPr>
              <a:spcAft>
                <a:spcPts val="800"/>
              </a:spcAft>
            </a:pPr>
            <a:r>
              <a:rPr sz="1500" b="1" i="0">
                <a:solidFill>
                  <a:srgbClr val="34D399"/>
                </a:solidFill>
                <a:latin typeface="Segoe UI"/>
              </a:rPr>
              <a:t>?  </a:t>
            </a:r>
            <a:r>
              <a:rPr sz="1500" b="0" i="0">
                <a:solidFill>
                  <a:srgbClr val="E6E9F5"/>
                </a:solidFill>
                <a:latin typeface="Segoe UI"/>
              </a:rPr>
              <a:t>Which failures are transient vs. permanent?</a:t>
            </a:r>
          </a:p>
          <a:p>
            <a:pPr>
              <a:spcAft>
                <a:spcPts val="800"/>
              </a:spcAft>
            </a:pPr>
            <a:r>
              <a:rPr sz="1500" b="1" i="0">
                <a:solidFill>
                  <a:srgbClr val="34D399"/>
                </a:solidFill>
                <a:latin typeface="Segoe UI"/>
              </a:rPr>
              <a:t>?  </a:t>
            </a:r>
            <a:r>
              <a:rPr sz="1500" b="0" i="0">
                <a:solidFill>
                  <a:srgbClr val="E6E9F5"/>
                </a:solidFill>
                <a:latin typeface="Segoe UI"/>
              </a:rPr>
              <a:t>What must never be lost on a crash?</a:t>
            </a:r>
          </a:p>
          <a:p>
            <a:pPr>
              <a:spcAft>
                <a:spcPts val="800"/>
              </a:spcAft>
            </a:pPr>
            <a:r>
              <a:rPr sz="1500" b="1" i="0">
                <a:solidFill>
                  <a:srgbClr val="34D399"/>
                </a:solidFill>
                <a:latin typeface="Segoe UI"/>
              </a:rPr>
              <a:t>?  </a:t>
            </a:r>
            <a:r>
              <a:rPr sz="1500" b="0" i="0">
                <a:solidFill>
                  <a:srgbClr val="E6E9F5"/>
                </a:solidFill>
                <a:latin typeface="Segoe UI"/>
              </a:rPr>
              <a:t>Where's the API/worker/UI boundary?</a:t>
            </a:r>
          </a:p>
          <a:p>
            <a:pPr>
              <a:spcAft>
                <a:spcPts val="800"/>
              </a:spcAft>
            </a:pPr>
            <a:r>
              <a:rPr sz="1500" b="1" i="0">
                <a:solidFill>
                  <a:srgbClr val="34D399"/>
                </a:solidFill>
                <a:latin typeface="Segoe UI"/>
              </a:rPr>
              <a:t>?  </a:t>
            </a:r>
            <a:r>
              <a:rPr sz="1500" b="0" i="0">
                <a:solidFill>
                  <a:srgbClr val="E6E9F5"/>
                </a:solidFill>
                <a:latin typeface="Segoe UI"/>
              </a:rPr>
              <a:t>What does “interact with” mean — signals? updates?</a:t>
            </a:r>
          </a:p>
          <a:p>
            <a:pPr>
              <a:spcAft>
                <a:spcPts val="800"/>
              </a:spcAft>
            </a:pPr>
            <a:r>
              <a:rPr sz="1500" b="1" i="0">
                <a:solidFill>
                  <a:srgbClr val="34D399"/>
                </a:solidFill>
                <a:latin typeface="Segoe UI"/>
              </a:rPr>
              <a:t>?  </a:t>
            </a:r>
            <a:r>
              <a:rPr sz="1500" b="0" i="0">
                <a:solidFill>
                  <a:srgbClr val="E6E9F5"/>
                </a:solidFill>
                <a:latin typeface="Segoe UI"/>
              </a:rPr>
              <a:t>“Cool ideas” = infinite scope, zero acceptance criteria</a:t>
            </a:r>
          </a:p>
        </p:txBody>
      </p:sp>
      <p:sp>
        <p:nvSpPr>
          <p:cNvPr id="8" name="TextBox 7"/>
          <p:cNvSpPr txBox="1"/>
          <p:nvPr/>
        </p:nvSpPr>
        <p:spPr>
          <a:xfrm>
            <a:off x="640080" y="4572000"/>
            <a:ext cx="10515600" cy="1097280"/>
          </a:xfrm>
          <a:prstGeom prst="rect">
            <a:avLst/>
          </a:prstGeom>
          <a:noFill/>
        </p:spPr>
        <p:txBody>
          <a:bodyPr wrap="square" anchor="t" lIns="0" rIns="0" tIns="0" bIns="0">
            <a:spAutoFit/>
          </a:bodyPr>
          <a:lstStyle/>
          <a:p>
            <a:r>
              <a:rPr sz="1400" b="0" i="0">
                <a:solidFill>
                  <a:srgbClr val="9AA2C0"/>
                </a:solidFill>
                <a:latin typeface="Segoe UI"/>
              </a:rPr>
              <a:t>None of this makes the prompt bad.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MOVE THAT ACTUALLY MATTERS</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I didn't fix the prompt myself. I asked AI to fix it.</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75104"/>
            <a:ext cx="4901184" cy="1554480"/>
          </a:xfrm>
          <a:prstGeom prst="rect">
            <a:avLst/>
          </a:prstGeom>
          <a:noFill/>
        </p:spPr>
        <p:txBody>
          <a:bodyPr wrap="square" anchor="t" lIns="0" rIns="0" tIns="0" bIns="0">
            <a:spAutoFit/>
          </a:bodyPr>
          <a:lstStyle/>
          <a:p>
            <a:r>
              <a:rPr sz="1200" b="1" i="0">
                <a:solidFill>
                  <a:srgbClr val="4C9FFE"/>
                </a:solidFill>
                <a:latin typeface="Segoe UI"/>
              </a:rPr>
              <a:t>WHY NOT WRITE THE SPEC BY HAND?</a:t>
            </a:r>
          </a:p>
          <a:p>
            <a:pPr>
              <a:spcBef>
                <a:spcPts val="600"/>
              </a:spcBef>
            </a:pPr>
            <a:r>
              <a:rPr sz="1300" b="0" i="0">
                <a:solidFill>
                  <a:srgbClr val="9AA2C0"/>
                </a:solidFill>
                <a:latin typeface="Segoe UI"/>
              </a:rPr>
              <a:t>Because “what should a good Temporal spec contain” is itself a question worth delegating — the model already knows the shape of retries, signals, queries, sagas, especially with a Temporal skill loaded for grounding.</a:t>
            </a:r>
          </a:p>
        </p:txBody>
      </p:sp>
      <p:sp>
        <p:nvSpPr>
          <p:cNvPr id="8" name="Rounded Rectangle 7"/>
          <p:cNvSpPr/>
          <p:nvPr/>
        </p:nvSpPr>
        <p:spPr>
          <a:xfrm>
            <a:off x="6217920" y="182880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75104"/>
            <a:ext cx="4901184" cy="1554480"/>
          </a:xfrm>
          <a:prstGeom prst="rect">
            <a:avLst/>
          </a:prstGeom>
          <a:noFill/>
        </p:spPr>
        <p:txBody>
          <a:bodyPr wrap="square" anchor="t" lIns="0" rIns="0" tIns="0" bIns="0">
            <a:spAutoFit/>
          </a:bodyPr>
          <a:lstStyle/>
          <a:p>
            <a:r>
              <a:rPr sz="1200" b="1" i="0">
                <a:solidFill>
                  <a:srgbClr val="4C9FFE"/>
                </a:solidFill>
                <a:latin typeface="Segoe UI"/>
              </a:rPr>
              <a:t>WHAT I ASKED FOR</a:t>
            </a:r>
          </a:p>
          <a:p>
            <a:pPr>
              <a:spcBef>
                <a:spcPts val="600"/>
              </a:spcBef>
            </a:pPr>
            <a:r>
              <a:rPr sz="1300" b="0" i="0">
                <a:solidFill>
                  <a:srgbClr val="9AA2C0"/>
                </a:solidFill>
                <a:latin typeface="Segoe UI"/>
              </a:rPr>
              <a:t>“Would this be good for a coding-agent prompt?” — the answer covered architecture, failure modes, and UI/UX explicitly.</a:t>
            </a:r>
          </a:p>
        </p:txBody>
      </p:sp>
      <p:sp>
        <p:nvSpPr>
          <p:cNvPr id="10" name="TextBox 9"/>
          <p:cNvSpPr txBox="1"/>
          <p:nvPr/>
        </p:nvSpPr>
        <p:spPr>
          <a:xfrm>
            <a:off x="640080" y="5897880"/>
            <a:ext cx="10881360" cy="320040"/>
          </a:xfrm>
          <a:prstGeom prst="rect">
            <a:avLst/>
          </a:prstGeom>
          <a:noFill/>
        </p:spPr>
        <p:txBody>
          <a:bodyPr wrap="square" anchor="t" lIns="0" rIns="0" tIns="0" bIns="0">
            <a:spAutoFit/>
          </a:bodyPr>
          <a:lstStyle/>
          <a:p>
            <a:r>
              <a:rPr sz="1300" b="0" i="0">
                <a:solidFill>
                  <a:srgbClr val="9AA2C0"/>
                </a:solidFill>
                <a:latin typeface="Segoe UI"/>
              </a:rPr>
              <a:t>Temporal AI skill: </a:t>
            </a:r>
            <a:r>
              <a:rPr sz="1300" b="0" i="0">
                <a:solidFill>
                  <a:srgbClr val="4C9FFE"/>
                </a:solidFill>
                <a:latin typeface="Consolas"/>
                <a:hlinkClick r:id="rId3"/>
              </a:rPr>
              <a:t>github.com/temporalio/skill-temporal-developer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WHAT CAME BACK</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The improved prompt  (condensed)</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75104"/>
            <a:ext cx="4901184" cy="1554480"/>
          </a:xfrm>
          <a:prstGeom prst="rect">
            <a:avLst/>
          </a:prstGeom>
          <a:noFill/>
        </p:spPr>
        <p:txBody>
          <a:bodyPr wrap="square" anchor="t" lIns="0" rIns="0" tIns="0" bIns="0">
            <a:spAutoFit/>
          </a:bodyPr>
          <a:lstStyle/>
          <a:p>
            <a:r>
              <a:rPr sz="1200" b="1" i="0">
                <a:solidFill>
                  <a:srgbClr val="4C9FFE"/>
                </a:solidFill>
                <a:latin typeface="Segoe UI"/>
              </a:rPr>
              <a:t>STACK &amp; ARCHITECTURE, NAMED EXPLICITLY</a:t>
            </a:r>
          </a:p>
          <a:p>
            <a:pPr>
              <a:spcBef>
                <a:spcPts val="600"/>
              </a:spcBef>
            </a:pPr>
            <a:r>
              <a:rPr sz="1300" b="0" i="0">
                <a:solidFill>
                  <a:srgbClr val="9AA2C0"/>
                </a:solidFill>
                <a:latin typeface="Segoe UI"/>
              </a:rPr>
              <a:t>Temporal TS SDK · local dev server · NestJS API + worker · React + TS UI · Docker Compose · separate workflow/activity/client/API/UI layers</a:t>
            </a:r>
          </a:p>
        </p:txBody>
      </p:sp>
      <p:sp>
        <p:nvSpPr>
          <p:cNvPr id="8" name="Rounded Rectangle 7"/>
          <p:cNvSpPr/>
          <p:nvPr/>
        </p:nvSpPr>
        <p:spPr>
          <a:xfrm>
            <a:off x="6217920" y="182880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75104"/>
            <a:ext cx="4901184" cy="1554480"/>
          </a:xfrm>
          <a:prstGeom prst="rect">
            <a:avLst/>
          </a:prstGeom>
          <a:noFill/>
        </p:spPr>
        <p:txBody>
          <a:bodyPr wrap="square" anchor="t" lIns="0" rIns="0" tIns="0" bIns="0">
            <a:spAutoFit/>
          </a:bodyPr>
          <a:lstStyle/>
          <a:p>
            <a:r>
              <a:rPr sz="1200" b="1" i="0">
                <a:solidFill>
                  <a:srgbClr val="4C9FFE"/>
                </a:solidFill>
                <a:latin typeface="Segoe UI"/>
              </a:rPr>
              <a:t>DURABILITY REQUIREMENTS, NAMED EXPLICITLY</a:t>
            </a:r>
          </a:p>
          <a:p>
            <a:pPr>
              <a:spcBef>
                <a:spcPts val="600"/>
              </a:spcBef>
            </a:pPr>
            <a:r>
              <a:rPr sz="1300" b="0" i="0">
                <a:solidFill>
                  <a:srgbClr val="9AA2C0"/>
                </a:solidFill>
                <a:latin typeface="Segoe UI"/>
              </a:rPr>
              <a:t>retry policies per activity · at least one timer · a child workflow · signals for every human action · queries for state/progress · cancellation handling</a:t>
            </a:r>
          </a:p>
        </p:txBody>
      </p:sp>
      <p:sp>
        <p:nvSpPr>
          <p:cNvPr id="10" name="Rounded Rectangle 9"/>
          <p:cNvSpPr/>
          <p:nvPr/>
        </p:nvSpPr>
        <p:spPr>
          <a:xfrm>
            <a:off x="640080" y="393192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078224"/>
            <a:ext cx="4901184" cy="1554480"/>
          </a:xfrm>
          <a:prstGeom prst="rect">
            <a:avLst/>
          </a:prstGeom>
          <a:noFill/>
        </p:spPr>
        <p:txBody>
          <a:bodyPr wrap="square" anchor="t" lIns="0" rIns="0" tIns="0" bIns="0">
            <a:spAutoFit/>
          </a:bodyPr>
          <a:lstStyle/>
          <a:p>
            <a:r>
              <a:rPr sz="1200" b="1" i="0">
                <a:solidFill>
                  <a:srgbClr val="4C9FFE"/>
                </a:solidFill>
                <a:latin typeface="Segoe UI"/>
              </a:rPr>
              <a:t>THE CLAIM LIFECYCLE, SPELLED OUT</a:t>
            </a:r>
          </a:p>
          <a:p>
            <a:pPr>
              <a:spcBef>
                <a:spcPts val="600"/>
              </a:spcBef>
            </a:pPr>
            <a:r>
              <a:rPr sz="1300" b="0" i="0">
                <a:solidFill>
                  <a:srgbClr val="9AA2C0"/>
                </a:solidFill>
                <a:latin typeface="Segoe UI"/>
              </a:rPr>
              <a:t>9 named stages from submission to payout — not “any cool ideas,” a concrete process to map onto primitives</a:t>
            </a:r>
          </a:p>
        </p:txBody>
      </p:sp>
      <p:sp>
        <p:nvSpPr>
          <p:cNvPr id="12" name="Rounded Rectangle 11"/>
          <p:cNvSpPr/>
          <p:nvPr/>
        </p:nvSpPr>
        <p:spPr>
          <a:xfrm>
            <a:off x="6217920" y="393192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4078224"/>
            <a:ext cx="4901184" cy="1554480"/>
          </a:xfrm>
          <a:prstGeom prst="rect">
            <a:avLst/>
          </a:prstGeom>
          <a:noFill/>
        </p:spPr>
        <p:txBody>
          <a:bodyPr wrap="square" anchor="t" lIns="0" rIns="0" tIns="0" bIns="0">
            <a:spAutoFit/>
          </a:bodyPr>
          <a:lstStyle/>
          <a:p>
            <a:r>
              <a:rPr sz="1200" b="1" i="0">
                <a:solidFill>
                  <a:srgbClr val="4C9FFE"/>
                </a:solidFill>
                <a:latin typeface="Segoe UI"/>
              </a:rPr>
              <a:t>DEFINITION OF DONE</a:t>
            </a:r>
          </a:p>
          <a:p>
            <a:pPr>
              <a:spcBef>
                <a:spcPts val="600"/>
              </a:spcBef>
            </a:pPr>
            <a:r>
              <a:rPr sz="1300" b="0" i="0">
                <a:solidFill>
                  <a:srgbClr val="9AA2C0"/>
                </a:solidFill>
                <a:latin typeface="Segoe UI"/>
              </a:rPr>
              <a:t>README, unit tests, one integration test that signals a real workflow to completion, build/lint/test must 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9164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POINT OF THIS WHOLE TALK</a:t>
            </a:r>
          </a:p>
        </p:txBody>
      </p:sp>
      <p:sp>
        <p:nvSpPr>
          <p:cNvPr id="4" name="TextBox 3"/>
          <p:cNvSpPr txBox="1"/>
          <p:nvPr/>
        </p:nvSpPr>
        <p:spPr>
          <a:xfrm>
            <a:off x="822960" y="2103120"/>
            <a:ext cx="9875520" cy="2926080"/>
          </a:xfrm>
          <a:prstGeom prst="rect">
            <a:avLst/>
          </a:prstGeom>
          <a:noFill/>
        </p:spPr>
        <p:txBody>
          <a:bodyPr wrap="square" anchor="t" lIns="0" rIns="0" tIns="0" bIns="0">
            <a:spAutoFit/>
          </a:bodyPr>
          <a:lstStyle/>
          <a:p>
            <a:r>
              <a:rPr sz="3200" b="1" i="0">
                <a:solidFill>
                  <a:srgbClr val="E6E9F5"/>
                </a:solidFill>
                <a:latin typeface="Segoe UI"/>
              </a:rPr>
              <a:t>Don't be overwhelmed.
</a:t>
            </a:r>
            <a:r>
              <a:rPr sz="3200" b="1" i="0">
                <a:solidFill>
                  <a:srgbClr val="E6E9F5"/>
                </a:solidFill>
                <a:latin typeface="Segoe UI"/>
              </a:rPr>
              <a:t>You don't need to spell everything out </a:t>
            </a:r>
            <a:r>
              <a:rPr sz="3200" b="1" i="0">
                <a:solidFill>
                  <a:srgbClr val="4C9FFE"/>
                </a:solidFill>
                <a:latin typeface="Segoe UI"/>
              </a:rPr>
              <a:t>to see what Temporal can do for you.</a:t>
            </a:r>
          </a:p>
        </p:txBody>
      </p:sp>
      <p:sp>
        <p:nvSpPr>
          <p:cNvPr id="5" name="TextBox 4"/>
          <p:cNvSpPr txBox="1"/>
          <p:nvPr/>
        </p:nvSpPr>
        <p:spPr>
          <a:xfrm>
            <a:off x="822960" y="5257800"/>
            <a:ext cx="8961120" cy="731520"/>
          </a:xfrm>
          <a:prstGeom prst="rect">
            <a:avLst/>
          </a:prstGeom>
          <a:noFill/>
        </p:spPr>
        <p:txBody>
          <a:bodyPr wrap="square" anchor="t" lIns="0" rIns="0" tIns="0" bIns="0">
            <a:spAutoFit/>
          </a:bodyPr>
          <a:lstStyle/>
          <a:p>
            <a:r>
              <a:rPr sz="1500" b="0" i="0">
                <a:solidFill>
                  <a:srgbClr val="9AA2C0"/>
                </a:solidFill>
                <a:latin typeface="Segoe UI"/>
              </a:rPr>
              <a:t>A sharper prompt makes for a sharper demo — but retries, signals, queries and durability are primitives Temporal gives you either 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3657600" cy="1463040"/>
          </a:xfrm>
          <a:prstGeom prst="rect">
            <a:avLst/>
          </a:prstGeom>
          <a:noFill/>
        </p:spPr>
        <p:txBody>
          <a:bodyPr wrap="square" anchor="t" lIns="0" rIns="0" tIns="0" bIns="0">
            <a:spAutoFit/>
          </a:bodyPr>
          <a:lstStyle/>
          <a:p>
            <a:r>
              <a:rPr sz="7200" b="1" i="0">
                <a:solidFill>
                  <a:srgbClr val="7C5CFF"/>
                </a:solidFill>
                <a:latin typeface="Consolas"/>
              </a:rPr>
              <a:t>02</a:t>
            </a:r>
          </a:p>
        </p:txBody>
      </p:sp>
      <p:sp>
        <p:nvSpPr>
          <p:cNvPr id="4" name="TextBox 3"/>
          <p:cNvSpPr txBox="1"/>
          <p:nvPr/>
        </p:nvSpPr>
        <p:spPr>
          <a:xfrm>
            <a:off x="822960" y="3383280"/>
            <a:ext cx="8686800" cy="1005840"/>
          </a:xfrm>
          <a:prstGeom prst="rect">
            <a:avLst/>
          </a:prstGeom>
          <a:noFill/>
        </p:spPr>
        <p:txBody>
          <a:bodyPr wrap="square" anchor="t" lIns="0" rIns="0" tIns="0" bIns="0">
            <a:spAutoFit/>
          </a:bodyPr>
          <a:lstStyle/>
          <a:p>
            <a:r>
              <a:rPr sz="4000" b="1" i="0">
                <a:solidFill>
                  <a:srgbClr val="E6E9F5"/>
                </a:solidFill>
                <a:latin typeface="Segoe UI"/>
              </a:rPr>
              <a:t>What Got Built</a:t>
            </a:r>
          </a:p>
        </p:txBody>
      </p:sp>
      <p:sp>
        <p:nvSpPr>
          <p:cNvPr id="5" name="TextBox 4"/>
          <p:cNvSpPr txBox="1"/>
          <p:nvPr/>
        </p:nvSpPr>
        <p:spPr>
          <a:xfrm>
            <a:off x="822960" y="4206240"/>
            <a:ext cx="6858000" cy="914400"/>
          </a:xfrm>
          <a:prstGeom prst="rect">
            <a:avLst/>
          </a:prstGeom>
          <a:noFill/>
        </p:spPr>
        <p:txBody>
          <a:bodyPr wrap="square" anchor="t" lIns="0" rIns="0" tIns="0" bIns="0">
            <a:spAutoFit/>
          </a:bodyPr>
          <a:lstStyle/>
          <a:p>
            <a:r>
              <a:rPr sz="1700" b="0" i="0">
                <a:solidFill>
                  <a:srgbClr val="9AA2C0"/>
                </a:solidFill>
                <a:latin typeface="Segoe UI"/>
              </a:rPr>
              <a:t>An insurance claims console where Temporal — not a database — is the source of truth.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ARCHITECTURE</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Four pieces, one source of truth</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5166360" cy="12344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29968"/>
            <a:ext cx="4709160" cy="914400"/>
          </a:xfrm>
          <a:prstGeom prst="rect">
            <a:avLst/>
          </a:prstGeom>
          <a:noFill/>
        </p:spPr>
        <p:txBody>
          <a:bodyPr wrap="square" anchor="t" lIns="0" rIns="0" tIns="0" bIns="0">
            <a:spAutoFit/>
          </a:bodyPr>
          <a:lstStyle/>
          <a:p>
            <a:r>
              <a:rPr sz="1800" b="1" i="0">
                <a:solidFill>
                  <a:srgbClr val="E6E9F5"/>
                </a:solidFill>
                <a:latin typeface="Segoe UI"/>
              </a:rPr>
              <a:t>React Dashboard</a:t>
            </a:r>
          </a:p>
          <a:p>
            <a:pPr>
              <a:spcBef>
                <a:spcPts val="500"/>
              </a:spcBef>
            </a:pPr>
            <a:r>
              <a:rPr sz="1300" b="0" i="0">
                <a:solidFill>
                  <a:srgbClr val="9AA2C0"/>
                </a:solidFill>
                <a:latin typeface="Segoe UI"/>
              </a:rPr>
              <a:t>Polls the API and keeps only preferences + recent workflow IDs in localStorage.</a:t>
            </a:r>
          </a:p>
        </p:txBody>
      </p:sp>
      <p:sp>
        <p:nvSpPr>
          <p:cNvPr id="8" name="Rounded Rectangle 7"/>
          <p:cNvSpPr/>
          <p:nvPr/>
        </p:nvSpPr>
        <p:spPr>
          <a:xfrm>
            <a:off x="5989320" y="1828800"/>
            <a:ext cx="5166360" cy="12344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2029968"/>
            <a:ext cx="4709160" cy="914400"/>
          </a:xfrm>
          <a:prstGeom prst="rect">
            <a:avLst/>
          </a:prstGeom>
          <a:noFill/>
        </p:spPr>
        <p:txBody>
          <a:bodyPr wrap="square" anchor="t" lIns="0" rIns="0" tIns="0" bIns="0">
            <a:spAutoFit/>
          </a:bodyPr>
          <a:lstStyle/>
          <a:p>
            <a:r>
              <a:rPr sz="1800" b="1" i="0">
                <a:solidFill>
                  <a:srgbClr val="E6E9F5"/>
                </a:solidFill>
                <a:latin typeface="Segoe UI"/>
              </a:rPr>
              <a:t>NestJS API</a:t>
            </a:r>
          </a:p>
          <a:p>
            <a:pPr>
              <a:spcBef>
                <a:spcPts val="500"/>
              </a:spcBef>
            </a:pPr>
            <a:r>
              <a:rPr sz="1300" b="0" i="0">
                <a:solidFill>
                  <a:srgbClr val="9AA2C0"/>
                </a:solidFill>
                <a:latin typeface="Segoe UI"/>
              </a:rPr>
              <a:t>REST facade that starts workflows, sends signals, and runs workflow queries.</a:t>
            </a:r>
          </a:p>
        </p:txBody>
      </p:sp>
      <p:sp>
        <p:nvSpPr>
          <p:cNvPr id="10" name="Rounded Rectangle 9"/>
          <p:cNvSpPr/>
          <p:nvPr/>
        </p:nvSpPr>
        <p:spPr>
          <a:xfrm>
            <a:off x="640080" y="3246120"/>
            <a:ext cx="5166360" cy="1234440"/>
          </a:xfrm>
          <a:prstGeom prst="roundRect">
            <a:avLst>
              <a:gd name="adj" fmla="val 6000"/>
            </a:avLst>
          </a:prstGeom>
          <a:solidFill>
            <a:srgbClr val="1C1630"/>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447288"/>
            <a:ext cx="4709160" cy="914400"/>
          </a:xfrm>
          <a:prstGeom prst="rect">
            <a:avLst/>
          </a:prstGeom>
          <a:noFill/>
        </p:spPr>
        <p:txBody>
          <a:bodyPr wrap="square" anchor="t" lIns="0" rIns="0" tIns="0" bIns="0">
            <a:spAutoFit/>
          </a:bodyPr>
          <a:lstStyle/>
          <a:p>
            <a:r>
              <a:rPr sz="1800" b="1" i="0">
                <a:solidFill>
                  <a:srgbClr val="4C9FFE"/>
                </a:solidFill>
                <a:latin typeface="Segoe UI"/>
              </a:rPr>
              <a:t>Temporal Server</a:t>
            </a:r>
          </a:p>
          <a:p>
            <a:pPr>
              <a:spcBef>
                <a:spcPts val="500"/>
              </a:spcBef>
            </a:pPr>
            <a:r>
              <a:rPr sz="1300" b="0" i="0">
                <a:solidFill>
                  <a:srgbClr val="9AA2C0"/>
                </a:solidFill>
                <a:latin typeface="Segoe UI"/>
              </a:rPr>
              <a:t>Event history, task queues, timers, visibility, and the authoritative claim state.</a:t>
            </a:r>
          </a:p>
        </p:txBody>
      </p:sp>
      <p:sp>
        <p:nvSpPr>
          <p:cNvPr id="12" name="Rounded Rectangle 11"/>
          <p:cNvSpPr/>
          <p:nvPr/>
        </p:nvSpPr>
        <p:spPr>
          <a:xfrm>
            <a:off x="5989320" y="3246120"/>
            <a:ext cx="5166360" cy="12344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447288"/>
            <a:ext cx="4709160" cy="914400"/>
          </a:xfrm>
          <a:prstGeom prst="rect">
            <a:avLst/>
          </a:prstGeom>
          <a:noFill/>
        </p:spPr>
        <p:txBody>
          <a:bodyPr wrap="square" anchor="t" lIns="0" rIns="0" tIns="0" bIns="0">
            <a:spAutoFit/>
          </a:bodyPr>
          <a:lstStyle/>
          <a:p>
            <a:r>
              <a:rPr sz="1800" b="1" i="0">
                <a:solidFill>
                  <a:srgbClr val="E6E9F5"/>
                </a:solidFill>
                <a:latin typeface="Segoe UI"/>
              </a:rPr>
              <a:t>NestJS Worker</a:t>
            </a:r>
          </a:p>
          <a:p>
            <a:pPr>
              <a:spcBef>
                <a:spcPts val="500"/>
              </a:spcBef>
            </a:pPr>
            <a:r>
              <a:rPr sz="1300" b="0" i="0">
                <a:solidFill>
                  <a:srgbClr val="9AA2C0"/>
                </a:solidFill>
                <a:latin typeface="Segoe UI"/>
              </a:rPr>
              <a:t>Runs deterministic workflow code and side-effecting activity implementations.</a:t>
            </a:r>
          </a:p>
        </p:txBody>
      </p:sp>
      <p:sp>
        <p:nvSpPr>
          <p:cNvPr id="14" name="TextBox 13"/>
          <p:cNvSpPr txBox="1"/>
          <p:nvPr/>
        </p:nvSpPr>
        <p:spPr>
          <a:xfrm>
            <a:off x="640080" y="4937760"/>
            <a:ext cx="3657600" cy="365760"/>
          </a:xfrm>
          <a:prstGeom prst="rect">
            <a:avLst/>
          </a:prstGeom>
          <a:noFill/>
        </p:spPr>
        <p:txBody>
          <a:bodyPr wrap="square" anchor="t" lIns="0" rIns="0" tIns="0" bIns="0">
            <a:spAutoFit/>
          </a:bodyPr>
          <a:lstStyle/>
          <a:p>
            <a:r>
              <a:rPr sz="1400" b="1" i="0">
                <a:solidFill>
                  <a:srgbClr val="F87171"/>
                </a:solidFill>
                <a:latin typeface="Segoe UI"/>
              </a:rPr>
              <a:t>✗ no database, anywhere</a:t>
            </a:r>
          </a:p>
        </p:txBody>
      </p:sp>
      <p:sp>
        <p:nvSpPr>
          <p:cNvPr id="15" name="TextBox 14"/>
          <p:cNvSpPr txBox="1"/>
          <p:nvPr/>
        </p:nvSpPr>
        <p:spPr>
          <a:xfrm>
            <a:off x="4297680" y="4937760"/>
            <a:ext cx="3657600" cy="365760"/>
          </a:xfrm>
          <a:prstGeom prst="rect">
            <a:avLst/>
          </a:prstGeom>
          <a:noFill/>
        </p:spPr>
        <p:txBody>
          <a:bodyPr wrap="square" anchor="t" lIns="0" rIns="0" tIns="0" bIns="0">
            <a:spAutoFit/>
          </a:bodyPr>
          <a:lstStyle/>
          <a:p>
            <a:r>
              <a:rPr sz="1400" b="1" i="0">
                <a:solidFill>
                  <a:srgbClr val="34D399"/>
                </a:solidFill>
                <a:latin typeface="Segoe UI"/>
              </a:rPr>
              <a:t>✓ Temporal event history is the state</a:t>
            </a:r>
          </a:p>
        </p:txBody>
      </p:sp>
      <p:sp>
        <p:nvSpPr>
          <p:cNvPr id="16" name="TextBox 15"/>
          <p:cNvSpPr txBox="1"/>
          <p:nvPr/>
        </p:nvSpPr>
        <p:spPr>
          <a:xfrm>
            <a:off x="7955280" y="4937760"/>
            <a:ext cx="3657600" cy="365760"/>
          </a:xfrm>
          <a:prstGeom prst="rect">
            <a:avLst/>
          </a:prstGeom>
          <a:noFill/>
        </p:spPr>
        <p:txBody>
          <a:bodyPr wrap="square" anchor="t" lIns="0" rIns="0" tIns="0" bIns="0">
            <a:spAutoFit/>
          </a:bodyPr>
          <a:lstStyle/>
          <a:p>
            <a:r>
              <a:rPr sz="1400" b="1" i="0">
                <a:solidFill>
                  <a:srgbClr val="38BDF8"/>
                </a:solidFill>
                <a:latin typeface="Segoe UI"/>
              </a:rPr>
              <a:t>✓ localStorage = prefs + recent ids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BUSINESS PROCESS</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Nine stages</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737360"/>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83664"/>
            <a:ext cx="3136392" cy="822960"/>
          </a:xfrm>
          <a:prstGeom prst="rect">
            <a:avLst/>
          </a:prstGeom>
          <a:noFill/>
        </p:spPr>
        <p:txBody>
          <a:bodyPr wrap="square" anchor="t" lIns="0" rIns="0" tIns="0" bIns="0">
            <a:spAutoFit/>
          </a:bodyPr>
          <a:lstStyle/>
          <a:p>
            <a:r>
              <a:rPr sz="1800" b="1" i="0">
                <a:solidFill>
                  <a:srgbClr val="E6E9F5"/>
                </a:solidFill>
                <a:latin typeface="Segoe UI"/>
              </a:rPr>
              <a:t>1. Submitted</a:t>
            </a:r>
          </a:p>
          <a:p>
            <a:r>
              <a:rPr sz="1300" b="0" i="0">
                <a:solidFill>
                  <a:srgbClr val="4C9FFE"/>
                </a:solidFill>
                <a:latin typeface="Consolas"/>
              </a:rPr>
              <a:t>workflow start</a:t>
            </a:r>
          </a:p>
        </p:txBody>
      </p:sp>
      <p:sp>
        <p:nvSpPr>
          <p:cNvPr id="8" name="Rounded Rectangle 7"/>
          <p:cNvSpPr/>
          <p:nvPr/>
        </p:nvSpPr>
        <p:spPr>
          <a:xfrm>
            <a:off x="4306824" y="1737360"/>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9704" y="1883664"/>
            <a:ext cx="3136392" cy="822960"/>
          </a:xfrm>
          <a:prstGeom prst="rect">
            <a:avLst/>
          </a:prstGeom>
          <a:noFill/>
        </p:spPr>
        <p:txBody>
          <a:bodyPr wrap="square" anchor="t" lIns="0" rIns="0" tIns="0" bIns="0">
            <a:spAutoFit/>
          </a:bodyPr>
          <a:lstStyle/>
          <a:p>
            <a:r>
              <a:rPr sz="1800" b="1" i="0">
                <a:solidFill>
                  <a:srgbClr val="E6E9F5"/>
                </a:solidFill>
                <a:latin typeface="Segoe UI"/>
              </a:rPr>
              <a:t>2. Validation</a:t>
            </a:r>
          </a:p>
          <a:p>
            <a:r>
              <a:rPr sz="1300" b="1" i="0">
                <a:solidFill>
                  <a:srgbClr val="7C5CFF"/>
                </a:solidFill>
                <a:latin typeface="Consolas"/>
              </a:rPr>
              <a:t>activity</a:t>
            </a:r>
            <a:r>
              <a:rPr sz="1300" b="0" i="0">
                <a:solidFill>
                  <a:srgbClr val="4C9FFE"/>
                </a:solidFill>
                <a:latin typeface="Consolas"/>
              </a:rPr>
              <a:t> + retry</a:t>
            </a:r>
          </a:p>
        </p:txBody>
      </p:sp>
      <p:sp>
        <p:nvSpPr>
          <p:cNvPr id="10" name="Rounded Rectangle 9"/>
          <p:cNvSpPr/>
          <p:nvPr/>
        </p:nvSpPr>
        <p:spPr>
          <a:xfrm>
            <a:off x="7973568" y="1737360"/>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6448" y="1883664"/>
            <a:ext cx="3136392" cy="822960"/>
          </a:xfrm>
          <a:prstGeom prst="rect">
            <a:avLst/>
          </a:prstGeom>
          <a:noFill/>
        </p:spPr>
        <p:txBody>
          <a:bodyPr wrap="square" anchor="t" lIns="0" rIns="0" tIns="0" bIns="0">
            <a:spAutoFit/>
          </a:bodyPr>
          <a:lstStyle/>
          <a:p>
            <a:r>
              <a:rPr sz="1800" b="1" i="0">
                <a:solidFill>
                  <a:srgbClr val="E6E9F5"/>
                </a:solidFill>
                <a:latin typeface="Segoe UI"/>
              </a:rPr>
              <a:t>3. Coverage check</a:t>
            </a:r>
          </a:p>
          <a:p>
            <a:r>
              <a:rPr sz="1300" b="1" i="0">
                <a:solidFill>
                  <a:srgbClr val="7C5CFF"/>
                </a:solidFill>
                <a:latin typeface="Consolas"/>
              </a:rPr>
              <a:t>activity</a:t>
            </a:r>
            <a:r>
              <a:rPr sz="1300" b="0" i="0">
                <a:solidFill>
                  <a:srgbClr val="4C9FFE"/>
                </a:solidFill>
                <a:latin typeface="Consolas"/>
              </a:rPr>
              <a:t> + retry</a:t>
            </a:r>
          </a:p>
        </p:txBody>
      </p:sp>
      <p:sp>
        <p:nvSpPr>
          <p:cNvPr id="12" name="Rounded Rectangle 11"/>
          <p:cNvSpPr/>
          <p:nvPr/>
        </p:nvSpPr>
        <p:spPr>
          <a:xfrm>
            <a:off x="640080" y="2953512"/>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99816"/>
            <a:ext cx="3136392" cy="822960"/>
          </a:xfrm>
          <a:prstGeom prst="rect">
            <a:avLst/>
          </a:prstGeom>
          <a:noFill/>
        </p:spPr>
        <p:txBody>
          <a:bodyPr wrap="square" anchor="t" lIns="0" rIns="0" tIns="0" bIns="0">
            <a:spAutoFit/>
          </a:bodyPr>
          <a:lstStyle/>
          <a:p>
            <a:r>
              <a:rPr sz="1800" b="1" i="0">
                <a:solidFill>
                  <a:srgbClr val="E6E9F5"/>
                </a:solidFill>
                <a:latin typeface="Segoe UI"/>
              </a:rPr>
              <a:t>4. Damage assessment</a:t>
            </a:r>
          </a:p>
          <a:p>
            <a:r>
              <a:rPr sz="1300" b="0" i="0">
                <a:solidFill>
                  <a:srgbClr val="4C9FFE"/>
                </a:solidFill>
                <a:latin typeface="Consolas"/>
              </a:rPr>
              <a:t>heartbeat + cancel</a:t>
            </a:r>
          </a:p>
        </p:txBody>
      </p:sp>
      <p:sp>
        <p:nvSpPr>
          <p:cNvPr id="14" name="Rounded Rectangle 13"/>
          <p:cNvSpPr/>
          <p:nvPr/>
        </p:nvSpPr>
        <p:spPr>
          <a:xfrm>
            <a:off x="4306824" y="2953512"/>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3099816"/>
            <a:ext cx="3136392" cy="822960"/>
          </a:xfrm>
          <a:prstGeom prst="rect">
            <a:avLst/>
          </a:prstGeom>
          <a:noFill/>
        </p:spPr>
        <p:txBody>
          <a:bodyPr wrap="square" anchor="t" lIns="0" rIns="0" tIns="0" bIns="0">
            <a:spAutoFit/>
          </a:bodyPr>
          <a:lstStyle/>
          <a:p>
            <a:r>
              <a:rPr sz="1800" b="1" i="0">
                <a:solidFill>
                  <a:srgbClr val="E6E9F5"/>
                </a:solidFill>
                <a:latin typeface="Segoe UI"/>
              </a:rPr>
              <a:t>5. Fraud evaluation</a:t>
            </a:r>
          </a:p>
          <a:p>
            <a:r>
              <a:rPr sz="1300" b="0" i="0">
                <a:solidFill>
                  <a:srgbClr val="4C9FFE"/>
                </a:solidFill>
                <a:latin typeface="Consolas"/>
              </a:rPr>
              <a:t>child workflow</a:t>
            </a:r>
          </a:p>
        </p:txBody>
      </p:sp>
      <p:sp>
        <p:nvSpPr>
          <p:cNvPr id="16" name="Rounded Rectangle 15"/>
          <p:cNvSpPr/>
          <p:nvPr/>
        </p:nvSpPr>
        <p:spPr>
          <a:xfrm>
            <a:off x="7973568" y="2953512"/>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3099816"/>
            <a:ext cx="3136392" cy="822960"/>
          </a:xfrm>
          <a:prstGeom prst="rect">
            <a:avLst/>
          </a:prstGeom>
          <a:noFill/>
        </p:spPr>
        <p:txBody>
          <a:bodyPr wrap="square" anchor="t" lIns="0" rIns="0" tIns="0" bIns="0">
            <a:spAutoFit/>
          </a:bodyPr>
          <a:lstStyle/>
          <a:p>
            <a:r>
              <a:rPr sz="1800" b="1" i="0">
                <a:solidFill>
                  <a:srgbClr val="E6E9F5"/>
                </a:solidFill>
                <a:latin typeface="Segoe UI"/>
              </a:rPr>
              <a:t>6. Human review</a:t>
            </a:r>
          </a:p>
          <a:p>
            <a:r>
              <a:rPr sz="1300" b="0" i="0">
                <a:solidFill>
                  <a:srgbClr val="4C9FFE"/>
                </a:solidFill>
                <a:latin typeface="Consolas"/>
              </a:rPr>
              <a:t>signal · waits forever</a:t>
            </a:r>
          </a:p>
        </p:txBody>
      </p:sp>
      <p:sp>
        <p:nvSpPr>
          <p:cNvPr id="18" name="Rounded Rectangle 17"/>
          <p:cNvSpPr/>
          <p:nvPr/>
        </p:nvSpPr>
        <p:spPr>
          <a:xfrm>
            <a:off x="640080" y="4169664"/>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15968"/>
            <a:ext cx="3136392" cy="822960"/>
          </a:xfrm>
          <a:prstGeom prst="rect">
            <a:avLst/>
          </a:prstGeom>
          <a:noFill/>
        </p:spPr>
        <p:txBody>
          <a:bodyPr wrap="square" anchor="t" lIns="0" rIns="0" tIns="0" bIns="0">
            <a:spAutoFit/>
          </a:bodyPr>
          <a:lstStyle/>
          <a:p>
            <a:r>
              <a:rPr sz="1800" b="1" i="0">
                <a:solidFill>
                  <a:srgbClr val="E6E9F5"/>
                </a:solidFill>
                <a:latin typeface="Segoe UI"/>
              </a:rPr>
              <a:t>7. Decision</a:t>
            </a:r>
          </a:p>
          <a:p>
            <a:r>
              <a:rPr sz="1300" b="0" i="0">
                <a:solidFill>
                  <a:srgbClr val="4C9FFE"/>
                </a:solidFill>
                <a:latin typeface="Consolas"/>
              </a:rPr>
              <a:t>saga: release/reserve</a:t>
            </a:r>
          </a:p>
        </p:txBody>
      </p:sp>
      <p:sp>
        <p:nvSpPr>
          <p:cNvPr id="20" name="Rounded Rectangle 19"/>
          <p:cNvSpPr/>
          <p:nvPr/>
        </p:nvSpPr>
        <p:spPr>
          <a:xfrm>
            <a:off x="4306824" y="4169664"/>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9704" y="4315968"/>
            <a:ext cx="3136392" cy="822960"/>
          </a:xfrm>
          <a:prstGeom prst="rect">
            <a:avLst/>
          </a:prstGeom>
          <a:noFill/>
        </p:spPr>
        <p:txBody>
          <a:bodyPr wrap="square" anchor="t" lIns="0" rIns="0" tIns="0" bIns="0">
            <a:spAutoFit/>
          </a:bodyPr>
          <a:lstStyle/>
          <a:p>
            <a:r>
              <a:rPr sz="1800" b="1" i="0">
                <a:solidFill>
                  <a:srgbClr val="E6E9F5"/>
                </a:solidFill>
                <a:latin typeface="Segoe UI"/>
              </a:rPr>
              <a:t>8. Payment</a:t>
            </a:r>
          </a:p>
          <a:p>
            <a:r>
              <a:rPr sz="1300" b="0" i="0">
                <a:solidFill>
                  <a:srgbClr val="4C9FFE"/>
                </a:solidFill>
                <a:latin typeface="Consolas"/>
              </a:rPr>
              <a:t>durable timer + </a:t>
            </a:r>
            <a:r>
              <a:rPr sz="1300" b="1" i="0">
                <a:solidFill>
                  <a:srgbClr val="7C5CFF"/>
                </a:solidFill>
                <a:latin typeface="Consolas"/>
              </a:rPr>
              <a:t>activity</a:t>
            </a:r>
          </a:p>
        </p:txBody>
      </p:sp>
      <p:sp>
        <p:nvSpPr>
          <p:cNvPr id="22" name="Rounded Rectangle 21"/>
          <p:cNvSpPr/>
          <p:nvPr/>
        </p:nvSpPr>
        <p:spPr>
          <a:xfrm>
            <a:off x="7973568" y="4169664"/>
            <a:ext cx="3502152" cy="105156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4315968"/>
            <a:ext cx="3136392" cy="822960"/>
          </a:xfrm>
          <a:prstGeom prst="rect">
            <a:avLst/>
          </a:prstGeom>
          <a:noFill/>
        </p:spPr>
        <p:txBody>
          <a:bodyPr wrap="square" anchor="t" lIns="0" rIns="0" tIns="0" bIns="0">
            <a:spAutoFit/>
          </a:bodyPr>
          <a:lstStyle/>
          <a:p>
            <a:r>
              <a:rPr sz="1800" b="1" i="0">
                <a:solidFill>
                  <a:srgbClr val="E6E9F5"/>
                </a:solidFill>
                <a:latin typeface="Segoe UI"/>
              </a:rPr>
              <a:t>9. Completed</a:t>
            </a:r>
          </a:p>
          <a:p>
            <a:r>
              <a:rPr sz="1300" b="0" i="0">
                <a:solidFill>
                  <a:srgbClr val="4C9FFE"/>
                </a:solidFill>
                <a:latin typeface="Consolas"/>
              </a:rPr>
              <a:t>workflow result</a:t>
            </a:r>
          </a:p>
        </p:txBody>
      </p:sp>
      <p:sp>
        <p:nvSpPr>
          <p:cNvPr id="24" name="TextBox 23"/>
          <p:cNvSpPr txBox="1"/>
          <p:nvPr/>
        </p:nvSpPr>
        <p:spPr>
          <a:xfrm>
            <a:off x="640080" y="5257800"/>
            <a:ext cx="10515600" cy="1097280"/>
          </a:xfrm>
          <a:prstGeom prst="rect">
            <a:avLst/>
          </a:prstGeom>
          <a:noFill/>
        </p:spPr>
        <p:txBody>
          <a:bodyPr wrap="square" anchor="t" lIns="0" rIns="0" tIns="0" bIns="0">
            <a:spAutoFit/>
          </a:bodyPr>
          <a:lstStyle/>
          <a:p>
            <a:r>
              <a:rPr sz="1500" b="0" i="0">
                <a:solidFill>
                  <a:srgbClr val="9AA2C0"/>
                </a:solidFill>
                <a:latin typeface="Segoe UI"/>
              </a:rPr>
              <a:t>Every chip on this rail is a query result, live, from a running Temporal workflow.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ARCHITECTURE</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Inside the three packages</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691640"/>
            <a:ext cx="3444240" cy="3931920"/>
          </a:xfrm>
          <a:prstGeom prst="roundRect">
            <a:avLst>
              <a:gd name="adj" fmla="val 6000"/>
            </a:avLst>
          </a:prstGeom>
          <a:solidFill>
            <a:srgbClr val="141828"/>
          </a:solidFill>
          <a:ln w="12700">
            <a:solidFill>
              <a:srgbClr val="4C9F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01368"/>
            <a:ext cx="3115056" cy="457200"/>
          </a:xfrm>
          <a:prstGeom prst="rect">
            <a:avLst/>
          </a:prstGeom>
          <a:noFill/>
        </p:spPr>
        <p:txBody>
          <a:bodyPr wrap="square" anchor="t" lIns="0" rIns="0" tIns="0" bIns="0">
            <a:spAutoFit/>
          </a:bodyPr>
          <a:lstStyle/>
          <a:p>
            <a:r>
              <a:rPr sz="1200" b="1" i="0">
                <a:solidFill>
                  <a:srgbClr val="4C9FFE"/>
                </a:solidFill>
                <a:latin typeface="Segoe UI"/>
              </a:rPr>
              <a:t>WEB — DASHBOARD</a:t>
            </a:r>
          </a:p>
        </p:txBody>
      </p:sp>
      <p:sp>
        <p:nvSpPr>
          <p:cNvPr id="8" name="TextBox 7"/>
          <p:cNvSpPr txBox="1"/>
          <p:nvPr/>
        </p:nvSpPr>
        <p:spPr>
          <a:xfrm>
            <a:off x="841248" y="2258568"/>
            <a:ext cx="3078480" cy="3200400"/>
          </a:xfrm>
          <a:prstGeom prst="rect">
            <a:avLst/>
          </a:prstGeom>
          <a:noFill/>
        </p:spPr>
        <p:txBody>
          <a:bodyPr wrap="square" anchor="t" lIns="0" rIns="0" tIns="0" bIns="0">
            <a:spAutoFit/>
          </a:bodyPr>
          <a:lstStyle/>
          <a:p>
            <a:pPr>
              <a:lnSpc>
                <a:spcPct val="125000"/>
              </a:lnSpc>
            </a:pPr>
            <a:r>
              <a:rPr sz="1100" b="0" i="0">
                <a:solidFill>
                  <a:srgbClr val="E6E9F5"/>
                </a:solidFill>
                <a:latin typeface="Consolas"/>
              </a:rPr>
              <a:t>src/
├── pages/
│   ├── DashboardPage.tsx
│   └── ClaimDetailPage.tsx
├── components/
│   ├── StageTimeline.tsx
│   ├── ActionPanel.tsx
│   ├── SimulationPanel.tsx
│   └── …10 more
├── hooks/
│   ├── usePolling.ts
│   └── usePreferences.tsx
└── lib/
    ├── api.ts
    └── storage.ts</a:t>
            </a:r>
          </a:p>
        </p:txBody>
      </p:sp>
      <p:sp>
        <p:nvSpPr>
          <p:cNvPr id="9" name="Rounded Rectangle 8"/>
          <p:cNvSpPr/>
          <p:nvPr/>
        </p:nvSpPr>
        <p:spPr>
          <a:xfrm>
            <a:off x="4358640" y="1691640"/>
            <a:ext cx="3444240" cy="3931920"/>
          </a:xfrm>
          <a:prstGeom prst="roundRect">
            <a:avLst>
              <a:gd name="adj" fmla="val 6000"/>
            </a:avLst>
          </a:prstGeom>
          <a:solidFill>
            <a:srgbClr val="141828"/>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3232" y="1801368"/>
            <a:ext cx="3115056" cy="457200"/>
          </a:xfrm>
          <a:prstGeom prst="rect">
            <a:avLst/>
          </a:prstGeom>
          <a:noFill/>
        </p:spPr>
        <p:txBody>
          <a:bodyPr wrap="square" anchor="t" lIns="0" rIns="0" tIns="0" bIns="0">
            <a:spAutoFit/>
          </a:bodyPr>
          <a:lstStyle/>
          <a:p>
            <a:r>
              <a:rPr sz="1200" b="1" i="0">
                <a:solidFill>
                  <a:srgbClr val="7C5CFF"/>
                </a:solidFill>
                <a:latin typeface="Segoe UI"/>
              </a:rPr>
              <a:t>API — REST FACADE</a:t>
            </a:r>
          </a:p>
        </p:txBody>
      </p:sp>
      <p:sp>
        <p:nvSpPr>
          <p:cNvPr id="11" name="TextBox 10"/>
          <p:cNvSpPr txBox="1"/>
          <p:nvPr/>
        </p:nvSpPr>
        <p:spPr>
          <a:xfrm>
            <a:off x="4559808" y="2258568"/>
            <a:ext cx="3078480" cy="3200400"/>
          </a:xfrm>
          <a:prstGeom prst="rect">
            <a:avLst/>
          </a:prstGeom>
          <a:noFill/>
        </p:spPr>
        <p:txBody>
          <a:bodyPr wrap="square" anchor="t" lIns="0" rIns="0" tIns="0" bIns="0">
            <a:spAutoFit/>
          </a:bodyPr>
          <a:lstStyle/>
          <a:p>
            <a:pPr>
              <a:lnSpc>
                <a:spcPct val="125000"/>
              </a:lnSpc>
            </a:pPr>
            <a:r>
              <a:rPr sz="1100" b="0" i="0">
                <a:solidFill>
                  <a:srgbClr val="E6E9F5"/>
                </a:solidFill>
                <a:latin typeface="Consolas"/>
              </a:rPr>
              <a:t>src/
├── claims/
│   ├── claims.controller.ts
│   ├── claims.service.ts
│   ├── temporal.mappers.ts
│   └── dto.ts
├── temporal/
│   └── temporal.service.ts
├── system/
│   └── system.controller.ts
└── main.ts</a:t>
            </a:r>
          </a:p>
        </p:txBody>
      </p:sp>
      <p:sp>
        <p:nvSpPr>
          <p:cNvPr id="12" name="Rounded Rectangle 11"/>
          <p:cNvSpPr/>
          <p:nvPr/>
        </p:nvSpPr>
        <p:spPr>
          <a:xfrm>
            <a:off x="8077200" y="1691640"/>
            <a:ext cx="3444240" cy="3931920"/>
          </a:xfrm>
          <a:prstGeom prst="roundRect">
            <a:avLst>
              <a:gd name="adj" fmla="val 6000"/>
            </a:avLst>
          </a:prstGeom>
          <a:solidFill>
            <a:srgbClr val="141828"/>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1792" y="1801368"/>
            <a:ext cx="3115056" cy="457200"/>
          </a:xfrm>
          <a:prstGeom prst="rect">
            <a:avLst/>
          </a:prstGeom>
          <a:noFill/>
        </p:spPr>
        <p:txBody>
          <a:bodyPr wrap="square" anchor="t" lIns="0" rIns="0" tIns="0" bIns="0">
            <a:spAutoFit/>
          </a:bodyPr>
          <a:lstStyle/>
          <a:p>
            <a:r>
              <a:rPr sz="1200" b="1" i="0">
                <a:solidFill>
                  <a:srgbClr val="34D399"/>
                </a:solidFill>
                <a:latin typeface="Segoe UI"/>
              </a:rPr>
              <a:t>WORKER — WORKFLOWS &amp; ACTIVITIES</a:t>
            </a:r>
          </a:p>
        </p:txBody>
      </p:sp>
      <p:sp>
        <p:nvSpPr>
          <p:cNvPr id="14" name="TextBox 13"/>
          <p:cNvSpPr txBox="1"/>
          <p:nvPr/>
        </p:nvSpPr>
        <p:spPr>
          <a:xfrm>
            <a:off x="8278368" y="2258568"/>
            <a:ext cx="3078480" cy="3200400"/>
          </a:xfrm>
          <a:prstGeom prst="rect">
            <a:avLst/>
          </a:prstGeom>
          <a:noFill/>
        </p:spPr>
        <p:txBody>
          <a:bodyPr wrap="square" anchor="t" lIns="0" rIns="0" tIns="0" bIns="0">
            <a:spAutoFit/>
          </a:bodyPr>
          <a:lstStyle/>
          <a:p>
            <a:pPr>
              <a:lnSpc>
                <a:spcPct val="125000"/>
              </a:lnSpc>
            </a:pPr>
            <a:r>
              <a:rPr sz="1100" b="0" i="0">
                <a:solidFill>
                  <a:srgbClr val="E6E9F5"/>
                </a:solidFill>
                <a:latin typeface="Consolas"/>
              </a:rPr>
              <a:t>src/
├── workflows/
│   ├── claim.workflow.ts
│   └── fraud-check.workflow.ts
├── activities/
│   ├── claim/
│   │   ├── validate-claim.ts
│   │   ├── process-payment.ts
│   │   └── …8 more
│   ├── fraud/
│   │   ├── check-watchlists.ts
│   │   └── score-fraud-risk.ts
│   └── simulation.ts
├── temporal/
│   └── temporal-worker.service.ts
└── admin/
    └── admin.controller.ts</a:t>
            </a:r>
          </a:p>
        </p:txBody>
      </p:sp>
      <p:sp>
        <p:nvSpPr>
          <p:cNvPr id="15" name="TextBox 14"/>
          <p:cNvSpPr txBox="1"/>
          <p:nvPr/>
        </p:nvSpPr>
        <p:spPr>
          <a:xfrm>
            <a:off x="640080" y="5824728"/>
            <a:ext cx="10515600" cy="1097280"/>
          </a:xfrm>
          <a:prstGeom prst="rect">
            <a:avLst/>
          </a:prstGeom>
          <a:noFill/>
        </p:spPr>
        <p:txBody>
          <a:bodyPr wrap="square" anchor="t" lIns="0" rIns="0" tIns="0" bIns="0">
            <a:spAutoFit/>
          </a:bodyPr>
          <a:lstStyle/>
          <a:p>
            <a:r>
              <a:rPr sz="1400" b="0" i="0">
                <a:solidFill>
                  <a:srgbClr val="9AA2C0"/>
                </a:solidFill>
                <a:latin typeface="Segoe UI"/>
              </a:rPr>
              <a:t>packages/web, packages/api, packages/worker — plus packages/shared for the request/response types, stage definitions and progress math every package imports, none of them redefine.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CODE → OBSERVABILITY, FOR FREE</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Three activity calls. One real execution timeline.</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1979676" y="1463040"/>
            <a:ext cx="8229600" cy="2788920"/>
          </a:xfrm>
          <a:prstGeom prst="roundRect">
            <a:avLst>
              <a:gd name="adj" fmla="val 6000"/>
            </a:avLst>
          </a:prstGeom>
          <a:solidFill>
            <a:srgbClr val="0D1020"/>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979676" y="1463040"/>
            <a:ext cx="8229600" cy="365760"/>
          </a:xfrm>
          <a:prstGeom prst="roundRect">
            <a:avLst/>
          </a:prstGeom>
          <a:solidFill>
            <a:srgbClr val="151934"/>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6836" y="1517904"/>
            <a:ext cx="7955280" cy="274320"/>
          </a:xfrm>
          <a:prstGeom prst="rect">
            <a:avLst/>
          </a:prstGeom>
          <a:noFill/>
        </p:spPr>
        <p:txBody>
          <a:bodyPr wrap="square" anchor="t" lIns="0" rIns="0" tIns="0" bIns="0">
            <a:spAutoFit/>
          </a:bodyPr>
          <a:lstStyle/>
          <a:p>
            <a:r>
              <a:rPr sz="1000" b="0" i="0">
                <a:solidFill>
                  <a:srgbClr val="9AA2C0"/>
                </a:solidFill>
                <a:latin typeface="Consolas"/>
              </a:rPr>
              <a:t>●  ●  ●    fraud-check.workflow.ts — simplified</a:t>
            </a:r>
          </a:p>
        </p:txBody>
      </p:sp>
      <p:sp>
        <p:nvSpPr>
          <p:cNvPr id="9" name="TextBox 8"/>
          <p:cNvSpPr txBox="1"/>
          <p:nvPr/>
        </p:nvSpPr>
        <p:spPr>
          <a:xfrm>
            <a:off x="2162556" y="1965960"/>
            <a:ext cx="7863840" cy="2103120"/>
          </a:xfrm>
          <a:prstGeom prst="rect">
            <a:avLst/>
          </a:prstGeom>
          <a:noFill/>
        </p:spPr>
        <p:txBody>
          <a:bodyPr wrap="square" anchor="t" lIns="0" rIns="0" tIns="0" bIns="0">
            <a:spAutoFit/>
          </a:bodyPr>
          <a:lstStyle/>
          <a:p>
            <a:pPr>
              <a:lnSpc>
                <a:spcPct val="130000"/>
              </a:lnSpc>
            </a:pPr>
            <a:r>
              <a:rPr sz="1200" b="0" i="0">
                <a:solidFill>
                  <a:srgbClr val="D6DCF5"/>
                </a:solidFill>
                <a:latin typeface="Consolas"/>
              </a:rPr>
              <a:t>const { </a:t>
            </a:r>
            <a:r>
              <a:rPr sz="1200" b="1" i="0">
                <a:solidFill>
                  <a:srgbClr val="4C9FFE"/>
                </a:solidFill>
                <a:latin typeface="Consolas"/>
              </a:rPr>
              <a:t>checkClaimHistory</a:t>
            </a:r>
            <a:r>
              <a:rPr sz="1200" b="0" i="0">
                <a:solidFill>
                  <a:srgbClr val="D6DCF5"/>
                </a:solidFill>
                <a:latin typeface="Consolas"/>
              </a:rPr>
              <a:t>, </a:t>
            </a:r>
            <a:r>
              <a:rPr sz="1200" b="1" i="0">
                <a:solidFill>
                  <a:srgbClr val="4C9FFE"/>
                </a:solidFill>
                <a:latin typeface="Consolas"/>
              </a:rPr>
              <a:t>checkWatchlists</a:t>
            </a:r>
            <a:r>
              <a:rPr sz="1200" b="0" i="0">
                <a:solidFill>
                  <a:srgbClr val="D6DCF5"/>
                </a:solidFill>
                <a:latin typeface="Consolas"/>
              </a:rPr>
              <a:t>, </a:t>
            </a:r>
            <a:r>
              <a:rPr sz="1200" b="1" i="0">
                <a:solidFill>
                  <a:srgbClr val="4C9FFE"/>
                </a:solidFill>
                <a:latin typeface="Consolas"/>
              </a:rPr>
              <a:t>scoreFraudRisk</a:t>
            </a:r>
            <a:r>
              <a:rPr sz="1200" b="0" i="0">
                <a:solidFill>
                  <a:srgbClr val="D6DCF5"/>
                </a:solidFill>
                <a:latin typeface="Consolas"/>
              </a:rPr>
              <a:t> } =
  proxyActivities&lt;typeof activities&gt;({ ...retryPolicy });
export async function </a:t>
            </a:r>
            <a:r>
              <a:rPr sz="1200" b="1" i="0">
                <a:solidFill>
                  <a:srgbClr val="4C9FFE"/>
                </a:solidFill>
                <a:latin typeface="Consolas"/>
              </a:rPr>
              <a:t>fraudCheckWorkflow</a:t>
            </a:r>
            <a:r>
              <a:rPr sz="1200" b="0" i="0">
                <a:solidFill>
                  <a:srgbClr val="D6DCF5"/>
                </a:solidFill>
                <a:latin typeface="Consolas"/>
              </a:rPr>
              <a:t>(input: ClaimInput) {
  const [history, watchlist] = await Promise.all([
    </a:t>
            </a:r>
            <a:r>
              <a:rPr sz="1200" b="1" i="0">
                <a:solidFill>
                  <a:srgbClr val="4C9FFE"/>
                </a:solidFill>
                <a:latin typeface="Consolas"/>
              </a:rPr>
              <a:t>checkClaimHistory</a:t>
            </a:r>
            <a:r>
              <a:rPr sz="1200" b="0" i="0">
                <a:solidFill>
                  <a:srgbClr val="D6DCF5"/>
                </a:solidFill>
                <a:latin typeface="Consolas"/>
              </a:rPr>
              <a:t>(input),
    </a:t>
            </a:r>
            <a:r>
              <a:rPr sz="1200" b="1" i="0">
                <a:solidFill>
                  <a:srgbClr val="4C9FFE"/>
                </a:solidFill>
                <a:latin typeface="Consolas"/>
              </a:rPr>
              <a:t>checkWatchlists</a:t>
            </a:r>
            <a:r>
              <a:rPr sz="1200" b="0" i="0">
                <a:solidFill>
                  <a:srgbClr val="D6DCF5"/>
                </a:solidFill>
                <a:latin typeface="Consolas"/>
              </a:rPr>
              <a:t>(input),
  ]);
  return await </a:t>
            </a:r>
            <a:r>
              <a:rPr sz="1200" b="1" i="0">
                <a:solidFill>
                  <a:srgbClr val="4C9FFE"/>
                </a:solidFill>
                <a:latin typeface="Consolas"/>
              </a:rPr>
              <a:t>scoreFraudRisk</a:t>
            </a:r>
            <a:r>
              <a:rPr sz="1200" b="0" i="0">
                <a:solidFill>
                  <a:srgbClr val="D6DCF5"/>
                </a:solidFill>
                <a:latin typeface="Consolas"/>
              </a:rPr>
              <a:t>(input.claimId, [...history, ...watchlist]);
}</a:t>
            </a:r>
          </a:p>
        </p:txBody>
      </p:sp>
      <p:sp>
        <p:nvSpPr>
          <p:cNvPr id="10" name="Rounded Rectangle 9"/>
          <p:cNvSpPr/>
          <p:nvPr/>
        </p:nvSpPr>
        <p:spPr>
          <a:xfrm>
            <a:off x="1979676" y="4343400"/>
            <a:ext cx="8229600" cy="1463040"/>
          </a:xfrm>
          <a:prstGeom prst="roundRect">
            <a:avLst>
              <a:gd name="adj" fmla="val 6000"/>
            </a:avLst>
          </a:prstGeom>
          <a:solidFill>
            <a:srgbClr val="0D1020"/>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79676" y="4343400"/>
            <a:ext cx="8229600" cy="365760"/>
          </a:xfrm>
          <a:prstGeom prst="roundRect">
            <a:avLst/>
          </a:prstGeom>
          <a:solidFill>
            <a:srgbClr val="151934"/>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16836" y="4398264"/>
            <a:ext cx="7955280" cy="274320"/>
          </a:xfrm>
          <a:prstGeom prst="rect">
            <a:avLst/>
          </a:prstGeom>
          <a:noFill/>
        </p:spPr>
        <p:txBody>
          <a:bodyPr wrap="square" anchor="t" lIns="0" rIns="0" tIns="0" bIns="0">
            <a:spAutoFit/>
          </a:bodyPr>
          <a:lstStyle/>
          <a:p>
            <a:r>
              <a:rPr sz="1000" b="0" i="0">
                <a:solidFill>
                  <a:srgbClr val="9AA2C0"/>
                </a:solidFill>
                <a:latin typeface="Consolas"/>
              </a:rPr>
              <a:t>●  ●  ●    Temporal Web UI — Timeline tab</a:t>
            </a:r>
          </a:p>
        </p:txBody>
      </p:sp>
      <p:pic>
        <p:nvPicPr>
          <p:cNvPr id="13" name="Picture 12" descr="temporal-timeline-fraud-example.png"/>
          <p:cNvPicPr>
            <a:picLocks noChangeAspect="1"/>
          </p:cNvPicPr>
          <p:nvPr/>
        </p:nvPicPr>
        <p:blipFill>
          <a:blip r:embed="rId3"/>
          <a:stretch>
            <a:fillRect/>
          </a:stretch>
        </p:blipFill>
        <p:spPr>
          <a:xfrm>
            <a:off x="4519073" y="4800600"/>
            <a:ext cx="3150805" cy="868680"/>
          </a:xfrm>
          <a:prstGeom prst="rect">
            <a:avLst/>
          </a:prstGeom>
        </p:spPr>
      </p:pic>
      <p:sp>
        <p:nvSpPr>
          <p:cNvPr id="14" name="TextBox 13"/>
          <p:cNvSpPr txBox="1"/>
          <p:nvPr/>
        </p:nvSpPr>
        <p:spPr>
          <a:xfrm>
            <a:off x="640080" y="5989320"/>
            <a:ext cx="10515600" cy="1097280"/>
          </a:xfrm>
          <a:prstGeom prst="rect">
            <a:avLst/>
          </a:prstGeom>
          <a:noFill/>
        </p:spPr>
        <p:txBody>
          <a:bodyPr wrap="square" anchor="t" lIns="0" rIns="0" tIns="0" bIns="0">
            <a:spAutoFit/>
          </a:bodyPr>
          <a:lstStyle/>
          <a:p>
            <a:r>
              <a:rPr sz="1400" b="0" i="0">
                <a:solidFill>
                  <a:srgbClr val="9AA2C0"/>
                </a:solidFill>
                <a:latin typeface="Segoe UI"/>
              </a:rPr>
              <a:t>No custom logging, no tracing setup, no dashboard to build — every activity call at the top shows up as a bar at the bottom the moment it runs.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TEMPORAL BINGO CARD</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What's actually demonstrated</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75104"/>
            <a:ext cx="3041904" cy="914400"/>
          </a:xfrm>
          <a:prstGeom prst="rect">
            <a:avLst/>
          </a:prstGeom>
          <a:noFill/>
        </p:spPr>
        <p:txBody>
          <a:bodyPr wrap="square" anchor="t" lIns="0" rIns="0" tIns="0" bIns="0">
            <a:spAutoFit/>
          </a:bodyPr>
          <a:lstStyle/>
          <a:p>
            <a:r>
              <a:rPr sz="1200" b="1" i="0">
                <a:solidFill>
                  <a:srgbClr val="34D399"/>
                </a:solidFill>
                <a:latin typeface="Segoe UI"/>
              </a:rPr>
              <a:t>RETRY POLICIES</a:t>
            </a:r>
          </a:p>
          <a:p>
            <a:pPr>
              <a:spcBef>
                <a:spcPts val="600"/>
              </a:spcBef>
            </a:pPr>
            <a:r>
              <a:rPr sz="1300" b="0" i="0">
                <a:solidFill>
                  <a:srgbClr val="9AA2C0"/>
                </a:solidFill>
                <a:latin typeface="Segoe UI"/>
              </a:rPr>
              <a:t>per-stage, configurable backoff</a:t>
            </a:r>
          </a:p>
        </p:txBody>
      </p:sp>
      <p:sp>
        <p:nvSpPr>
          <p:cNvPr id="8" name="Rounded Rectangle 7"/>
          <p:cNvSpPr/>
          <p:nvPr/>
        </p:nvSpPr>
        <p:spPr>
          <a:xfrm>
            <a:off x="4358640" y="182880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9808" y="1975104"/>
            <a:ext cx="3041904" cy="914400"/>
          </a:xfrm>
          <a:prstGeom prst="rect">
            <a:avLst/>
          </a:prstGeom>
          <a:noFill/>
        </p:spPr>
        <p:txBody>
          <a:bodyPr wrap="square" anchor="t" lIns="0" rIns="0" tIns="0" bIns="0">
            <a:spAutoFit/>
          </a:bodyPr>
          <a:lstStyle/>
          <a:p>
            <a:r>
              <a:rPr sz="1200" b="1" i="0">
                <a:solidFill>
                  <a:srgbClr val="F87171"/>
                </a:solidFill>
                <a:latin typeface="Segoe UI"/>
              </a:rPr>
              <a:t>NON-RETRYABLE FAILURES</a:t>
            </a:r>
          </a:p>
          <a:p>
            <a:pPr>
              <a:spcBef>
                <a:spcPts val="600"/>
              </a:spcBef>
            </a:pPr>
            <a:r>
              <a:rPr sz="1300" b="0" i="0">
                <a:solidFill>
                  <a:srgbClr val="9AA2C0"/>
                </a:solidFill>
                <a:latin typeface="Segoe UI"/>
              </a:rPr>
              <a:t>permanent errors stop cleanly</a:t>
            </a:r>
          </a:p>
        </p:txBody>
      </p:sp>
      <p:sp>
        <p:nvSpPr>
          <p:cNvPr id="10" name="Rounded Rectangle 9"/>
          <p:cNvSpPr/>
          <p:nvPr/>
        </p:nvSpPr>
        <p:spPr>
          <a:xfrm>
            <a:off x="8077200" y="182880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8368" y="1975104"/>
            <a:ext cx="3041904" cy="914400"/>
          </a:xfrm>
          <a:prstGeom prst="rect">
            <a:avLst/>
          </a:prstGeom>
          <a:noFill/>
        </p:spPr>
        <p:txBody>
          <a:bodyPr wrap="square" anchor="t" lIns="0" rIns="0" tIns="0" bIns="0">
            <a:spAutoFit/>
          </a:bodyPr>
          <a:lstStyle/>
          <a:p>
            <a:r>
              <a:rPr sz="1200" b="1" i="0">
                <a:solidFill>
                  <a:srgbClr val="38BDF8"/>
                </a:solidFill>
                <a:latin typeface="Segoe UI"/>
              </a:rPr>
              <a:t>DURABLE TIMERS</a:t>
            </a:r>
          </a:p>
          <a:p>
            <a:pPr>
              <a:spcBef>
                <a:spcPts val="600"/>
              </a:spcBef>
            </a:pPr>
            <a:r>
              <a:rPr sz="1300" b="0" i="0">
                <a:solidFill>
                  <a:srgbClr val="9AA2C0"/>
                </a:solidFill>
                <a:latin typeface="Segoe UI"/>
              </a:rPr>
              <a:t>settlement hold + reminder loop</a:t>
            </a:r>
          </a:p>
        </p:txBody>
      </p:sp>
      <p:sp>
        <p:nvSpPr>
          <p:cNvPr id="12" name="Rounded Rectangle 11"/>
          <p:cNvSpPr/>
          <p:nvPr/>
        </p:nvSpPr>
        <p:spPr>
          <a:xfrm>
            <a:off x="640080" y="329184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438144"/>
            <a:ext cx="3041904" cy="914400"/>
          </a:xfrm>
          <a:prstGeom prst="rect">
            <a:avLst/>
          </a:prstGeom>
          <a:noFill/>
        </p:spPr>
        <p:txBody>
          <a:bodyPr wrap="square" anchor="t" lIns="0" rIns="0" tIns="0" bIns="0">
            <a:spAutoFit/>
          </a:bodyPr>
          <a:lstStyle/>
          <a:p>
            <a:r>
              <a:rPr sz="1200" b="1" i="0">
                <a:solidFill>
                  <a:srgbClr val="7C5CFF"/>
                </a:solidFill>
                <a:latin typeface="Segoe UI"/>
              </a:rPr>
              <a:t>CHILD WORKFLOW</a:t>
            </a:r>
          </a:p>
          <a:p>
            <a:pPr>
              <a:spcBef>
                <a:spcPts val="600"/>
              </a:spcBef>
            </a:pPr>
            <a:r>
              <a:rPr sz="1300" b="0" i="0">
                <a:solidFill>
                  <a:srgbClr val="9AA2C0"/>
                </a:solidFill>
                <a:latin typeface="Segoe UI"/>
              </a:rPr>
              <a:t>fraud check, own history</a:t>
            </a:r>
          </a:p>
        </p:txBody>
      </p:sp>
      <p:sp>
        <p:nvSpPr>
          <p:cNvPr id="14" name="Rounded Rectangle 13"/>
          <p:cNvSpPr/>
          <p:nvPr/>
        </p:nvSpPr>
        <p:spPr>
          <a:xfrm>
            <a:off x="4358640" y="329184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3438144"/>
            <a:ext cx="3041904" cy="914400"/>
          </a:xfrm>
          <a:prstGeom prst="rect">
            <a:avLst/>
          </a:prstGeom>
          <a:noFill/>
        </p:spPr>
        <p:txBody>
          <a:bodyPr wrap="square" anchor="t" lIns="0" rIns="0" tIns="0" bIns="0">
            <a:spAutoFit/>
          </a:bodyPr>
          <a:lstStyle/>
          <a:p>
            <a:r>
              <a:rPr sz="1200" b="1" i="0">
                <a:solidFill>
                  <a:srgbClr val="38BDF8"/>
                </a:solidFill>
                <a:latin typeface="Segoe UI"/>
              </a:rPr>
              <a:t>SIGNALS</a:t>
            </a:r>
          </a:p>
          <a:p>
            <a:pPr>
              <a:spcBef>
                <a:spcPts val="600"/>
              </a:spcBef>
            </a:pPr>
            <a:r>
              <a:rPr sz="1300" b="0" i="0">
                <a:solidFill>
                  <a:srgbClr val="9AA2C0"/>
                </a:solidFill>
                <a:latin typeface="Segoe UI"/>
              </a:rPr>
              <a:t>approve / deny / info / recover</a:t>
            </a:r>
          </a:p>
        </p:txBody>
      </p:sp>
      <p:sp>
        <p:nvSpPr>
          <p:cNvPr id="16" name="Rounded Rectangle 15"/>
          <p:cNvSpPr/>
          <p:nvPr/>
        </p:nvSpPr>
        <p:spPr>
          <a:xfrm>
            <a:off x="8077200" y="329184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8368" y="3438144"/>
            <a:ext cx="3041904" cy="914400"/>
          </a:xfrm>
          <a:prstGeom prst="rect">
            <a:avLst/>
          </a:prstGeom>
          <a:noFill/>
        </p:spPr>
        <p:txBody>
          <a:bodyPr wrap="square" anchor="t" lIns="0" rIns="0" tIns="0" bIns="0">
            <a:spAutoFit/>
          </a:bodyPr>
          <a:lstStyle/>
          <a:p>
            <a:r>
              <a:rPr sz="1200" b="1" i="0">
                <a:solidFill>
                  <a:srgbClr val="4C9FFE"/>
                </a:solidFill>
                <a:latin typeface="Segoe UI"/>
              </a:rPr>
              <a:t>QUERIES</a:t>
            </a:r>
          </a:p>
          <a:p>
            <a:pPr>
              <a:spcBef>
                <a:spcPts val="600"/>
              </a:spcBef>
            </a:pPr>
            <a:r>
              <a:rPr sz="1300" b="0" i="0">
                <a:solidFill>
                  <a:srgbClr val="9AA2C0"/>
                </a:solidFill>
                <a:latin typeface="Segoe UI"/>
              </a:rPr>
              <a:t>live state + progress %</a:t>
            </a:r>
          </a:p>
        </p:txBody>
      </p:sp>
      <p:sp>
        <p:nvSpPr>
          <p:cNvPr id="18" name="Rounded Rectangle 17"/>
          <p:cNvSpPr/>
          <p:nvPr/>
        </p:nvSpPr>
        <p:spPr>
          <a:xfrm>
            <a:off x="640080" y="475488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901184"/>
            <a:ext cx="3041904" cy="914400"/>
          </a:xfrm>
          <a:prstGeom prst="rect">
            <a:avLst/>
          </a:prstGeom>
          <a:noFill/>
        </p:spPr>
        <p:txBody>
          <a:bodyPr wrap="square" anchor="t" lIns="0" rIns="0" tIns="0" bIns="0">
            <a:spAutoFit/>
          </a:bodyPr>
          <a:lstStyle/>
          <a:p>
            <a:r>
              <a:rPr sz="1200" b="1" i="0">
                <a:solidFill>
                  <a:srgbClr val="4C9FFE"/>
                </a:solidFill>
                <a:latin typeface="Segoe UI"/>
              </a:rPr>
              <a:t>UPDATE + VALIDATOR</a:t>
            </a:r>
          </a:p>
          <a:p>
            <a:pPr>
              <a:spcBef>
                <a:spcPts val="600"/>
              </a:spcBef>
            </a:pPr>
            <a:r>
              <a:rPr sz="1300" b="0" i="0">
                <a:solidFill>
                  <a:srgbClr val="9AA2C0"/>
                </a:solidFill>
                <a:latin typeface="Segoe UI"/>
              </a:rPr>
              <a:t>adjuster notes, rejected inline</a:t>
            </a:r>
          </a:p>
        </p:txBody>
      </p:sp>
      <p:sp>
        <p:nvSpPr>
          <p:cNvPr id="20" name="Rounded Rectangle 19"/>
          <p:cNvSpPr/>
          <p:nvPr/>
        </p:nvSpPr>
        <p:spPr>
          <a:xfrm>
            <a:off x="4358640" y="475488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9808" y="4901184"/>
            <a:ext cx="3041904" cy="914400"/>
          </a:xfrm>
          <a:prstGeom prst="rect">
            <a:avLst/>
          </a:prstGeom>
          <a:noFill/>
        </p:spPr>
        <p:txBody>
          <a:bodyPr wrap="square" anchor="t" lIns="0" rIns="0" tIns="0" bIns="0">
            <a:spAutoFit/>
          </a:bodyPr>
          <a:lstStyle/>
          <a:p>
            <a:r>
              <a:rPr sz="1200" b="1" i="0">
                <a:solidFill>
                  <a:srgbClr val="FBBF24"/>
                </a:solidFill>
                <a:latin typeface="Segoe UI"/>
              </a:rPr>
              <a:t>CANCELLATION</a:t>
            </a:r>
          </a:p>
          <a:p>
            <a:pPr>
              <a:spcBef>
                <a:spcPts val="600"/>
              </a:spcBef>
            </a:pPr>
            <a:r>
              <a:rPr sz="1300" b="0" i="0">
                <a:solidFill>
                  <a:srgbClr val="9AA2C0"/>
                </a:solidFill>
                <a:latin typeface="Segoe UI"/>
              </a:rPr>
              <a:t>saga-style compensation</a:t>
            </a:r>
          </a:p>
        </p:txBody>
      </p:sp>
      <p:sp>
        <p:nvSpPr>
          <p:cNvPr id="22" name="Rounded Rectangle 21"/>
          <p:cNvSpPr/>
          <p:nvPr/>
        </p:nvSpPr>
        <p:spPr>
          <a:xfrm>
            <a:off x="8077200" y="475488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8368" y="4901184"/>
            <a:ext cx="3041904" cy="914400"/>
          </a:xfrm>
          <a:prstGeom prst="rect">
            <a:avLst/>
          </a:prstGeom>
          <a:noFill/>
        </p:spPr>
        <p:txBody>
          <a:bodyPr wrap="square" anchor="t" lIns="0" rIns="0" tIns="0" bIns="0">
            <a:spAutoFit/>
          </a:bodyPr>
          <a:lstStyle/>
          <a:p>
            <a:r>
              <a:rPr sz="1200" b="1" i="0">
                <a:solidFill>
                  <a:srgbClr val="4C9FFE"/>
                </a:solidFill>
                <a:latin typeface="Segoe UI"/>
              </a:rPr>
              <a:t>SEARCH ATTRIBUTES</a:t>
            </a:r>
          </a:p>
          <a:p>
            <a:pPr>
              <a:spcBef>
                <a:spcPts val="600"/>
              </a:spcBef>
            </a:pPr>
            <a:r>
              <a:rPr sz="1300" b="0" i="0">
                <a:solidFill>
                  <a:srgbClr val="9AA2C0"/>
                </a:solidFill>
                <a:latin typeface="Segoe UI"/>
              </a:rPr>
              <a:t>find claims by status/type/score</a:t>
            </a:r>
          </a:p>
        </p:txBody>
      </p:sp>
      <p:sp>
        <p:nvSpPr>
          <p:cNvPr id="24" name="Rounded Rectangle 23"/>
          <p:cNvSpPr/>
          <p:nvPr/>
        </p:nvSpPr>
        <p:spPr>
          <a:xfrm>
            <a:off x="640080" y="621792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6364224"/>
            <a:ext cx="3041904" cy="914400"/>
          </a:xfrm>
          <a:prstGeom prst="rect">
            <a:avLst/>
          </a:prstGeom>
          <a:noFill/>
        </p:spPr>
        <p:txBody>
          <a:bodyPr wrap="square" anchor="t" lIns="0" rIns="0" tIns="0" bIns="0">
            <a:spAutoFit/>
          </a:bodyPr>
          <a:lstStyle/>
          <a:p>
            <a:r>
              <a:rPr sz="1200" b="1" i="0">
                <a:solidFill>
                  <a:srgbClr val="34D399"/>
                </a:solidFill>
                <a:latin typeface="Segoe UI"/>
              </a:rPr>
              <a:t>WORKER-RESTART DURABILITY</a:t>
            </a:r>
          </a:p>
          <a:p>
            <a:pPr>
              <a:spcBef>
                <a:spcPts val="600"/>
              </a:spcBef>
            </a:pPr>
            <a:r>
              <a:rPr sz="1300" b="0" i="0">
                <a:solidFill>
                  <a:srgbClr val="9AA2C0"/>
                </a:solidFill>
                <a:latin typeface="Segoe UI"/>
              </a:rPr>
              <a:t>kill it mid-claim, resume</a:t>
            </a:r>
          </a:p>
        </p:txBody>
      </p:sp>
      <p:sp>
        <p:nvSpPr>
          <p:cNvPr id="26" name="Rounded Rectangle 25"/>
          <p:cNvSpPr/>
          <p:nvPr/>
        </p:nvSpPr>
        <p:spPr>
          <a:xfrm>
            <a:off x="4358640" y="621792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59808" y="6364224"/>
            <a:ext cx="3041904" cy="914400"/>
          </a:xfrm>
          <a:prstGeom prst="rect">
            <a:avLst/>
          </a:prstGeom>
          <a:noFill/>
        </p:spPr>
        <p:txBody>
          <a:bodyPr wrap="square" anchor="t" lIns="0" rIns="0" tIns="0" bIns="0">
            <a:spAutoFit/>
          </a:bodyPr>
          <a:lstStyle/>
          <a:p>
            <a:r>
              <a:rPr sz="1200" b="1" i="0">
                <a:solidFill>
                  <a:srgbClr val="4C9FFE"/>
                </a:solidFill>
                <a:latin typeface="Segoe UI"/>
              </a:rPr>
              <a:t>HEARTBEATS</a:t>
            </a:r>
          </a:p>
          <a:p>
            <a:pPr>
              <a:spcBef>
                <a:spcPts val="600"/>
              </a:spcBef>
            </a:pPr>
            <a:r>
              <a:rPr sz="1300" b="0" i="0">
                <a:solidFill>
                  <a:srgbClr val="9AA2C0"/>
                </a:solidFill>
                <a:latin typeface="Segoe UI"/>
              </a:rPr>
              <a:t>cancellable long-running activity</a:t>
            </a:r>
          </a:p>
        </p:txBody>
      </p:sp>
      <p:sp>
        <p:nvSpPr>
          <p:cNvPr id="28" name="Rounded Rectangle 27"/>
          <p:cNvSpPr/>
          <p:nvPr/>
        </p:nvSpPr>
        <p:spPr>
          <a:xfrm>
            <a:off x="8077200" y="6217920"/>
            <a:ext cx="3444240" cy="118872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8368" y="6364224"/>
            <a:ext cx="3041904" cy="914400"/>
          </a:xfrm>
          <a:prstGeom prst="rect">
            <a:avLst/>
          </a:prstGeom>
          <a:noFill/>
        </p:spPr>
        <p:txBody>
          <a:bodyPr wrap="square" anchor="t" lIns="0" rIns="0" tIns="0" bIns="0">
            <a:spAutoFit/>
          </a:bodyPr>
          <a:lstStyle/>
          <a:p>
            <a:r>
              <a:rPr sz="1200" b="1" i="0">
                <a:solidFill>
                  <a:srgbClr val="F87171"/>
                </a:solidFill>
                <a:latin typeface="Segoe UI"/>
              </a:rPr>
              <a:t>NO DATABASE</a:t>
            </a:r>
          </a:p>
          <a:p>
            <a:pPr>
              <a:spcBef>
                <a:spcPts val="600"/>
              </a:spcBef>
            </a:pPr>
            <a:r>
              <a:rPr sz="1300" b="0" i="0">
                <a:solidFill>
                  <a:srgbClr val="9AA2C0"/>
                </a:solidFill>
                <a:latin typeface="Segoe UI"/>
              </a:rPr>
              <a:t>Temporal is the only state store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3657600" cy="1463040"/>
          </a:xfrm>
          <a:prstGeom prst="rect">
            <a:avLst/>
          </a:prstGeom>
          <a:noFill/>
        </p:spPr>
        <p:txBody>
          <a:bodyPr wrap="square" anchor="t" lIns="0" rIns="0" tIns="0" bIns="0">
            <a:spAutoFit/>
          </a:bodyPr>
          <a:lstStyle/>
          <a:p>
            <a:r>
              <a:rPr sz="7200" b="1" i="0">
                <a:solidFill>
                  <a:srgbClr val="7C5CFF"/>
                </a:solidFill>
                <a:latin typeface="Consolas"/>
              </a:rPr>
              <a:t>03</a:t>
            </a:r>
          </a:p>
        </p:txBody>
      </p:sp>
      <p:sp>
        <p:nvSpPr>
          <p:cNvPr id="4" name="TextBox 3"/>
          <p:cNvSpPr txBox="1"/>
          <p:nvPr/>
        </p:nvSpPr>
        <p:spPr>
          <a:xfrm>
            <a:off x="822960" y="3383280"/>
            <a:ext cx="8686800" cy="1005840"/>
          </a:xfrm>
          <a:prstGeom prst="rect">
            <a:avLst/>
          </a:prstGeom>
          <a:noFill/>
        </p:spPr>
        <p:txBody>
          <a:bodyPr wrap="square" anchor="t" lIns="0" rIns="0" tIns="0" bIns="0">
            <a:spAutoFit/>
          </a:bodyPr>
          <a:lstStyle/>
          <a:p>
            <a:r>
              <a:rPr sz="4000" b="1" i="0">
                <a:solidFill>
                  <a:srgbClr val="E6E9F5"/>
                </a:solidFill>
                <a:latin typeface="Segoe UI"/>
              </a:rPr>
              <a:t>Let's See It Run</a:t>
            </a:r>
          </a:p>
        </p:txBody>
      </p:sp>
      <p:sp>
        <p:nvSpPr>
          <p:cNvPr id="5" name="TextBox 4"/>
          <p:cNvSpPr txBox="1"/>
          <p:nvPr/>
        </p:nvSpPr>
        <p:spPr>
          <a:xfrm>
            <a:off x="822960" y="4206240"/>
            <a:ext cx="6858000" cy="914400"/>
          </a:xfrm>
          <a:prstGeom prst="rect">
            <a:avLst/>
          </a:prstGeom>
          <a:noFill/>
        </p:spPr>
        <p:txBody>
          <a:bodyPr wrap="square" anchor="t" lIns="0" rIns="0" tIns="0" bIns="0">
            <a:spAutoFit/>
          </a:bodyPr>
          <a:lstStyle/>
          <a:p>
            <a:r>
              <a:rPr sz="1700" b="0" i="0">
                <a:solidFill>
                  <a:srgbClr val="9AA2C0"/>
                </a:solidFill>
                <a:latin typeface="Segoe UI"/>
              </a:rPr>
              <a:t>Real failures. Real recovery.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011680" cy="457200"/>
          </a:xfrm>
          <a:prstGeom prst="rect">
            <a:avLst/>
          </a:prstGeom>
          <a:noFill/>
        </p:spPr>
        <p:txBody>
          <a:bodyPr wrap="square" anchor="t" lIns="0" rIns="0" tIns="0" bIns="0">
            <a:spAutoFit/>
          </a:bodyPr>
          <a:lstStyle/>
          <a:p>
            <a:r>
              <a:rPr sz="1300" b="1" i="0">
                <a:solidFill>
                  <a:srgbClr val="7C5CFF"/>
                </a:solidFill>
                <a:latin typeface="Segoe UI"/>
              </a:rPr>
              <a:t>DEMO 1 / 6</a:t>
            </a:r>
          </a:p>
        </p:txBody>
      </p:sp>
      <p:sp>
        <p:nvSpPr>
          <p:cNvPr id="4" name="TextBox 3"/>
          <p:cNvSpPr txBox="1"/>
          <p:nvPr/>
        </p:nvSpPr>
        <p:spPr>
          <a:xfrm>
            <a:off x="2743200" y="411480"/>
            <a:ext cx="8778240" cy="640080"/>
          </a:xfrm>
          <a:prstGeom prst="rect">
            <a:avLst/>
          </a:prstGeom>
          <a:noFill/>
        </p:spPr>
        <p:txBody>
          <a:bodyPr wrap="square" anchor="t" lIns="0" rIns="0" tIns="0" bIns="0">
            <a:spAutoFit/>
          </a:bodyPr>
          <a:lstStyle/>
          <a:p>
            <a:r>
              <a:rPr sz="2800" b="1" i="0">
                <a:solidFill>
                  <a:srgbClr val="E6E9F5"/>
                </a:solidFill>
                <a:latin typeface="Segoe UI"/>
              </a:rPr>
              <a:t>Submit a claim, watch it run</a:t>
            </a:r>
          </a:p>
        </p:txBody>
      </p:sp>
      <p:sp>
        <p:nvSpPr>
          <p:cNvPr id="5" name="Rounded Rectangle 4"/>
          <p:cNvSpPr/>
          <p:nvPr/>
        </p:nvSpPr>
        <p:spPr>
          <a:xfrm>
            <a:off x="640080" y="1188720"/>
            <a:ext cx="10881360" cy="4206240"/>
          </a:xfrm>
          <a:prstGeom prst="roundRect">
            <a:avLst>
              <a:gd name="adj" fmla="val 6000"/>
            </a:avLst>
          </a:prstGeom>
          <a:solidFill>
            <a:srgbClr val="05060C"/>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01-submit-and-progres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585720" y="1325880"/>
            <a:ext cx="6990080" cy="3931920"/>
          </a:xfrm>
          <a:prstGeom prst="rect">
            <a:avLst/>
          </a:prstGeom>
        </p:spPr>
      </p:pic>
      <p:sp>
        <p:nvSpPr>
          <p:cNvPr id="7" name="TextBox 6"/>
          <p:cNvSpPr txBox="1"/>
          <p:nvPr/>
        </p:nvSpPr>
        <p:spPr>
          <a:xfrm>
            <a:off x="3383280" y="5440680"/>
            <a:ext cx="5394960" cy="274320"/>
          </a:xfrm>
          <a:prstGeom prst="rect">
            <a:avLst/>
          </a:prstGeom>
          <a:noFill/>
        </p:spPr>
        <p:txBody>
          <a:bodyPr wrap="square" anchor="t" lIns="0" rIns="0" tIns="0" bIns="0">
            <a:spAutoFit/>
          </a:bodyPr>
          <a:lstStyle/>
          <a:p>
            <a:pPr algn="ctr"/>
            <a:r>
              <a:rPr sz="1200" b="0" i="0">
                <a:solidFill>
                  <a:srgbClr val="6F7794"/>
                </a:solidFill>
                <a:latin typeface="Consolas"/>
              </a:rPr>
              <a:t>submit-and-progress.mp4 — click to play</a:t>
            </a:r>
          </a:p>
        </p:txBody>
      </p:sp>
      <p:sp>
        <p:nvSpPr>
          <p:cNvPr id="8" name="TextBox 7"/>
          <p:cNvSpPr txBox="1"/>
          <p:nvPr/>
        </p:nvSpPr>
        <p:spPr>
          <a:xfrm>
            <a:off x="640080" y="5760720"/>
            <a:ext cx="10881360" cy="822960"/>
          </a:xfrm>
          <a:prstGeom prst="rect">
            <a:avLst/>
          </a:prstGeom>
          <a:noFill/>
        </p:spPr>
        <p:txBody>
          <a:bodyPr wrap="square" anchor="t" lIns="0" rIns="0" tIns="0" bIns="0">
            <a:spAutoFit/>
          </a:bodyPr>
          <a:lstStyle/>
          <a:p>
            <a:pPr>
              <a:spcAft>
                <a:spcPts val="400"/>
              </a:spcAft>
            </a:pPr>
            <a:r>
              <a:rPr sz="1300" b="0" i="0">
                <a:solidFill>
                  <a:srgbClr val="9AA2C0"/>
                </a:solidFill>
                <a:latin typeface="Segoe UI"/>
              </a:rPr>
              <a:t>▸ Dashboard → Submit claim → live redirect</a:t>
            </a:r>
          </a:p>
          <a:p>
            <a:pPr>
              <a:spcAft>
                <a:spcPts val="400"/>
              </a:spcAft>
            </a:pPr>
            <a:r>
              <a:rPr sz="1300" b="0" i="0">
                <a:solidFill>
                  <a:srgbClr val="9AA2C0"/>
                </a:solidFill>
                <a:latin typeface="Segoe UI"/>
              </a:rPr>
              <a:t>▸ Stage timeline updates via polling, no refresh</a:t>
            </a:r>
          </a:p>
          <a:p>
            <a:pPr>
              <a:spcAft>
                <a:spcPts val="400"/>
              </a:spcAft>
            </a:pPr>
            <a:r>
              <a:rPr sz="1300" b="0" i="0">
                <a:solidFill>
                  <a:srgbClr val="9AA2C0"/>
                </a:solidFill>
                <a:latin typeface="Segoe UI"/>
              </a:rPr>
              <a:t>▸ Progress % computed from stage weights, not hardcoded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011680" cy="457200"/>
          </a:xfrm>
          <a:prstGeom prst="rect">
            <a:avLst/>
          </a:prstGeom>
          <a:noFill/>
        </p:spPr>
        <p:txBody>
          <a:bodyPr wrap="square" anchor="t" lIns="0" rIns="0" tIns="0" bIns="0">
            <a:spAutoFit/>
          </a:bodyPr>
          <a:lstStyle/>
          <a:p>
            <a:r>
              <a:rPr sz="1300" b="1" i="0">
                <a:solidFill>
                  <a:srgbClr val="38BDF8"/>
                </a:solidFill>
                <a:latin typeface="Segoe UI"/>
              </a:rPr>
              <a:t>DEMO 2 / 6</a:t>
            </a:r>
          </a:p>
        </p:txBody>
      </p:sp>
      <p:sp>
        <p:nvSpPr>
          <p:cNvPr id="4" name="TextBox 3"/>
          <p:cNvSpPr txBox="1"/>
          <p:nvPr/>
        </p:nvSpPr>
        <p:spPr>
          <a:xfrm>
            <a:off x="2743200" y="411480"/>
            <a:ext cx="8778240" cy="640080"/>
          </a:xfrm>
          <a:prstGeom prst="rect">
            <a:avLst/>
          </a:prstGeom>
          <a:noFill/>
        </p:spPr>
        <p:txBody>
          <a:bodyPr wrap="square" anchor="t" lIns="0" rIns="0" tIns="0" bIns="0">
            <a:spAutoFit/>
          </a:bodyPr>
          <a:lstStyle/>
          <a:p>
            <a:r>
              <a:rPr sz="2800" b="1" i="0">
                <a:solidFill>
                  <a:srgbClr val="E6E9F5"/>
                </a:solidFill>
                <a:latin typeface="Segoe UI"/>
              </a:rPr>
              <a:t>The workflow waits — forever — for you</a:t>
            </a:r>
          </a:p>
        </p:txBody>
      </p:sp>
      <p:sp>
        <p:nvSpPr>
          <p:cNvPr id="5" name="Rounded Rectangle 4"/>
          <p:cNvSpPr/>
          <p:nvPr/>
        </p:nvSpPr>
        <p:spPr>
          <a:xfrm>
            <a:off x="640080" y="1188720"/>
            <a:ext cx="10881360" cy="4206240"/>
          </a:xfrm>
          <a:prstGeom prst="roundRect">
            <a:avLst>
              <a:gd name="adj" fmla="val 6000"/>
            </a:avLst>
          </a:prstGeom>
          <a:solidFill>
            <a:srgbClr val="05060C"/>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02-human-review-signal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585720" y="1325880"/>
            <a:ext cx="6990080" cy="3931920"/>
          </a:xfrm>
          <a:prstGeom prst="rect">
            <a:avLst/>
          </a:prstGeom>
        </p:spPr>
      </p:pic>
      <p:sp>
        <p:nvSpPr>
          <p:cNvPr id="7" name="TextBox 6"/>
          <p:cNvSpPr txBox="1"/>
          <p:nvPr/>
        </p:nvSpPr>
        <p:spPr>
          <a:xfrm>
            <a:off x="3383280" y="5440680"/>
            <a:ext cx="5394960" cy="274320"/>
          </a:xfrm>
          <a:prstGeom prst="rect">
            <a:avLst/>
          </a:prstGeom>
          <a:noFill/>
        </p:spPr>
        <p:txBody>
          <a:bodyPr wrap="square" anchor="t" lIns="0" rIns="0" tIns="0" bIns="0">
            <a:spAutoFit/>
          </a:bodyPr>
          <a:lstStyle/>
          <a:p>
            <a:pPr algn="ctr"/>
            <a:r>
              <a:rPr sz="1200" b="0" i="0">
                <a:solidFill>
                  <a:srgbClr val="6F7794"/>
                </a:solidFill>
                <a:latin typeface="Consolas"/>
              </a:rPr>
              <a:t>human-review-signals.mp4 — click to play</a:t>
            </a:r>
          </a:p>
        </p:txBody>
      </p:sp>
      <p:sp>
        <p:nvSpPr>
          <p:cNvPr id="8" name="TextBox 7"/>
          <p:cNvSpPr txBox="1"/>
          <p:nvPr/>
        </p:nvSpPr>
        <p:spPr>
          <a:xfrm>
            <a:off x="640080" y="5760720"/>
            <a:ext cx="10881360" cy="822960"/>
          </a:xfrm>
          <a:prstGeom prst="rect">
            <a:avLst/>
          </a:prstGeom>
          <a:noFill/>
        </p:spPr>
        <p:txBody>
          <a:bodyPr wrap="square" anchor="t" lIns="0" rIns="0" tIns="0" bIns="0">
            <a:spAutoFit/>
          </a:bodyPr>
          <a:lstStyle/>
          <a:p>
            <a:pPr>
              <a:spcAft>
                <a:spcPts val="400"/>
              </a:spcAft>
            </a:pPr>
            <a:r>
              <a:rPr sz="1300" b="0" i="0">
                <a:solidFill>
                  <a:srgbClr val="9AA2C0"/>
                </a:solidFill>
                <a:latin typeface="Segoe UI"/>
              </a:rPr>
              <a:t>▸ Claim parks at “Human adjuster review”</a:t>
            </a:r>
          </a:p>
          <a:p>
            <a:pPr>
              <a:spcAft>
                <a:spcPts val="400"/>
              </a:spcAft>
            </a:pPr>
            <a:r>
              <a:rPr sz="1300" b="0" i="0">
                <a:solidFill>
                  <a:srgbClr val="9AA2C0"/>
                </a:solidFill>
                <a:latin typeface="Segoe UI"/>
              </a:rPr>
              <a:t>▸ Request more info → provide info → back to review</a:t>
            </a:r>
          </a:p>
          <a:p>
            <a:pPr>
              <a:spcAft>
                <a:spcPts val="400"/>
              </a:spcAft>
            </a:pPr>
            <a:r>
              <a:rPr sz="1300" b="0" i="0">
                <a:solidFill>
                  <a:srgbClr val="9AA2C0"/>
                </a:solidFill>
                <a:latin typeface="Segoe UI"/>
              </a:rPr>
              <a:t>▸ Approve → durable settlement timer → paid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011680" cy="457200"/>
          </a:xfrm>
          <a:prstGeom prst="rect">
            <a:avLst/>
          </a:prstGeom>
          <a:noFill/>
        </p:spPr>
        <p:txBody>
          <a:bodyPr wrap="square" anchor="t" lIns="0" rIns="0" tIns="0" bIns="0">
            <a:spAutoFit/>
          </a:bodyPr>
          <a:lstStyle/>
          <a:p>
            <a:r>
              <a:rPr sz="1300" b="1" i="0">
                <a:solidFill>
                  <a:srgbClr val="FBBF24"/>
                </a:solidFill>
                <a:latin typeface="Segoe UI"/>
              </a:rPr>
              <a:t>DEMO 3 / 6</a:t>
            </a:r>
          </a:p>
        </p:txBody>
      </p:sp>
      <p:sp>
        <p:nvSpPr>
          <p:cNvPr id="4" name="TextBox 3"/>
          <p:cNvSpPr txBox="1"/>
          <p:nvPr/>
        </p:nvSpPr>
        <p:spPr>
          <a:xfrm>
            <a:off x="2743200" y="411480"/>
            <a:ext cx="8778240" cy="640080"/>
          </a:xfrm>
          <a:prstGeom prst="rect">
            <a:avLst/>
          </a:prstGeom>
          <a:noFill/>
        </p:spPr>
        <p:txBody>
          <a:bodyPr wrap="square" anchor="t" lIns="0" rIns="0" tIns="0" bIns="0">
            <a:spAutoFit/>
          </a:bodyPr>
          <a:lstStyle/>
          <a:p>
            <a:r>
              <a:rPr sz="2800" b="1" i="0">
                <a:solidFill>
                  <a:srgbClr val="E6E9F5"/>
                </a:solidFill>
                <a:latin typeface="Segoe UI"/>
              </a:rPr>
              <a:t>Break it a little — watch it heal itself</a:t>
            </a:r>
          </a:p>
        </p:txBody>
      </p:sp>
      <p:sp>
        <p:nvSpPr>
          <p:cNvPr id="5" name="Rounded Rectangle 4"/>
          <p:cNvSpPr/>
          <p:nvPr/>
        </p:nvSpPr>
        <p:spPr>
          <a:xfrm>
            <a:off x="640080" y="1188720"/>
            <a:ext cx="10881360" cy="4206240"/>
          </a:xfrm>
          <a:prstGeom prst="roundRect">
            <a:avLst>
              <a:gd name="adj" fmla="val 6000"/>
            </a:avLst>
          </a:prstGeom>
          <a:solidFill>
            <a:srgbClr val="05060C"/>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03-transient-retr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585720" y="1325880"/>
            <a:ext cx="6990080" cy="3931920"/>
          </a:xfrm>
          <a:prstGeom prst="rect">
            <a:avLst/>
          </a:prstGeom>
        </p:spPr>
      </p:pic>
      <p:sp>
        <p:nvSpPr>
          <p:cNvPr id="7" name="TextBox 6"/>
          <p:cNvSpPr txBox="1"/>
          <p:nvPr/>
        </p:nvSpPr>
        <p:spPr>
          <a:xfrm>
            <a:off x="3383280" y="5440680"/>
            <a:ext cx="5394960" cy="274320"/>
          </a:xfrm>
          <a:prstGeom prst="rect">
            <a:avLst/>
          </a:prstGeom>
          <a:noFill/>
        </p:spPr>
        <p:txBody>
          <a:bodyPr wrap="square" anchor="t" lIns="0" rIns="0" tIns="0" bIns="0">
            <a:spAutoFit/>
          </a:bodyPr>
          <a:lstStyle/>
          <a:p>
            <a:pPr algn="ctr"/>
            <a:r>
              <a:rPr sz="1200" b="0" i="0">
                <a:solidFill>
                  <a:srgbClr val="6F7794"/>
                </a:solidFill>
                <a:latin typeface="Consolas"/>
              </a:rPr>
              <a:t>transient-retry.mp4 — click to play</a:t>
            </a:r>
          </a:p>
        </p:txBody>
      </p:sp>
      <p:sp>
        <p:nvSpPr>
          <p:cNvPr id="8" name="TextBox 7"/>
          <p:cNvSpPr txBox="1"/>
          <p:nvPr/>
        </p:nvSpPr>
        <p:spPr>
          <a:xfrm>
            <a:off x="640080" y="5760720"/>
            <a:ext cx="10881360" cy="822960"/>
          </a:xfrm>
          <a:prstGeom prst="rect">
            <a:avLst/>
          </a:prstGeom>
          <a:noFill/>
        </p:spPr>
        <p:txBody>
          <a:bodyPr wrap="square" anchor="t" lIns="0" rIns="0" tIns="0" bIns="0">
            <a:spAutoFit/>
          </a:bodyPr>
          <a:lstStyle/>
          <a:p>
            <a:pPr>
              <a:spcAft>
                <a:spcPts val="400"/>
              </a:spcAft>
            </a:pPr>
            <a:r>
              <a:rPr sz="1300" b="0" i="0">
                <a:solidFill>
                  <a:srgbClr val="9AA2C0"/>
                </a:solidFill>
                <a:latin typeface="Segoe UI"/>
              </a:rPr>
              <a:t>▸ Arm “transient failure” on damage assessment</a:t>
            </a:r>
          </a:p>
          <a:p>
            <a:pPr>
              <a:spcAft>
                <a:spcPts val="400"/>
              </a:spcAft>
            </a:pPr>
            <a:r>
              <a:rPr sz="1300" b="0" i="0">
                <a:solidFill>
                  <a:srgbClr val="9AA2C0"/>
                </a:solidFill>
                <a:latin typeface="Segoe UI"/>
              </a:rPr>
              <a:t>▸ Activity panel shows attempt 1, 2, 3 — live</a:t>
            </a:r>
          </a:p>
          <a:p>
            <a:pPr>
              <a:spcAft>
                <a:spcPts val="400"/>
              </a:spcAft>
            </a:pPr>
            <a:r>
              <a:rPr sz="1300" b="0" i="0">
                <a:solidFill>
                  <a:srgbClr val="9AA2C0"/>
                </a:solidFill>
                <a:latin typeface="Segoe UI"/>
              </a:rPr>
              <a:t>▸ Same code path, zero extra retry logic written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011680" cy="457200"/>
          </a:xfrm>
          <a:prstGeom prst="rect">
            <a:avLst/>
          </a:prstGeom>
          <a:noFill/>
        </p:spPr>
        <p:txBody>
          <a:bodyPr wrap="square" anchor="t" lIns="0" rIns="0" tIns="0" bIns="0">
            <a:spAutoFit/>
          </a:bodyPr>
          <a:lstStyle/>
          <a:p>
            <a:r>
              <a:rPr sz="1300" b="1" i="0">
                <a:solidFill>
                  <a:srgbClr val="F87171"/>
                </a:solidFill>
                <a:latin typeface="Segoe UI"/>
              </a:rPr>
              <a:t>DEMO 4 / 6</a:t>
            </a:r>
          </a:p>
        </p:txBody>
      </p:sp>
      <p:sp>
        <p:nvSpPr>
          <p:cNvPr id="4" name="TextBox 3"/>
          <p:cNvSpPr txBox="1"/>
          <p:nvPr/>
        </p:nvSpPr>
        <p:spPr>
          <a:xfrm>
            <a:off x="2743200" y="411480"/>
            <a:ext cx="8778240" cy="640080"/>
          </a:xfrm>
          <a:prstGeom prst="rect">
            <a:avLst/>
          </a:prstGeom>
          <a:noFill/>
        </p:spPr>
        <p:txBody>
          <a:bodyPr wrap="square" anchor="t" lIns="0" rIns="0" tIns="0" bIns="0">
            <a:spAutoFit/>
          </a:bodyPr>
          <a:lstStyle/>
          <a:p>
            <a:r>
              <a:rPr sz="2800" b="1" i="0">
                <a:solidFill>
                  <a:srgbClr val="E6E9F5"/>
                </a:solidFill>
                <a:latin typeface="Segoe UI"/>
              </a:rPr>
              <a:t>Break it for real — recover it from the UI</a:t>
            </a:r>
          </a:p>
        </p:txBody>
      </p:sp>
      <p:sp>
        <p:nvSpPr>
          <p:cNvPr id="5" name="Rounded Rectangle 4"/>
          <p:cNvSpPr/>
          <p:nvPr/>
        </p:nvSpPr>
        <p:spPr>
          <a:xfrm>
            <a:off x="640080" y="1188720"/>
            <a:ext cx="10881360" cy="4206240"/>
          </a:xfrm>
          <a:prstGeom prst="roundRect">
            <a:avLst>
              <a:gd name="adj" fmla="val 6000"/>
            </a:avLst>
          </a:prstGeom>
          <a:solidFill>
            <a:srgbClr val="05060C"/>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04-permanent-failure-recover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585720" y="1325880"/>
            <a:ext cx="6990080" cy="3931920"/>
          </a:xfrm>
          <a:prstGeom prst="rect">
            <a:avLst/>
          </a:prstGeom>
        </p:spPr>
      </p:pic>
      <p:sp>
        <p:nvSpPr>
          <p:cNvPr id="7" name="TextBox 6"/>
          <p:cNvSpPr txBox="1"/>
          <p:nvPr/>
        </p:nvSpPr>
        <p:spPr>
          <a:xfrm>
            <a:off x="3383280" y="5440680"/>
            <a:ext cx="5394960" cy="274320"/>
          </a:xfrm>
          <a:prstGeom prst="rect">
            <a:avLst/>
          </a:prstGeom>
          <a:noFill/>
        </p:spPr>
        <p:txBody>
          <a:bodyPr wrap="square" anchor="t" lIns="0" rIns="0" tIns="0" bIns="0">
            <a:spAutoFit/>
          </a:bodyPr>
          <a:lstStyle/>
          <a:p>
            <a:pPr algn="ctr"/>
            <a:r>
              <a:rPr sz="1200" b="0" i="0">
                <a:solidFill>
                  <a:srgbClr val="6F7794"/>
                </a:solidFill>
                <a:latin typeface="Consolas"/>
              </a:rPr>
              <a:t>permanent-failure-recovery.mp4 — click to play</a:t>
            </a:r>
          </a:p>
        </p:txBody>
      </p:sp>
      <p:sp>
        <p:nvSpPr>
          <p:cNvPr id="8" name="TextBox 7"/>
          <p:cNvSpPr txBox="1"/>
          <p:nvPr/>
        </p:nvSpPr>
        <p:spPr>
          <a:xfrm>
            <a:off x="640080" y="5760720"/>
            <a:ext cx="10881360" cy="822960"/>
          </a:xfrm>
          <a:prstGeom prst="rect">
            <a:avLst/>
          </a:prstGeom>
          <a:noFill/>
        </p:spPr>
        <p:txBody>
          <a:bodyPr wrap="square" anchor="t" lIns="0" rIns="0" tIns="0" bIns="0">
            <a:spAutoFit/>
          </a:bodyPr>
          <a:lstStyle/>
          <a:p>
            <a:pPr>
              <a:spcAft>
                <a:spcPts val="400"/>
              </a:spcAft>
            </a:pPr>
            <a:r>
              <a:rPr sz="1300" b="0" i="0">
                <a:solidFill>
                  <a:srgbClr val="9AA2C0"/>
                </a:solidFill>
                <a:latin typeface="Segoe UI"/>
              </a:rPr>
              <a:t>▸ “Break payment (permanent)” → non-retryable ApplicationFailure</a:t>
            </a:r>
          </a:p>
          <a:p>
            <a:pPr>
              <a:spcAft>
                <a:spcPts val="400"/>
              </a:spcAft>
            </a:pPr>
            <a:r>
              <a:rPr sz="1300" b="0" i="0">
                <a:solidFill>
                  <a:srgbClr val="9AA2C0"/>
                </a:solidFill>
                <a:latin typeface="Segoe UI"/>
              </a:rPr>
              <a:t>▸ Claim parks in “blocked on failure” — not crashed, not lost</a:t>
            </a:r>
          </a:p>
          <a:p>
            <a:pPr>
              <a:spcAft>
                <a:spcPts val="400"/>
              </a:spcAft>
            </a:pPr>
            <a:r>
              <a:rPr sz="1300" b="0" i="0">
                <a:solidFill>
                  <a:srgbClr val="9AA2C0"/>
                </a:solidFill>
                <a:latin typeface="Segoe UI"/>
              </a:rPr>
              <a:t>▸ Operator clicks Retry → clears fault → claim completes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011680" cy="457200"/>
          </a:xfrm>
          <a:prstGeom prst="rect">
            <a:avLst/>
          </a:prstGeom>
          <a:noFill/>
        </p:spPr>
        <p:txBody>
          <a:bodyPr wrap="square" anchor="t" lIns="0" rIns="0" tIns="0" bIns="0">
            <a:spAutoFit/>
          </a:bodyPr>
          <a:lstStyle/>
          <a:p>
            <a:r>
              <a:rPr sz="1300" b="1" i="0">
                <a:solidFill>
                  <a:srgbClr val="34D399"/>
                </a:solidFill>
                <a:latin typeface="Segoe UI"/>
              </a:rPr>
              <a:t>DEMO 5 / 6</a:t>
            </a:r>
          </a:p>
        </p:txBody>
      </p:sp>
      <p:sp>
        <p:nvSpPr>
          <p:cNvPr id="4" name="TextBox 3"/>
          <p:cNvSpPr txBox="1"/>
          <p:nvPr/>
        </p:nvSpPr>
        <p:spPr>
          <a:xfrm>
            <a:off x="2743200" y="411480"/>
            <a:ext cx="8778240" cy="640080"/>
          </a:xfrm>
          <a:prstGeom prst="rect">
            <a:avLst/>
          </a:prstGeom>
          <a:noFill/>
        </p:spPr>
        <p:txBody>
          <a:bodyPr wrap="square" anchor="t" lIns="0" rIns="0" tIns="0" bIns="0">
            <a:spAutoFit/>
          </a:bodyPr>
          <a:lstStyle/>
          <a:p>
            <a:r>
              <a:rPr sz="2800" b="1" i="0">
                <a:solidFill>
                  <a:srgbClr val="E6E9F5"/>
                </a:solidFill>
                <a:latin typeface="Segoe UI"/>
              </a:rPr>
              <a:t>Kill the worker. Mid-claim. On purpose.</a:t>
            </a:r>
          </a:p>
        </p:txBody>
      </p:sp>
      <p:sp>
        <p:nvSpPr>
          <p:cNvPr id="5" name="Rounded Rectangle 4"/>
          <p:cNvSpPr/>
          <p:nvPr/>
        </p:nvSpPr>
        <p:spPr>
          <a:xfrm>
            <a:off x="640080" y="1188720"/>
            <a:ext cx="10881360" cy="4206240"/>
          </a:xfrm>
          <a:prstGeom prst="roundRect">
            <a:avLst>
              <a:gd name="adj" fmla="val 6000"/>
            </a:avLst>
          </a:prstGeom>
          <a:solidFill>
            <a:srgbClr val="05060C"/>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05-worker-restart-durabilit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585720" y="1325880"/>
            <a:ext cx="6990080" cy="3931920"/>
          </a:xfrm>
          <a:prstGeom prst="rect">
            <a:avLst/>
          </a:prstGeom>
        </p:spPr>
      </p:pic>
      <p:sp>
        <p:nvSpPr>
          <p:cNvPr id="7" name="TextBox 6"/>
          <p:cNvSpPr txBox="1"/>
          <p:nvPr/>
        </p:nvSpPr>
        <p:spPr>
          <a:xfrm>
            <a:off x="3383280" y="5440680"/>
            <a:ext cx="5394960" cy="274320"/>
          </a:xfrm>
          <a:prstGeom prst="rect">
            <a:avLst/>
          </a:prstGeom>
          <a:noFill/>
        </p:spPr>
        <p:txBody>
          <a:bodyPr wrap="square" anchor="t" lIns="0" rIns="0" tIns="0" bIns="0">
            <a:spAutoFit/>
          </a:bodyPr>
          <a:lstStyle/>
          <a:p>
            <a:pPr algn="ctr"/>
            <a:r>
              <a:rPr sz="1200" b="0" i="0">
                <a:solidFill>
                  <a:srgbClr val="6F7794"/>
                </a:solidFill>
                <a:latin typeface="Consolas"/>
              </a:rPr>
              <a:t>worker-restart-durability.mp4 — click to play</a:t>
            </a:r>
          </a:p>
        </p:txBody>
      </p:sp>
      <p:sp>
        <p:nvSpPr>
          <p:cNvPr id="8" name="TextBox 7"/>
          <p:cNvSpPr txBox="1"/>
          <p:nvPr/>
        </p:nvSpPr>
        <p:spPr>
          <a:xfrm>
            <a:off x="640080" y="5760720"/>
            <a:ext cx="10881360" cy="822960"/>
          </a:xfrm>
          <a:prstGeom prst="rect">
            <a:avLst/>
          </a:prstGeom>
          <a:noFill/>
        </p:spPr>
        <p:txBody>
          <a:bodyPr wrap="square" anchor="t" lIns="0" rIns="0" tIns="0" bIns="0">
            <a:spAutoFit/>
          </a:bodyPr>
          <a:lstStyle/>
          <a:p>
            <a:pPr>
              <a:spcAft>
                <a:spcPts val="400"/>
              </a:spcAft>
            </a:pPr>
            <a:r>
              <a:rPr sz="1300" b="0" i="0">
                <a:solidFill>
                  <a:srgbClr val="9AA2C0"/>
                </a:solidFill>
                <a:latin typeface="Segoe UI"/>
              </a:rPr>
              <a:t>▸ “Kill &amp; restart worker” while a claim is blocked</a:t>
            </a:r>
          </a:p>
          <a:p>
            <a:pPr>
              <a:spcAft>
                <a:spcPts val="400"/>
              </a:spcAft>
            </a:pPr>
            <a:r>
              <a:rPr sz="1300" b="0" i="0">
                <a:solidFill>
                  <a:srgbClr val="9AA2C0"/>
                </a:solidFill>
                <a:latin typeface="Segoe UI"/>
              </a:rPr>
              <a:t>▸ worker-…-gen1 dies, worker-…-gen2 comes up</a:t>
            </a:r>
          </a:p>
          <a:p>
            <a:pPr>
              <a:spcAft>
                <a:spcPts val="400"/>
              </a:spcAft>
            </a:pPr>
            <a:r>
              <a:rPr sz="1300" b="0" i="0">
                <a:solidFill>
                  <a:srgbClr val="9AA2C0"/>
                </a:solidFill>
                <a:latin typeface="Segoe UI"/>
              </a:rPr>
              <a:t>▸ Claim resumes exactly where it was — timers included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011680" cy="457200"/>
          </a:xfrm>
          <a:prstGeom prst="rect">
            <a:avLst/>
          </a:prstGeom>
          <a:noFill/>
        </p:spPr>
        <p:txBody>
          <a:bodyPr wrap="square" anchor="t" lIns="0" rIns="0" tIns="0" bIns="0">
            <a:spAutoFit/>
          </a:bodyPr>
          <a:lstStyle/>
          <a:p>
            <a:r>
              <a:rPr sz="1300" b="1" i="0">
                <a:solidFill>
                  <a:srgbClr val="9AA2C0"/>
                </a:solidFill>
                <a:latin typeface="Segoe UI"/>
              </a:rPr>
              <a:t>DEMO 6 / 6</a:t>
            </a:r>
          </a:p>
        </p:txBody>
      </p:sp>
      <p:sp>
        <p:nvSpPr>
          <p:cNvPr id="4" name="TextBox 3"/>
          <p:cNvSpPr txBox="1"/>
          <p:nvPr/>
        </p:nvSpPr>
        <p:spPr>
          <a:xfrm>
            <a:off x="2743200" y="411480"/>
            <a:ext cx="8778240" cy="640080"/>
          </a:xfrm>
          <a:prstGeom prst="rect">
            <a:avLst/>
          </a:prstGeom>
          <a:noFill/>
        </p:spPr>
        <p:txBody>
          <a:bodyPr wrap="square" anchor="t" lIns="0" rIns="0" tIns="0" bIns="0">
            <a:spAutoFit/>
          </a:bodyPr>
          <a:lstStyle/>
          <a:p>
            <a:r>
              <a:rPr sz="2800" b="1" i="0">
                <a:solidFill>
                  <a:srgbClr val="E6E9F5"/>
                </a:solidFill>
                <a:latin typeface="Segoe UI"/>
              </a:rPr>
              <a:t>Cancel mid-flight — compensations run</a:t>
            </a:r>
          </a:p>
        </p:txBody>
      </p:sp>
      <p:sp>
        <p:nvSpPr>
          <p:cNvPr id="5" name="Rounded Rectangle 4"/>
          <p:cNvSpPr/>
          <p:nvPr/>
        </p:nvSpPr>
        <p:spPr>
          <a:xfrm>
            <a:off x="640080" y="1188720"/>
            <a:ext cx="10881360" cy="4206240"/>
          </a:xfrm>
          <a:prstGeom prst="roundRect">
            <a:avLst>
              <a:gd name="adj" fmla="val 6000"/>
            </a:avLst>
          </a:prstGeom>
          <a:solidFill>
            <a:srgbClr val="05060C"/>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06-cancellation-sag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585720" y="1325880"/>
            <a:ext cx="6990080" cy="3931920"/>
          </a:xfrm>
          <a:prstGeom prst="rect">
            <a:avLst/>
          </a:prstGeom>
        </p:spPr>
      </p:pic>
      <p:sp>
        <p:nvSpPr>
          <p:cNvPr id="7" name="TextBox 6"/>
          <p:cNvSpPr txBox="1"/>
          <p:nvPr/>
        </p:nvSpPr>
        <p:spPr>
          <a:xfrm>
            <a:off x="3383280" y="5440680"/>
            <a:ext cx="5394960" cy="274320"/>
          </a:xfrm>
          <a:prstGeom prst="rect">
            <a:avLst/>
          </a:prstGeom>
          <a:noFill/>
        </p:spPr>
        <p:txBody>
          <a:bodyPr wrap="square" anchor="t" lIns="0" rIns="0" tIns="0" bIns="0">
            <a:spAutoFit/>
          </a:bodyPr>
          <a:lstStyle/>
          <a:p>
            <a:pPr algn="ctr"/>
            <a:r>
              <a:rPr sz="1200" b="0" i="0">
                <a:solidFill>
                  <a:srgbClr val="6F7794"/>
                </a:solidFill>
                <a:latin typeface="Consolas"/>
              </a:rPr>
              <a:t>cancellation-saga.mp4 — click to play</a:t>
            </a:r>
          </a:p>
        </p:txBody>
      </p:sp>
      <p:sp>
        <p:nvSpPr>
          <p:cNvPr id="8" name="TextBox 7"/>
          <p:cNvSpPr txBox="1"/>
          <p:nvPr/>
        </p:nvSpPr>
        <p:spPr>
          <a:xfrm>
            <a:off x="640080" y="5760720"/>
            <a:ext cx="10881360" cy="822960"/>
          </a:xfrm>
          <a:prstGeom prst="rect">
            <a:avLst/>
          </a:prstGeom>
          <a:noFill/>
        </p:spPr>
        <p:txBody>
          <a:bodyPr wrap="square" anchor="t" lIns="0" rIns="0" tIns="0" bIns="0">
            <a:spAutoFit/>
          </a:bodyPr>
          <a:lstStyle/>
          <a:p>
            <a:pPr>
              <a:spcAft>
                <a:spcPts val="400"/>
              </a:spcAft>
            </a:pPr>
            <a:r>
              <a:rPr sz="1300" b="0" i="0">
                <a:solidFill>
                  <a:srgbClr val="9AA2C0"/>
                </a:solidFill>
                <a:latin typeface="Segoe UI"/>
              </a:rPr>
              <a:t>▸ Cancel a running claim from the dashboard</a:t>
            </a:r>
          </a:p>
          <a:p>
            <a:pPr>
              <a:spcAft>
                <a:spcPts val="400"/>
              </a:spcAft>
            </a:pPr>
            <a:r>
              <a:rPr sz="1300" b="0" i="0">
                <a:solidFill>
                  <a:srgbClr val="9AA2C0"/>
                </a:solidFill>
                <a:latin typeface="Segoe UI"/>
              </a:rPr>
              <a:t>▸ Reserve released, payment reversed, claimant notified</a:t>
            </a:r>
          </a:p>
          <a:p>
            <a:pPr>
              <a:spcAft>
                <a:spcPts val="400"/>
              </a:spcAft>
            </a:pPr>
            <a:r>
              <a:rPr sz="1300" b="0" i="0">
                <a:solidFill>
                  <a:srgbClr val="9AA2C0"/>
                </a:solidFill>
                <a:latin typeface="Segoe UI"/>
              </a:rPr>
              <a:t>▸ Workflow closes CANCELED — cleanly, not abruptly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3657600" cy="1463040"/>
          </a:xfrm>
          <a:prstGeom prst="rect">
            <a:avLst/>
          </a:prstGeom>
          <a:noFill/>
        </p:spPr>
        <p:txBody>
          <a:bodyPr wrap="square" anchor="t" lIns="0" rIns="0" tIns="0" bIns="0">
            <a:spAutoFit/>
          </a:bodyPr>
          <a:lstStyle/>
          <a:p>
            <a:r>
              <a:rPr sz="7200" b="1" i="0">
                <a:solidFill>
                  <a:srgbClr val="7C5CFF"/>
                </a:solidFill>
                <a:latin typeface="Consolas"/>
              </a:rPr>
              <a:t>04</a:t>
            </a:r>
          </a:p>
        </p:txBody>
      </p:sp>
      <p:sp>
        <p:nvSpPr>
          <p:cNvPr id="4" name="TextBox 3"/>
          <p:cNvSpPr txBox="1"/>
          <p:nvPr/>
        </p:nvSpPr>
        <p:spPr>
          <a:xfrm>
            <a:off x="822960" y="3383280"/>
            <a:ext cx="8686800" cy="1005840"/>
          </a:xfrm>
          <a:prstGeom prst="rect">
            <a:avLst/>
          </a:prstGeom>
          <a:noFill/>
        </p:spPr>
        <p:txBody>
          <a:bodyPr wrap="square" anchor="t" lIns="0" rIns="0" tIns="0" bIns="0">
            <a:spAutoFit/>
          </a:bodyPr>
          <a:lstStyle/>
          <a:p>
            <a:r>
              <a:rPr sz="4000" b="1" i="0">
                <a:solidFill>
                  <a:srgbClr val="E6E9F5"/>
                </a:solidFill>
                <a:latin typeface="Segoe UI"/>
              </a:rPr>
              <a:t>Matching Your Use Case</a:t>
            </a:r>
          </a:p>
        </p:txBody>
      </p:sp>
      <p:sp>
        <p:nvSpPr>
          <p:cNvPr id="5" name="TextBox 4"/>
          <p:cNvSpPr txBox="1"/>
          <p:nvPr/>
        </p:nvSpPr>
        <p:spPr>
          <a:xfrm>
            <a:off x="822960" y="4206240"/>
            <a:ext cx="6858000" cy="914400"/>
          </a:xfrm>
          <a:prstGeom prst="rect">
            <a:avLst/>
          </a:prstGeom>
          <a:noFill/>
        </p:spPr>
        <p:txBody>
          <a:bodyPr wrap="square" anchor="t" lIns="0" rIns="0" tIns="0" bIns="0">
            <a:spAutoFit/>
          </a:bodyPr>
          <a:lstStyle/>
          <a:p>
            <a:r>
              <a:rPr sz="1700" b="0" i="0">
                <a:solidFill>
                  <a:srgbClr val="9AA2C0"/>
                </a:solidFill>
                <a:latin typeface="Segoe UI"/>
              </a:rPr>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PATTERN MATCH</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Signals you have a good Temporal use case</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TextBox 5"/>
          <p:cNvSpPr txBox="1"/>
          <p:nvPr/>
        </p:nvSpPr>
        <p:spPr>
          <a:xfrm>
            <a:off x="640080" y="1828800"/>
            <a:ext cx="10515600" cy="4114800"/>
          </a:xfrm>
          <a:prstGeom prst="rect">
            <a:avLst/>
          </a:prstGeom>
          <a:noFill/>
        </p:spPr>
        <p:txBody>
          <a:bodyPr wrap="square" anchor="t" lIns="0" rIns="0" tIns="0" bIns="0">
            <a:spAutoFit/>
          </a:bodyPr>
          <a:lstStyle/>
          <a:p>
            <a:pPr>
              <a:spcAft>
                <a:spcPts val="1000"/>
              </a:spcAft>
            </a:pPr>
            <a:r>
              <a:rPr sz="1700" b="1" i="0">
                <a:solidFill>
                  <a:srgbClr val="34D399"/>
                </a:solidFill>
                <a:latin typeface="Segoe UI"/>
              </a:rPr>
              <a:t>✓  </a:t>
            </a:r>
            <a:r>
              <a:rPr sz="1700" b="0" i="0">
                <a:solidFill>
                  <a:srgbClr val="E6E9F5"/>
                </a:solidFill>
                <a:latin typeface="Segoe UI"/>
              </a:rPr>
              <a:t>A process that spans minutes, days, or months — not one request/response</a:t>
            </a:r>
          </a:p>
          <a:p>
            <a:pPr>
              <a:spcAft>
                <a:spcPts val="1000"/>
              </a:spcAft>
            </a:pPr>
            <a:r>
              <a:rPr sz="1700" b="1" i="0">
                <a:solidFill>
                  <a:srgbClr val="34D399"/>
                </a:solidFill>
                <a:latin typeface="Segoe UI"/>
              </a:rPr>
              <a:t>✓  </a:t>
            </a:r>
            <a:r>
              <a:rPr sz="1700" b="0" i="0">
                <a:solidFill>
                  <a:srgbClr val="E6E9F5"/>
                </a:solidFill>
                <a:latin typeface="Segoe UI"/>
              </a:rPr>
              <a:t>Short-lived workflows can still fit — milliseconds or seconds are fine when you need durability, retries, or history</a:t>
            </a:r>
          </a:p>
          <a:p>
            <a:pPr>
              <a:spcAft>
                <a:spcPts val="1000"/>
              </a:spcAft>
            </a:pPr>
            <a:r>
              <a:rPr sz="1700" b="1" i="0">
                <a:solidFill>
                  <a:srgbClr val="34D399"/>
                </a:solidFill>
                <a:latin typeface="Segoe UI"/>
              </a:rPr>
              <a:t>✓  </a:t>
            </a:r>
            <a:r>
              <a:rPr sz="1700" b="0" i="0">
                <a:solidFill>
                  <a:srgbClr val="E6E9F5"/>
                </a:solidFill>
                <a:latin typeface="Segoe UI"/>
              </a:rPr>
              <a:t>A human has to approve, deny, or provide info at some unknown point</a:t>
            </a:r>
          </a:p>
          <a:p>
            <a:pPr>
              <a:spcAft>
                <a:spcPts val="1000"/>
              </a:spcAft>
            </a:pPr>
            <a:r>
              <a:rPr sz="1700" b="1" i="0">
                <a:solidFill>
                  <a:srgbClr val="34D399"/>
                </a:solidFill>
                <a:latin typeface="Segoe UI"/>
              </a:rPr>
              <a:t>✓  </a:t>
            </a:r>
            <a:r>
              <a:rPr sz="1700" b="0" i="0">
                <a:solidFill>
                  <a:srgbClr val="E6E9F5"/>
                </a:solidFill>
                <a:latin typeface="Segoe UI"/>
              </a:rPr>
              <a:t>Steps call flaky external systems that need retries with backoff</a:t>
            </a:r>
          </a:p>
          <a:p>
            <a:pPr>
              <a:spcAft>
                <a:spcPts val="1000"/>
              </a:spcAft>
            </a:pPr>
            <a:r>
              <a:rPr sz="1700" b="1" i="0">
                <a:solidFill>
                  <a:srgbClr val="34D399"/>
                </a:solidFill>
                <a:latin typeface="Segoe UI"/>
              </a:rPr>
              <a:t>✓  </a:t>
            </a:r>
            <a:r>
              <a:rPr sz="1700" b="0" i="0">
                <a:solidFill>
                  <a:srgbClr val="E6E9F5"/>
                </a:solidFill>
                <a:latin typeface="Segoe UI"/>
              </a:rPr>
              <a:t>A crash mid-process must not lose or double-run anything</a:t>
            </a:r>
          </a:p>
          <a:p>
            <a:pPr>
              <a:spcAft>
                <a:spcPts val="1000"/>
              </a:spcAft>
            </a:pPr>
            <a:r>
              <a:rPr sz="1700" b="1" i="0">
                <a:solidFill>
                  <a:srgbClr val="34D399"/>
                </a:solidFill>
                <a:latin typeface="Segoe UI"/>
              </a:rPr>
              <a:t>✓  </a:t>
            </a:r>
            <a:r>
              <a:rPr sz="1700" b="0" i="0">
                <a:solidFill>
                  <a:srgbClr val="E6E9F5"/>
                </a:solidFill>
                <a:latin typeface="Segoe UI"/>
              </a:rPr>
              <a:t>You need an audit trail of exactly what happened, in order</a:t>
            </a:r>
          </a:p>
          <a:p>
            <a:pPr>
              <a:spcAft>
                <a:spcPts val="1000"/>
              </a:spcAft>
            </a:pPr>
            <a:r>
              <a:rPr sz="1700" b="1" i="0">
                <a:solidFill>
                  <a:srgbClr val="34D399"/>
                </a:solidFill>
                <a:latin typeface="Segoe UI"/>
              </a:rPr>
              <a:t>✓  </a:t>
            </a:r>
            <a:r>
              <a:rPr sz="1700" b="0" i="0">
                <a:solidFill>
                  <a:srgbClr val="E6E9F5"/>
                </a:solidFill>
                <a:latin typeface="Segoe UI"/>
              </a:rPr>
              <a:t>Multiple steps must be undone together if a later one fails (saga)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THE REUSABLE CHECKLIST</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Durability questions to ask yourself</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75104"/>
            <a:ext cx="4901184" cy="1554480"/>
          </a:xfrm>
          <a:prstGeom prst="rect">
            <a:avLst/>
          </a:prstGeom>
          <a:noFill/>
        </p:spPr>
        <p:txBody>
          <a:bodyPr wrap="square" anchor="t" lIns="0" rIns="0" tIns="0" bIns="0">
            <a:spAutoFit/>
          </a:bodyPr>
          <a:lstStyle/>
          <a:p>
            <a:r>
              <a:rPr sz="1200" b="1" i="0">
                <a:solidFill>
                  <a:srgbClr val="4C9FFE"/>
                </a:solidFill>
                <a:latin typeface="Segoe UI"/>
              </a:rPr>
              <a:t>ASK ABOUT FAILURE</a:t>
            </a:r>
          </a:p>
          <a:p>
            <a:pPr>
              <a:spcBef>
                <a:spcPts val="600"/>
              </a:spcBef>
            </a:pPr>
            <a:r>
              <a:rPr sz="1300" b="0" i="0">
                <a:solidFill>
                  <a:srgbClr val="9AA2C0"/>
                </a:solidFill>
                <a:latin typeface="Segoe UI"/>
              </a:rPr>
              <a:t>What activities can fail transiently? What's permanent? What must be non-retryable?</a:t>
            </a:r>
          </a:p>
        </p:txBody>
      </p:sp>
      <p:sp>
        <p:nvSpPr>
          <p:cNvPr id="8" name="Rounded Rectangle 7"/>
          <p:cNvSpPr/>
          <p:nvPr/>
        </p:nvSpPr>
        <p:spPr>
          <a:xfrm>
            <a:off x="6217920" y="182880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75104"/>
            <a:ext cx="4901184" cy="1554480"/>
          </a:xfrm>
          <a:prstGeom prst="rect">
            <a:avLst/>
          </a:prstGeom>
          <a:noFill/>
        </p:spPr>
        <p:txBody>
          <a:bodyPr wrap="square" anchor="t" lIns="0" rIns="0" tIns="0" bIns="0">
            <a:spAutoFit/>
          </a:bodyPr>
          <a:lstStyle/>
          <a:p>
            <a:r>
              <a:rPr sz="1200" b="1" i="0">
                <a:solidFill>
                  <a:srgbClr val="4C9FFE"/>
                </a:solidFill>
                <a:latin typeface="Segoe UI"/>
              </a:rPr>
              <a:t>ASK ABOUT WAITING</a:t>
            </a:r>
          </a:p>
          <a:p>
            <a:pPr>
              <a:spcBef>
                <a:spcPts val="600"/>
              </a:spcBef>
            </a:pPr>
            <a:r>
              <a:rPr sz="1300" b="0" i="0">
                <a:solidFill>
                  <a:srgbClr val="9AA2C0"/>
                </a:solidFill>
                <a:latin typeface="Segoe UI"/>
              </a:rPr>
              <a:t>What waits on a human? For how long? What happens if nobody answers?</a:t>
            </a:r>
          </a:p>
        </p:txBody>
      </p:sp>
      <p:sp>
        <p:nvSpPr>
          <p:cNvPr id="10" name="Rounded Rectangle 9"/>
          <p:cNvSpPr/>
          <p:nvPr/>
        </p:nvSpPr>
        <p:spPr>
          <a:xfrm>
            <a:off x="640080" y="393192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078224"/>
            <a:ext cx="4901184" cy="1554480"/>
          </a:xfrm>
          <a:prstGeom prst="rect">
            <a:avLst/>
          </a:prstGeom>
          <a:noFill/>
        </p:spPr>
        <p:txBody>
          <a:bodyPr wrap="square" anchor="t" lIns="0" rIns="0" tIns="0" bIns="0">
            <a:spAutoFit/>
          </a:bodyPr>
          <a:lstStyle/>
          <a:p>
            <a:r>
              <a:rPr sz="1200" b="1" i="0">
                <a:solidFill>
                  <a:srgbClr val="4C9FFE"/>
                </a:solidFill>
                <a:latin typeface="Segoe UI"/>
              </a:rPr>
              <a:t>ASK ABOUT STATE</a:t>
            </a:r>
          </a:p>
          <a:p>
            <a:pPr>
              <a:spcBef>
                <a:spcPts val="600"/>
              </a:spcBef>
            </a:pPr>
            <a:r>
              <a:rPr sz="1300" b="0" i="0">
                <a:solidFill>
                  <a:srgbClr val="9AA2C0"/>
                </a:solidFill>
                <a:latin typeface="Segoe UI"/>
              </a:rPr>
              <a:t>What must survive a crash? Who is the source of truth?</a:t>
            </a:r>
          </a:p>
        </p:txBody>
      </p:sp>
      <p:sp>
        <p:nvSpPr>
          <p:cNvPr id="12" name="Rounded Rectangle 11"/>
          <p:cNvSpPr/>
          <p:nvPr/>
        </p:nvSpPr>
        <p:spPr>
          <a:xfrm>
            <a:off x="6217920" y="3931920"/>
            <a:ext cx="5303520" cy="182880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4078224"/>
            <a:ext cx="4901184" cy="1554480"/>
          </a:xfrm>
          <a:prstGeom prst="rect">
            <a:avLst/>
          </a:prstGeom>
          <a:noFill/>
        </p:spPr>
        <p:txBody>
          <a:bodyPr wrap="square" anchor="t" lIns="0" rIns="0" tIns="0" bIns="0">
            <a:spAutoFit/>
          </a:bodyPr>
          <a:lstStyle/>
          <a:p>
            <a:r>
              <a:rPr sz="1200" b="1" i="0">
                <a:solidFill>
                  <a:srgbClr val="4C9FFE"/>
                </a:solidFill>
                <a:latin typeface="Segoe UI"/>
              </a:rPr>
              <a:t>ASK ABOUT BOUNDARIES</a:t>
            </a:r>
          </a:p>
          <a:p>
            <a:pPr>
              <a:spcBef>
                <a:spcPts val="600"/>
              </a:spcBef>
            </a:pPr>
            <a:r>
              <a:rPr sz="1300" b="0" i="0">
                <a:solidFill>
                  <a:srgbClr val="9AA2C0"/>
                </a:solidFill>
                <a:latin typeface="Segoe UI"/>
              </a:rPr>
              <a:t>Where does UI end and API begin? Where does API end and worker begin?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HOMEWORK</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Try this yourself, this week</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10881360" cy="2377440"/>
          </a:xfrm>
          <a:prstGeom prst="roundRect">
            <a:avLst>
              <a:gd name="adj" fmla="val 6000"/>
            </a:avLst>
          </a:prstGeom>
          <a:solidFill>
            <a:srgbClr val="0D1020"/>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28800"/>
            <a:ext cx="10881360" cy="365760"/>
          </a:xfrm>
          <a:prstGeom prst="roundRect">
            <a:avLst/>
          </a:prstGeom>
          <a:solidFill>
            <a:srgbClr val="151934"/>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83664"/>
            <a:ext cx="10515600" cy="274320"/>
          </a:xfrm>
          <a:prstGeom prst="rect">
            <a:avLst/>
          </a:prstGeom>
          <a:noFill/>
        </p:spPr>
        <p:txBody>
          <a:bodyPr wrap="square" anchor="t" lIns="0" rIns="0" tIns="0" bIns="0">
            <a:spAutoFit/>
          </a:bodyPr>
          <a:lstStyle/>
          <a:p>
            <a:r>
              <a:rPr sz="1100" b="0" i="0">
                <a:solidFill>
                  <a:srgbClr val="9AA2C0"/>
                </a:solidFill>
                <a:latin typeface="Consolas"/>
              </a:rPr>
              <a:t>●  ●  ●    prompt-template.txt</a:t>
            </a:r>
          </a:p>
        </p:txBody>
      </p:sp>
      <p:sp>
        <p:nvSpPr>
          <p:cNvPr id="9" name="TextBox 8"/>
          <p:cNvSpPr txBox="1"/>
          <p:nvPr/>
        </p:nvSpPr>
        <p:spPr>
          <a:xfrm>
            <a:off x="868680" y="2331720"/>
            <a:ext cx="10424160" cy="1691640"/>
          </a:xfrm>
          <a:prstGeom prst="rect">
            <a:avLst/>
          </a:prstGeom>
          <a:noFill/>
        </p:spPr>
        <p:txBody>
          <a:bodyPr wrap="square" anchor="t" lIns="0" rIns="0" tIns="0" bIns="0">
            <a:spAutoFit/>
          </a:bodyPr>
          <a:lstStyle/>
          <a:p>
            <a:pPr>
              <a:lnSpc>
                <a:spcPct val="130000"/>
              </a:lnSpc>
            </a:pPr>
            <a:r>
              <a:rPr sz="1400" b="0" i="0">
                <a:solidFill>
                  <a:srgbClr val="D6DCF5"/>
                </a:solidFill>
                <a:latin typeface="Consolas"/>
              </a:rPr>
              <a:t>&gt; Here's my rough idea: [describe your process in 2-3 sentences]. Turn this into a spec for a coding agent building it on Temporal. Explicitly call out: which steps need retries and what kind of failures they should tolerate, where a human needs to approve/reject/provide input and how long we should wait, what a crash mid-process must not lose, and how the UI/API/worker boundaries should be drawn. Then build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GO BUILD SOMETHING</a:t>
            </a:r>
          </a:p>
        </p:txBody>
      </p:sp>
      <p:sp>
        <p:nvSpPr>
          <p:cNvPr id="4" name="TextBox 3"/>
          <p:cNvSpPr txBox="1"/>
          <p:nvPr/>
        </p:nvSpPr>
        <p:spPr>
          <a:xfrm>
            <a:off x="640080" y="822960"/>
            <a:ext cx="10881360" cy="1188720"/>
          </a:xfrm>
          <a:prstGeom prst="rect">
            <a:avLst/>
          </a:prstGeom>
          <a:noFill/>
        </p:spPr>
        <p:txBody>
          <a:bodyPr wrap="square" anchor="t" lIns="0" rIns="0" tIns="0" bIns="0">
            <a:spAutoFit/>
          </a:bodyPr>
          <a:lstStyle/>
          <a:p>
            <a:r>
              <a:rPr sz="3000" b="1" i="0">
                <a:solidFill>
                  <a:srgbClr val="E6E9F5"/>
                </a:solidFill>
                <a:latin typeface="Segoe UI"/>
              </a:rPr>
              <a:t>Resources</a:t>
            </a:r>
          </a:p>
        </p:txBody>
      </p:sp>
      <p:sp>
        <p:nvSpPr>
          <p:cNvPr id="5" name="TextBox 4"/>
          <p:cNvSpPr txBox="1"/>
          <p:nvPr/>
        </p:nvSpPr>
        <p:spPr>
          <a:xfrm>
            <a:off x="640080" y="6446520"/>
            <a:ext cx="5486400" cy="320040"/>
          </a:xfrm>
          <a:prstGeom prst="rect">
            <a:avLst/>
          </a:prstGeom>
          <a:noFill/>
        </p:spPr>
        <p:txBody>
          <a:bodyPr wrap="square" anchor="t" lIns="0" rIns="0" tIns="0" bIns="0">
            <a:spAutoFit/>
          </a:bodyPr>
          <a:lstStyle/>
          <a:p>
            <a:r>
              <a:rPr sz="1000" b="0" i="0">
                <a:solidFill>
                  <a:srgbClr val="9AA2C0"/>
                </a:solidFill>
                <a:latin typeface="Segoe UI"/>
              </a:rPr>
              <a:t>◈ Temporal · Lifting the Veil</a:t>
            </a:r>
          </a:p>
        </p:txBody>
      </p:sp>
      <p:sp>
        <p:nvSpPr>
          <p:cNvPr id="6" name="Rounded Rectangle 5"/>
          <p:cNvSpPr/>
          <p:nvPr/>
        </p:nvSpPr>
        <p:spPr>
          <a:xfrm>
            <a:off x="640080" y="1828800"/>
            <a:ext cx="5303520" cy="14630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75104"/>
            <a:ext cx="4901184" cy="1188720"/>
          </a:xfrm>
          <a:prstGeom prst="rect">
            <a:avLst/>
          </a:prstGeom>
          <a:noFill/>
        </p:spPr>
        <p:txBody>
          <a:bodyPr wrap="square" anchor="t" lIns="0" rIns="0" tIns="0" bIns="0">
            <a:spAutoFit/>
          </a:bodyPr>
          <a:lstStyle/>
          <a:p>
            <a:r>
              <a:rPr sz="1200" b="1" i="0">
                <a:solidFill>
                  <a:srgbClr val="4C9FFE"/>
                </a:solidFill>
                <a:latin typeface="Segoe UI"/>
              </a:rPr>
              <a:t>THIS DEMO</a:t>
            </a:r>
          </a:p>
          <a:p>
            <a:pPr>
              <a:spcBef>
                <a:spcPts val="600"/>
              </a:spcBef>
            </a:pPr>
            <a:r>
              <a:rPr sz="1300" b="0" i="0">
                <a:solidFill>
                  <a:srgbClr val="9AA2C0"/>
                </a:solidFill>
                <a:latin typeface="Segoe UI"/>
              </a:rPr>
              <a:t>Full source, README, tests — github.com/simy307/temporal-claims-demo</a:t>
            </a:r>
          </a:p>
        </p:txBody>
      </p:sp>
      <p:sp>
        <p:nvSpPr>
          <p:cNvPr id="8" name="Rounded Rectangle 7"/>
          <p:cNvSpPr/>
          <p:nvPr/>
        </p:nvSpPr>
        <p:spPr>
          <a:xfrm>
            <a:off x="6217920" y="1828800"/>
            <a:ext cx="5303520" cy="14630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75104"/>
            <a:ext cx="4901184" cy="1188720"/>
          </a:xfrm>
          <a:prstGeom prst="rect">
            <a:avLst/>
          </a:prstGeom>
          <a:noFill/>
        </p:spPr>
        <p:txBody>
          <a:bodyPr wrap="square" anchor="t" lIns="0" rIns="0" tIns="0" bIns="0">
            <a:spAutoFit/>
          </a:bodyPr>
          <a:lstStyle/>
          <a:p>
            <a:r>
              <a:rPr sz="1200" b="1" i="0">
                <a:solidFill>
                  <a:srgbClr val="4C9FFE"/>
                </a:solidFill>
                <a:latin typeface="Segoe UI"/>
              </a:rPr>
              <a:t>TEMPORAL DOCS</a:t>
            </a:r>
          </a:p>
          <a:p>
            <a:pPr>
              <a:spcBef>
                <a:spcPts val="600"/>
              </a:spcBef>
            </a:pPr>
            <a:r>
              <a:rPr sz="1300" b="0" i="0">
                <a:solidFill>
                  <a:srgbClr val="9AA2C0"/>
                </a:solidFill>
                <a:latin typeface="Segoe UI"/>
              </a:rPr>
              <a:t>docs.temporal.io · TypeScript SDK samples</a:t>
            </a:r>
          </a:p>
        </p:txBody>
      </p:sp>
      <p:sp>
        <p:nvSpPr>
          <p:cNvPr id="10" name="Rounded Rectangle 9"/>
          <p:cNvSpPr/>
          <p:nvPr/>
        </p:nvSpPr>
        <p:spPr>
          <a:xfrm>
            <a:off x="640080" y="3566160"/>
            <a:ext cx="5303520" cy="14630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712464"/>
            <a:ext cx="4901184" cy="1188720"/>
          </a:xfrm>
          <a:prstGeom prst="rect">
            <a:avLst/>
          </a:prstGeom>
          <a:noFill/>
        </p:spPr>
        <p:txBody>
          <a:bodyPr wrap="square" anchor="t" lIns="0" rIns="0" tIns="0" bIns="0">
            <a:spAutoFit/>
          </a:bodyPr>
          <a:lstStyle/>
          <a:p>
            <a:r>
              <a:rPr sz="1200" b="1" i="0">
                <a:solidFill>
                  <a:srgbClr val="4C9FFE"/>
                </a:solidFill>
                <a:latin typeface="Segoe UI"/>
              </a:rPr>
              <a:t>COMMUNITY</a:t>
            </a:r>
          </a:p>
          <a:p>
            <a:pPr>
              <a:spcBef>
                <a:spcPts val="600"/>
              </a:spcBef>
            </a:pPr>
            <a:r>
              <a:rPr sz="1300" b="0" i="0">
                <a:solidFill>
                  <a:srgbClr val="9AA2C0"/>
                </a:solidFill>
                <a:latin typeface="Segoe UI"/>
              </a:rPr>
              <a:t>Temporal Slack · community forum · local meetups</a:t>
            </a:r>
          </a:p>
        </p:txBody>
      </p:sp>
      <p:sp>
        <p:nvSpPr>
          <p:cNvPr id="12" name="Rounded Rectangle 11"/>
          <p:cNvSpPr/>
          <p:nvPr/>
        </p:nvSpPr>
        <p:spPr>
          <a:xfrm>
            <a:off x="6217920" y="3566160"/>
            <a:ext cx="5303520" cy="1463040"/>
          </a:xfrm>
          <a:prstGeom prst="roundRect">
            <a:avLst>
              <a:gd name="adj" fmla="val 6000"/>
            </a:avLst>
          </a:prstGeom>
          <a:solidFill>
            <a:srgbClr val="141828"/>
          </a:solidFill>
          <a:ln w="12700">
            <a:solidFill>
              <a:srgbClr val="232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3712464"/>
            <a:ext cx="4901184" cy="1188720"/>
          </a:xfrm>
          <a:prstGeom prst="rect">
            <a:avLst/>
          </a:prstGeom>
          <a:noFill/>
        </p:spPr>
        <p:txBody>
          <a:bodyPr wrap="square" anchor="t" lIns="0" rIns="0" tIns="0" bIns="0">
            <a:spAutoFit/>
          </a:bodyPr>
          <a:lstStyle/>
          <a:p>
            <a:r>
              <a:rPr sz="1200" b="1" i="0">
                <a:solidFill>
                  <a:srgbClr val="4C9FFE"/>
                </a:solidFill>
                <a:latin typeface="Segoe UI"/>
              </a:rPr>
              <a:t>THE PROMPT TEMPLATE</a:t>
            </a:r>
          </a:p>
          <a:p>
            <a:pPr>
              <a:spcBef>
                <a:spcPts val="600"/>
              </a:spcBef>
            </a:pPr>
            <a:r>
              <a:rPr sz="1300" b="0" i="0">
                <a:solidFill>
                  <a:srgbClr val="9AA2C0"/>
                </a:solidFill>
                <a:latin typeface="Segoe UI"/>
              </a:rPr>
              <a:t>Previous slide — steal it, adapt it, use it on your own use case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10515600" cy="365760"/>
          </a:xfrm>
          <a:prstGeom prst="rect">
            <a:avLst/>
          </a:prstGeom>
          <a:noFill/>
        </p:spPr>
        <p:txBody>
          <a:bodyPr wrap="square" anchor="t" lIns="0" rIns="0" tIns="0" bIns="0">
            <a:spAutoFit/>
          </a:bodyPr>
          <a:lstStyle/>
          <a:p>
            <a:pPr>
              <a:defRPr>
                <a:latin typeface="Segoe UI"/>
              </a:defRPr>
            </a:pPr>
            <a:r>
              <a:rPr sz="1300" b="1" i="0">
                <a:solidFill>
                  <a:srgbClr val="4C9FFE"/>
                </a:solidFill>
                <a:latin typeface="Segoe UI"/>
              </a:rPr>
              <a:t>TEMPORAL · ENGINEERING TALK</a:t>
            </a:r>
          </a:p>
        </p:txBody>
      </p:sp>
      <p:sp>
        <p:nvSpPr>
          <p:cNvPr id="4" name="TextBox 3"/>
          <p:cNvSpPr txBox="1"/>
          <p:nvPr/>
        </p:nvSpPr>
        <p:spPr>
          <a:xfrm>
            <a:off x="640080" y="2468880"/>
            <a:ext cx="9144000" cy="1463040"/>
          </a:xfrm>
          <a:prstGeom prst="rect">
            <a:avLst/>
          </a:prstGeom>
          <a:noFill/>
        </p:spPr>
        <p:txBody>
          <a:bodyPr wrap="square" anchor="t" lIns="0" rIns="0" tIns="0" bIns="0">
            <a:spAutoFit/>
          </a:bodyPr>
          <a:lstStyle/>
          <a:p>
            <a:r>
              <a:rPr sz="5400" b="1" i="0">
                <a:solidFill>
                  <a:srgbClr val="E6E9F5"/>
                </a:solidFill>
                <a:latin typeface="Segoe UI"/>
              </a:rPr>
              <a:t>Thank you.</a:t>
            </a:r>
          </a:p>
        </p:txBody>
      </p:sp>
      <p:sp>
        <p:nvSpPr>
          <p:cNvPr id="5" name="TextBox 4"/>
          <p:cNvSpPr txBox="1"/>
          <p:nvPr/>
        </p:nvSpPr>
        <p:spPr>
          <a:xfrm>
            <a:off x="640080" y="3931920"/>
            <a:ext cx="7772400" cy="1097280"/>
          </a:xfrm>
          <a:prstGeom prst="rect">
            <a:avLst/>
          </a:prstGeom>
          <a:noFill/>
        </p:spPr>
        <p:txBody>
          <a:bodyPr wrap="square" anchor="t" lIns="0" rIns="0" tIns="0" bIns="0">
            <a:spAutoFit/>
          </a:bodyPr>
          <a:lstStyle/>
          <a:p>
            <a:r>
              <a:rPr sz="2000" b="0" i="0">
                <a:solidFill>
                  <a:srgbClr val="9AA2C0"/>
                </a:solidFill>
                <a:latin typeface="Segoe UI"/>
              </a:rPr>
              <a:t/>
            </a:r>
          </a:p>
        </p:txBody>
      </p:sp>
      <p:sp>
        <p:nvSpPr>
          <p:cNvPr id="6" name="Rectangle 5"/>
          <p:cNvSpPr/>
          <p:nvPr/>
        </p:nvSpPr>
        <p:spPr>
          <a:xfrm>
            <a:off x="640080" y="5212080"/>
            <a:ext cx="10881360" cy="12700"/>
          </a:xfrm>
          <a:prstGeom prst="rect">
            <a:avLst/>
          </a:prstGeom>
          <a:solidFill>
            <a:srgbClr val="23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