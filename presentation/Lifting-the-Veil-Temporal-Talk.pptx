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temporalio/skill-temporal-developer"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83664"/>
            <a:ext cx="3136392" cy="822960"/>
          </a:xfrm>
          <a:prstGeom prst="rect">
            <a:avLst/>
          </a:prstGeom>
          <a:noFill/>
        </p:spPr>
        <p:txBody>
          <a:bodyPr wrap="square" anchor="t" lIns="0" rIns="0" tIns="0" bIns="0">
            <a:spAutoFit/>
          </a:bodyPr>
          <a:lstStyle/>
          <a:p>
            <a:r>
              <a:rPr sz="1800" b="1" i="0">
                <a:solidFill>
                  <a:srgbClr val="E6E9F5"/>
                </a:solidFill>
                <a:latin typeface="Segoe UI"/>
              </a:rPr>
              <a:t>1. Submitted</a:t>
            </a:r>
          </a:p>
          <a:p>
            <a:r>
              <a:rPr sz="1300" b="0" i="0">
                <a:solidFill>
                  <a:srgbClr val="4C9FFE"/>
                </a:solidFill>
                <a:latin typeface="Consolas"/>
              </a:rPr>
              <a:t>workflow start</a:t>
            </a:r>
          </a:p>
        </p:txBody>
      </p:sp>
      <p:sp>
        <p:nvSpPr>
          <p:cNvPr id="8" name="Rounded Rectangle 7"/>
          <p:cNvSpPr/>
          <p:nvPr/>
        </p:nvSpPr>
        <p:spPr>
          <a:xfrm>
            <a:off x="4306824"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9704" y="1883664"/>
            <a:ext cx="3136392" cy="822960"/>
          </a:xfrm>
          <a:prstGeom prst="rect">
            <a:avLst/>
          </a:prstGeom>
          <a:noFill/>
        </p:spPr>
        <p:txBody>
          <a:bodyPr wrap="square" anchor="t" lIns="0" rIns="0" tIns="0" bIns="0">
            <a:spAutoFit/>
          </a:bodyPr>
          <a:lstStyle/>
          <a:p>
            <a:r>
              <a:rPr sz="1800" b="1" i="0">
                <a:solidFill>
                  <a:srgbClr val="E6E9F5"/>
                </a:solidFill>
                <a:latin typeface="Segoe UI"/>
              </a:rPr>
              <a:t>2. Validation</a:t>
            </a:r>
          </a:p>
          <a:p>
            <a:r>
              <a:rPr sz="1300" b="1" i="0">
                <a:solidFill>
                  <a:srgbClr val="7C5CFF"/>
                </a:solidFill>
                <a:latin typeface="Consolas"/>
              </a:rPr>
              <a:t>activity</a:t>
            </a:r>
            <a:r>
              <a:rPr sz="1300" b="0" i="0">
                <a:solidFill>
                  <a:srgbClr val="4C9FFE"/>
                </a:solidFill>
                <a:latin typeface="Consolas"/>
              </a:rPr>
              <a:t> + retry</a:t>
            </a:r>
          </a:p>
        </p:txBody>
      </p:sp>
      <p:sp>
        <p:nvSpPr>
          <p:cNvPr id="10" name="Rounded Rectangle 9"/>
          <p:cNvSpPr/>
          <p:nvPr/>
        </p:nvSpPr>
        <p:spPr>
          <a:xfrm>
            <a:off x="7973568"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1883664"/>
            <a:ext cx="3136392" cy="822960"/>
          </a:xfrm>
          <a:prstGeom prst="rect">
            <a:avLst/>
          </a:prstGeom>
          <a:noFill/>
        </p:spPr>
        <p:txBody>
          <a:bodyPr wrap="square" anchor="t" lIns="0" rIns="0" tIns="0" bIns="0">
            <a:spAutoFit/>
          </a:bodyPr>
          <a:lstStyle/>
          <a:p>
            <a:r>
              <a:rPr sz="1800" b="1" i="0">
                <a:solidFill>
                  <a:srgbClr val="E6E9F5"/>
                </a:solidFill>
                <a:latin typeface="Segoe UI"/>
              </a:rPr>
              <a:t>3. Coverage check</a:t>
            </a:r>
          </a:p>
          <a:p>
            <a:r>
              <a:rPr sz="1300" b="1" i="0">
                <a:solidFill>
                  <a:srgbClr val="7C5CFF"/>
                </a:solidFill>
                <a:latin typeface="Consolas"/>
              </a:rPr>
              <a:t>activity</a:t>
            </a:r>
            <a:r>
              <a:rPr sz="1300" b="0" i="0">
                <a:solidFill>
                  <a:srgbClr val="4C9FFE"/>
                </a:solidFill>
                <a:latin typeface="Consolas"/>
              </a:rPr>
              <a:t> + retry</a:t>
            </a:r>
          </a:p>
        </p:txBody>
      </p:sp>
      <p:sp>
        <p:nvSpPr>
          <p:cNvPr id="12" name="Rounded Rectangle 11"/>
          <p:cNvSpPr/>
          <p:nvPr/>
        </p:nvSpPr>
        <p:spPr>
          <a:xfrm>
            <a:off x="640080"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99816"/>
            <a:ext cx="3136392" cy="822960"/>
          </a:xfrm>
          <a:prstGeom prst="rect">
            <a:avLst/>
          </a:prstGeom>
          <a:noFill/>
        </p:spPr>
        <p:txBody>
          <a:bodyPr wrap="square" anchor="t" lIns="0" rIns="0" tIns="0" bIns="0">
            <a:spAutoFit/>
          </a:bodyPr>
          <a:lstStyle/>
          <a:p>
            <a:r>
              <a:rPr sz="1800" b="1" i="0">
                <a:solidFill>
                  <a:srgbClr val="E6E9F5"/>
                </a:solidFill>
                <a:latin typeface="Segoe UI"/>
              </a:rPr>
              <a:t>4. Damage assessment</a:t>
            </a:r>
          </a:p>
          <a:p>
            <a:r>
              <a:rPr sz="1300" b="0" i="0">
                <a:solidFill>
                  <a:srgbClr val="4C9FFE"/>
                </a:solidFill>
                <a:latin typeface="Consolas"/>
              </a:rPr>
              <a:t>heartbeat + cancel</a:t>
            </a:r>
          </a:p>
        </p:txBody>
      </p:sp>
      <p:sp>
        <p:nvSpPr>
          <p:cNvPr id="14" name="Rounded Rectangle 13"/>
          <p:cNvSpPr/>
          <p:nvPr/>
        </p:nvSpPr>
        <p:spPr>
          <a:xfrm>
            <a:off x="4306824"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4" y="3099816"/>
            <a:ext cx="3136392" cy="822960"/>
          </a:xfrm>
          <a:prstGeom prst="rect">
            <a:avLst/>
          </a:prstGeom>
          <a:noFill/>
        </p:spPr>
        <p:txBody>
          <a:bodyPr wrap="square" anchor="t" lIns="0" rIns="0" tIns="0" bIns="0">
            <a:spAutoFit/>
          </a:bodyPr>
          <a:lstStyle/>
          <a:p>
            <a:r>
              <a:rPr sz="1800" b="1" i="0">
                <a:solidFill>
                  <a:srgbClr val="E6E9F5"/>
                </a:solidFill>
                <a:latin typeface="Segoe UI"/>
              </a:rPr>
              <a:t>5. Fraud evaluation</a:t>
            </a:r>
          </a:p>
          <a:p>
            <a:r>
              <a:rPr sz="1300" b="0" i="0">
                <a:solidFill>
                  <a:srgbClr val="4C9FFE"/>
                </a:solidFill>
                <a:latin typeface="Consolas"/>
              </a:rPr>
              <a:t>child workflow</a:t>
            </a:r>
          </a:p>
        </p:txBody>
      </p:sp>
      <p:sp>
        <p:nvSpPr>
          <p:cNvPr id="16" name="Rounded Rectangle 15"/>
          <p:cNvSpPr/>
          <p:nvPr/>
        </p:nvSpPr>
        <p:spPr>
          <a:xfrm>
            <a:off x="7973568"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3099816"/>
            <a:ext cx="3136392" cy="822960"/>
          </a:xfrm>
          <a:prstGeom prst="rect">
            <a:avLst/>
          </a:prstGeom>
          <a:noFill/>
        </p:spPr>
        <p:txBody>
          <a:bodyPr wrap="square" anchor="t" lIns="0" rIns="0" tIns="0" bIns="0">
            <a:spAutoFit/>
          </a:bodyPr>
          <a:lstStyle/>
          <a:p>
            <a:r>
              <a:rPr sz="1800" b="1" i="0">
                <a:solidFill>
                  <a:srgbClr val="E6E9F5"/>
                </a:solidFill>
                <a:latin typeface="Segoe UI"/>
              </a:rPr>
              <a:t>6. Human review</a:t>
            </a:r>
          </a:p>
          <a:p>
            <a:r>
              <a:rPr sz="1300" b="0" i="0">
                <a:solidFill>
                  <a:srgbClr val="4C9FFE"/>
                </a:solidFill>
                <a:latin typeface="Consolas"/>
              </a:rPr>
              <a:t>signal · waits forever</a:t>
            </a:r>
          </a:p>
        </p:txBody>
      </p:sp>
      <p:sp>
        <p:nvSpPr>
          <p:cNvPr id="18" name="Rounded Rectangle 17"/>
          <p:cNvSpPr/>
          <p:nvPr/>
        </p:nvSpPr>
        <p:spPr>
          <a:xfrm>
            <a:off x="640080"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15968"/>
            <a:ext cx="3136392" cy="822960"/>
          </a:xfrm>
          <a:prstGeom prst="rect">
            <a:avLst/>
          </a:prstGeom>
          <a:noFill/>
        </p:spPr>
        <p:txBody>
          <a:bodyPr wrap="square" anchor="t" lIns="0" rIns="0" tIns="0" bIns="0">
            <a:spAutoFit/>
          </a:bodyPr>
          <a:lstStyle/>
          <a:p>
            <a:r>
              <a:rPr sz="1800" b="1" i="0">
                <a:solidFill>
                  <a:srgbClr val="E6E9F5"/>
                </a:solidFill>
                <a:latin typeface="Segoe UI"/>
              </a:rPr>
              <a:t>7. Decision</a:t>
            </a:r>
          </a:p>
          <a:p>
            <a:r>
              <a:rPr sz="1300" b="0" i="0">
                <a:solidFill>
                  <a:srgbClr val="4C9FFE"/>
                </a:solidFill>
                <a:latin typeface="Consolas"/>
              </a:rPr>
              <a:t>saga: release/reserve</a:t>
            </a:r>
          </a:p>
        </p:txBody>
      </p:sp>
      <p:sp>
        <p:nvSpPr>
          <p:cNvPr id="20" name="Rounded Rectangle 19"/>
          <p:cNvSpPr/>
          <p:nvPr/>
        </p:nvSpPr>
        <p:spPr>
          <a:xfrm>
            <a:off x="4306824"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9704" y="4315968"/>
            <a:ext cx="3136392" cy="822960"/>
          </a:xfrm>
          <a:prstGeom prst="rect">
            <a:avLst/>
          </a:prstGeom>
          <a:noFill/>
        </p:spPr>
        <p:txBody>
          <a:bodyPr wrap="square" anchor="t" lIns="0" rIns="0" tIns="0" bIns="0">
            <a:spAutoFit/>
          </a:bodyPr>
          <a:lstStyle/>
          <a:p>
            <a:r>
              <a:rPr sz="1800" b="1" i="0">
                <a:solidFill>
                  <a:srgbClr val="E6E9F5"/>
                </a:solidFill>
                <a:latin typeface="Segoe UI"/>
              </a:rPr>
              <a:t>8. Payment</a:t>
            </a:r>
          </a:p>
          <a:p>
            <a:r>
              <a:rPr sz="1300" b="0" i="0">
                <a:solidFill>
                  <a:srgbClr val="4C9FFE"/>
                </a:solidFill>
                <a:latin typeface="Consolas"/>
              </a:rPr>
              <a:t>durable timer + </a:t>
            </a:r>
            <a:r>
              <a:rPr sz="1300" b="1" i="0">
                <a:solidFill>
                  <a:srgbClr val="7C5CFF"/>
                </a:solidFill>
                <a:latin typeface="Consolas"/>
              </a:rPr>
              <a:t>activity</a:t>
            </a:r>
          </a:p>
        </p:txBody>
      </p:sp>
      <p:sp>
        <p:nvSpPr>
          <p:cNvPr id="22" name="Rounded Rectangle 21"/>
          <p:cNvSpPr/>
          <p:nvPr/>
        </p:nvSpPr>
        <p:spPr>
          <a:xfrm>
            <a:off x="7973568"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4315968"/>
            <a:ext cx="3136392" cy="822960"/>
          </a:xfrm>
          <a:prstGeom prst="rect">
            <a:avLst/>
          </a:prstGeom>
          <a:noFill/>
        </p:spPr>
        <p:txBody>
          <a:bodyPr wrap="square" anchor="t" lIns="0" rIns="0" tIns="0" bIns="0">
            <a:spAutoFit/>
          </a:bodyPr>
          <a:lstStyle/>
          <a:p>
            <a:r>
              <a:rPr sz="1800" b="1" i="0">
                <a:solidFill>
                  <a:srgbClr val="E6E9F5"/>
                </a:solidFill>
                <a:latin typeface="Segoe UI"/>
              </a:rPr>
              <a:t>9. Completed</a:t>
            </a:r>
          </a:p>
          <a:p>
            <a:r>
              <a:rPr sz="1300" b="0" i="0">
                <a:solidFill>
                  <a:srgbClr val="4C9FFE"/>
                </a:solidFill>
                <a:latin typeface="Consolas"/>
              </a:rPr>
              <a:t>workflow result</a:t>
            </a:r>
          </a:p>
        </p:txBody>
      </p:sp>
      <p:sp>
        <p:nvSpPr>
          <p:cNvPr id="24" name="TextBox 23"/>
          <p:cNvSpPr txBox="1"/>
          <p:nvPr/>
        </p:nvSpPr>
        <p:spPr>
          <a:xfrm>
            <a:off x="640080" y="5257800"/>
            <a:ext cx="10515600" cy="1097280"/>
          </a:xfrm>
          <a:prstGeom prst="rect">
            <a:avLst/>
          </a:prstGeom>
          <a:noFill/>
        </p:spPr>
        <p:txBody>
          <a:bodyPr wrap="square" anchor="t" lIns="0" rIns="0" tIns="0" bIns="0">
            <a:spAutoFit/>
          </a:bodyPr>
          <a:lstStyle/>
          <a:p>
            <a:r>
              <a:rPr sz="1500" b="0" i="0">
                <a:solidFill>
                  <a:srgbClr val="9AA2C0"/>
                </a:solidFill>
                <a:latin typeface="Segoe UI"/>
              </a:rPr>
              <a:t>Every chip on this rail is a query result, live, from a running Temporal workflow.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