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4" ContentType="video/unknown"/>
  <Override PartName="/ppt/media/media2.mp4" ContentType="video/unknown"/>
  <Override PartName="/ppt/media/media3.mp4" ContentType="video/unknown"/>
  <Override PartName="/ppt/media/media4.mp4" ContentType="video/unknown"/>
  <Override PartName="/ppt/media/media5.mp4" ContentType="video/unknown"/>
  <Override PartName="/ppt/media/media6.mp4" ContentType="video/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turning point: the prompt stopped being a wish list and became a set of architectural constraints, Temporal capabilities, UI requirements, and acceptance criteria.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top is the entire body — just a proxyActivities call and three activity invocations, two of them running in parallel. That parallelism is exactly what you see as two overlapping bars below,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a generalized checklist for deciding whether a process maps cleanly to Temporal.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temporalio/skill-temporal-developer"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jpg"/><Relationship Id="rId5"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jpg"/><Relationship Id="rId5"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4.jpg"/><Relationship Id="rId5"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5.jpg"/><Relationship Id="rId5"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6.jpg"/><Relationship Id="rId5"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7.jpg"/><Relationship Id="rId5"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 concrete way to see what Temporal can do for your use case.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IT BECAME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An excerpt from the full implementation prompt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 — Temporal claims demo spec</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100" b="0" i="0">
                <a:solidFill>
                  <a:srgbClr val="D6DCF5"/>
                </a:solidFill>
                <a:latin typeface="Consolas"/>
              </a:rPr>
              <a:t>&gt; Create a working monorepo using:
- Temporal TypeScript SDK
- A local Temporal development server
- NestJS for the backend/API and Temporal worker
- React with TypeScript for the UI
- Docker Compose where useful
Do not use a database. Temporal must be the source of truth for workflow state and progress.
The human-review step should wait indefinitely for an adjuster to approve, deny, or request more information. The UI must clearly show that the workflow is waiting for input and provide controls for sending the appropriate signal.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 is not said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
        <p:nvSpPr>
          <p:cNvPr id="10" name="TextBox 9"/>
          <p:cNvSpPr txBox="1"/>
          <p:nvPr/>
        </p:nvSpPr>
        <p:spPr>
          <a:xfrm>
            <a:off x="640080" y="5897880"/>
            <a:ext cx="10881360" cy="320040"/>
          </a:xfrm>
          <a:prstGeom prst="rect">
            <a:avLst/>
          </a:prstGeom>
          <a:noFill/>
        </p:spPr>
        <p:txBody>
          <a:bodyPr wrap="square" anchor="t" lIns="0" rIns="0" tIns="0" bIns="0">
            <a:spAutoFit/>
          </a:bodyPr>
          <a:lstStyle/>
          <a:p>
            <a:r>
              <a:rPr sz="1300" b="0" i="0">
                <a:solidFill>
                  <a:srgbClr val="9AA2C0"/>
                </a:solidFill>
                <a:latin typeface="Segoe UI"/>
              </a:rPr>
              <a:t>Temporal AI skill: </a:t>
            </a:r>
            <a:r>
              <a:rPr sz="1300" b="0" i="0">
                <a:solidFill>
                  <a:srgbClr val="4C9FFE"/>
                </a:solidFill>
                <a:latin typeface="Consolas"/>
                <a:hlinkClick r:id="rId3"/>
              </a:rPr>
              <a:t>github.com/temporalio/skill-temporal-developer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029968"/>
            <a:ext cx="4709160" cy="914400"/>
          </a:xfrm>
          <a:prstGeom prst="rect">
            <a:avLst/>
          </a:prstGeom>
          <a:noFill/>
        </p:spPr>
        <p:txBody>
          <a:bodyPr wrap="square" anchor="t" lIns="0" rIns="0" tIns="0" bIns="0">
            <a:spAutoFit/>
          </a:bodyPr>
          <a:lstStyle/>
          <a:p>
            <a:r>
              <a:rPr sz="1800" b="1" i="0">
                <a:solidFill>
                  <a:srgbClr val="E6E9F5"/>
                </a:solidFill>
                <a:latin typeface="Segoe UI"/>
              </a:rPr>
              <a:t>React Dashboard</a:t>
            </a:r>
          </a:p>
          <a:p>
            <a:pPr>
              <a:spcBef>
                <a:spcPts val="500"/>
              </a:spcBef>
            </a:pPr>
            <a:r>
              <a:rPr sz="1300" b="0" i="0">
                <a:solidFill>
                  <a:srgbClr val="9AA2C0"/>
                </a:solidFill>
                <a:latin typeface="Segoe UI"/>
              </a:rPr>
              <a:t>Polls the API and keeps only preferences + recent workflow IDs in localStorage.</a:t>
            </a:r>
          </a:p>
        </p:txBody>
      </p:sp>
      <p:sp>
        <p:nvSpPr>
          <p:cNvPr id="8" name="Rounded Rectangle 7"/>
          <p:cNvSpPr/>
          <p:nvPr/>
        </p:nvSpPr>
        <p:spPr>
          <a:xfrm>
            <a:off x="5989320" y="182880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2029968"/>
            <a:ext cx="4709160" cy="914400"/>
          </a:xfrm>
          <a:prstGeom prst="rect">
            <a:avLst/>
          </a:prstGeom>
          <a:noFill/>
        </p:spPr>
        <p:txBody>
          <a:bodyPr wrap="square" anchor="t" lIns="0" rIns="0" tIns="0" bIns="0">
            <a:spAutoFit/>
          </a:bodyPr>
          <a:lstStyle/>
          <a:p>
            <a:r>
              <a:rPr sz="1800" b="1" i="0">
                <a:solidFill>
                  <a:srgbClr val="E6E9F5"/>
                </a:solidFill>
                <a:latin typeface="Segoe UI"/>
              </a:rPr>
              <a:t>NestJS API</a:t>
            </a:r>
          </a:p>
          <a:p>
            <a:pPr>
              <a:spcBef>
                <a:spcPts val="500"/>
              </a:spcBef>
            </a:pPr>
            <a:r>
              <a:rPr sz="1300" b="0" i="0">
                <a:solidFill>
                  <a:srgbClr val="9AA2C0"/>
                </a:solidFill>
                <a:latin typeface="Segoe UI"/>
              </a:rPr>
              <a:t>REST facade that starts workflows, sends signals, and runs workflow queries.</a:t>
            </a:r>
          </a:p>
        </p:txBody>
      </p:sp>
      <p:sp>
        <p:nvSpPr>
          <p:cNvPr id="10" name="Rounded Rectangle 9"/>
          <p:cNvSpPr/>
          <p:nvPr/>
        </p:nvSpPr>
        <p:spPr>
          <a:xfrm>
            <a:off x="640080" y="3246120"/>
            <a:ext cx="5166360" cy="12344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447288"/>
            <a:ext cx="4709160" cy="914400"/>
          </a:xfrm>
          <a:prstGeom prst="rect">
            <a:avLst/>
          </a:prstGeom>
          <a:noFill/>
        </p:spPr>
        <p:txBody>
          <a:bodyPr wrap="square" anchor="t" lIns="0" rIns="0" tIns="0" bIns="0">
            <a:spAutoFit/>
          </a:bodyPr>
          <a:lstStyle/>
          <a:p>
            <a:r>
              <a:rPr sz="1800" b="1" i="0">
                <a:solidFill>
                  <a:srgbClr val="4C9FFE"/>
                </a:solidFill>
                <a:latin typeface="Segoe UI"/>
              </a:rPr>
              <a:t>Temporal Server</a:t>
            </a:r>
          </a:p>
          <a:p>
            <a:pPr>
              <a:spcBef>
                <a:spcPts val="500"/>
              </a:spcBef>
            </a:pPr>
            <a:r>
              <a:rPr sz="1300" b="0" i="0">
                <a:solidFill>
                  <a:srgbClr val="9AA2C0"/>
                </a:solidFill>
                <a:latin typeface="Segoe UI"/>
              </a:rPr>
              <a:t>Event history, task queues, timers, visibility, and the authoritative claim state.</a:t>
            </a:r>
          </a:p>
        </p:txBody>
      </p:sp>
      <p:sp>
        <p:nvSpPr>
          <p:cNvPr id="12" name="Rounded Rectangle 11"/>
          <p:cNvSpPr/>
          <p:nvPr/>
        </p:nvSpPr>
        <p:spPr>
          <a:xfrm>
            <a:off x="5989320" y="324612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3447288"/>
            <a:ext cx="4709160" cy="914400"/>
          </a:xfrm>
          <a:prstGeom prst="rect">
            <a:avLst/>
          </a:prstGeom>
          <a:noFill/>
        </p:spPr>
        <p:txBody>
          <a:bodyPr wrap="square" anchor="t" lIns="0" rIns="0" tIns="0" bIns="0">
            <a:spAutoFit/>
          </a:bodyPr>
          <a:lstStyle/>
          <a:p>
            <a:r>
              <a:rPr sz="1800" b="1" i="0">
                <a:solidFill>
                  <a:srgbClr val="E6E9F5"/>
                </a:solidFill>
                <a:latin typeface="Segoe UI"/>
              </a:rPr>
              <a:t>NestJS Worker</a:t>
            </a:r>
          </a:p>
          <a:p>
            <a:pPr>
              <a:spcBef>
                <a:spcPts val="500"/>
              </a:spcBef>
            </a:pPr>
            <a:r>
              <a:rPr sz="1300" b="0" i="0">
                <a:solidFill>
                  <a:srgbClr val="9AA2C0"/>
                </a:solidFill>
                <a:latin typeface="Segoe UI"/>
              </a:rPr>
              <a:t>Runs deterministic workflow code and side-effecting activity implementations.</a:t>
            </a:r>
          </a:p>
        </p:txBody>
      </p:sp>
      <p:sp>
        <p:nvSpPr>
          <p:cNvPr id="14" name="TextBox 13"/>
          <p:cNvSpPr txBox="1"/>
          <p:nvPr/>
        </p:nvSpPr>
        <p:spPr>
          <a:xfrm>
            <a:off x="640080" y="4937760"/>
            <a:ext cx="3657600" cy="365760"/>
          </a:xfrm>
          <a:prstGeom prst="rect">
            <a:avLst/>
          </a:prstGeom>
          <a:noFill/>
        </p:spPr>
        <p:txBody>
          <a:bodyPr wrap="square" anchor="t" lIns="0" rIns="0" tIns="0" bIns="0">
            <a:spAutoFit/>
          </a:bodyPr>
          <a:lstStyle/>
          <a:p>
            <a:r>
              <a:rPr sz="1400" b="1" i="0">
                <a:solidFill>
                  <a:srgbClr val="F87171"/>
                </a:solidFill>
                <a:latin typeface="Segoe UI"/>
              </a:rPr>
              <a:t>✗ no database, anywhere</a:t>
            </a:r>
          </a:p>
        </p:txBody>
      </p:sp>
      <p:sp>
        <p:nvSpPr>
          <p:cNvPr id="15" name="TextBox 14"/>
          <p:cNvSpPr txBox="1"/>
          <p:nvPr/>
        </p:nvSpPr>
        <p:spPr>
          <a:xfrm>
            <a:off x="4297680" y="4937760"/>
            <a:ext cx="3657600" cy="365760"/>
          </a:xfrm>
          <a:prstGeom prst="rect">
            <a:avLst/>
          </a:prstGeom>
          <a:noFill/>
        </p:spPr>
        <p:txBody>
          <a:bodyPr wrap="square" anchor="t" lIns="0" rIns="0" tIns="0" bIns="0">
            <a:spAutoFit/>
          </a:bodyPr>
          <a:lstStyle/>
          <a:p>
            <a:r>
              <a:rPr sz="1400" b="1" i="0">
                <a:solidFill>
                  <a:srgbClr val="34D399"/>
                </a:solidFill>
                <a:latin typeface="Segoe UI"/>
              </a:rPr>
              <a:t>✓ Temporal event history is the state</a:t>
            </a:r>
          </a:p>
        </p:txBody>
      </p:sp>
      <p:sp>
        <p:nvSpPr>
          <p:cNvPr id="16" name="TextBox 15"/>
          <p:cNvSpPr txBox="1"/>
          <p:nvPr/>
        </p:nvSpPr>
        <p:spPr>
          <a:xfrm>
            <a:off x="7955280" y="4937760"/>
            <a:ext cx="3657600" cy="365760"/>
          </a:xfrm>
          <a:prstGeom prst="rect">
            <a:avLst/>
          </a:prstGeom>
          <a:noFill/>
        </p:spPr>
        <p:txBody>
          <a:bodyPr wrap="square" anchor="t" lIns="0" rIns="0" tIns="0" bIns="0">
            <a:spAutoFit/>
          </a:bodyPr>
          <a:lstStyle/>
          <a:p>
            <a:r>
              <a:rPr sz="1400" b="1" i="0">
                <a:solidFill>
                  <a:srgbClr val="38BDF8"/>
                </a:solidFill>
                <a:latin typeface="Segoe UI"/>
              </a:rPr>
              <a:t>✓ localStorage = prefs + recent ids only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1" i="0">
                <a:solidFill>
                  <a:srgbClr val="7C5CFF"/>
                </a:solidFill>
                <a:latin typeface="Consolas"/>
              </a:rPr>
              <a:t>activity</a:t>
            </a:r>
            <a:r>
              <a:rPr sz="1100" b="0" i="0">
                <a:solidFill>
                  <a:srgbClr val="4C9FFE"/>
                </a:solidFill>
                <a:latin typeface="Consolas"/>
              </a:rPr>
              <a:t>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1" i="0">
                <a:solidFill>
                  <a:srgbClr val="7C5CFF"/>
                </a:solidFill>
                <a:latin typeface="Consolas"/>
              </a:rPr>
              <a:t>activity</a:t>
            </a:r>
            <a:r>
              <a:rPr sz="1100" b="0" i="0">
                <a:solidFill>
                  <a:srgbClr val="4C9FFE"/>
                </a:solidFill>
                <a:latin typeface="Consolas"/>
              </a:rPr>
              <a:t>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t>
            </a:r>
            <a:r>
              <a:rPr sz="1100" b="1" i="0">
                <a:solidFill>
                  <a:srgbClr val="7C5CFF"/>
                </a:solidFill>
                <a:latin typeface="Consolas"/>
              </a:rPr>
              <a:t>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1979676" y="1463040"/>
            <a:ext cx="8229600" cy="278892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79676" y="146304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16836" y="1517904"/>
            <a:ext cx="795528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2162556" y="1965960"/>
            <a:ext cx="7863840" cy="2103120"/>
          </a:xfrm>
          <a:prstGeom prst="rect">
            <a:avLst/>
          </a:prstGeom>
          <a:noFill/>
        </p:spPr>
        <p:txBody>
          <a:bodyPr wrap="square" anchor="t" lIns="0" rIns="0" tIns="0" bIns="0">
            <a:spAutoFit/>
          </a:bodyPr>
          <a:lstStyle/>
          <a:p>
            <a:pPr>
              <a:lnSpc>
                <a:spcPct val="130000"/>
              </a:lnSpc>
            </a:pPr>
            <a:r>
              <a:rPr sz="1200" b="0" i="0">
                <a:solidFill>
                  <a:srgbClr val="D6DCF5"/>
                </a:solidFill>
                <a:latin typeface="Consolas"/>
              </a:rPr>
              <a:t>const { </a:t>
            </a:r>
            <a:r>
              <a:rPr sz="1200" b="1" i="0">
                <a:solidFill>
                  <a:srgbClr val="4C9FFE"/>
                </a:solidFill>
                <a:latin typeface="Consolas"/>
              </a:rPr>
              <a:t>checkClaimHistory</a:t>
            </a:r>
            <a:r>
              <a:rPr sz="1200" b="0" i="0">
                <a:solidFill>
                  <a:srgbClr val="D6DCF5"/>
                </a:solidFill>
                <a:latin typeface="Consolas"/>
              </a:rPr>
              <a:t>, </a:t>
            </a:r>
            <a:r>
              <a:rPr sz="1200" b="1" i="0">
                <a:solidFill>
                  <a:srgbClr val="4C9FFE"/>
                </a:solidFill>
                <a:latin typeface="Consolas"/>
              </a:rPr>
              <a:t>checkWatchlists</a:t>
            </a:r>
            <a:r>
              <a:rPr sz="1200" b="0" i="0">
                <a:solidFill>
                  <a:srgbClr val="D6DCF5"/>
                </a:solidFill>
                <a:latin typeface="Consolas"/>
              </a:rPr>
              <a:t>, </a:t>
            </a:r>
            <a:r>
              <a:rPr sz="1200" b="1" i="0">
                <a:solidFill>
                  <a:srgbClr val="4C9FFE"/>
                </a:solidFill>
                <a:latin typeface="Consolas"/>
              </a:rPr>
              <a:t>scoreFraudRisk</a:t>
            </a:r>
            <a:r>
              <a:rPr sz="1200" b="0" i="0">
                <a:solidFill>
                  <a:srgbClr val="D6DCF5"/>
                </a:solidFill>
                <a:latin typeface="Consolas"/>
              </a:rPr>
              <a:t> } =
  proxyActivities&lt;typeof activities&gt;({ ...retryPolicy });
export async function </a:t>
            </a:r>
            <a:r>
              <a:rPr sz="1200" b="1" i="0">
                <a:solidFill>
                  <a:srgbClr val="4C9FFE"/>
                </a:solidFill>
                <a:latin typeface="Consolas"/>
              </a:rPr>
              <a:t>fraudCheckWorkflow</a:t>
            </a:r>
            <a:r>
              <a:rPr sz="1200" b="0" i="0">
                <a:solidFill>
                  <a:srgbClr val="D6DCF5"/>
                </a:solidFill>
                <a:latin typeface="Consolas"/>
              </a:rPr>
              <a:t>(input: ClaimInput) {
  const [history, watchlist] = await Promise.all([
    </a:t>
            </a:r>
            <a:r>
              <a:rPr sz="1200" b="1" i="0">
                <a:solidFill>
                  <a:srgbClr val="4C9FFE"/>
                </a:solidFill>
                <a:latin typeface="Consolas"/>
              </a:rPr>
              <a:t>checkClaimHistory</a:t>
            </a:r>
            <a:r>
              <a:rPr sz="1200" b="0" i="0">
                <a:solidFill>
                  <a:srgbClr val="D6DCF5"/>
                </a:solidFill>
                <a:latin typeface="Consolas"/>
              </a:rPr>
              <a:t>(input),
    </a:t>
            </a:r>
            <a:r>
              <a:rPr sz="1200" b="1" i="0">
                <a:solidFill>
                  <a:srgbClr val="4C9FFE"/>
                </a:solidFill>
                <a:latin typeface="Consolas"/>
              </a:rPr>
              <a:t>checkWatchlists</a:t>
            </a:r>
            <a:r>
              <a:rPr sz="1200" b="0" i="0">
                <a:solidFill>
                  <a:srgbClr val="D6DCF5"/>
                </a:solidFill>
                <a:latin typeface="Consolas"/>
              </a:rPr>
              <a:t>(input),
  ]);
  return await </a:t>
            </a:r>
            <a:r>
              <a:rPr sz="1200" b="1" i="0">
                <a:solidFill>
                  <a:srgbClr val="4C9FFE"/>
                </a:solidFill>
                <a:latin typeface="Consolas"/>
              </a:rPr>
              <a:t>scoreFraudRisk</a:t>
            </a:r>
            <a:r>
              <a:rPr sz="1200" b="0" i="0">
                <a:solidFill>
                  <a:srgbClr val="D6DCF5"/>
                </a:solidFill>
                <a:latin typeface="Consolas"/>
              </a:rPr>
              <a:t>(input.claimId, [...history, ...watchlist]);
}</a:t>
            </a:r>
          </a:p>
        </p:txBody>
      </p:sp>
      <p:sp>
        <p:nvSpPr>
          <p:cNvPr id="10" name="Rounded Rectangle 9"/>
          <p:cNvSpPr/>
          <p:nvPr/>
        </p:nvSpPr>
        <p:spPr>
          <a:xfrm>
            <a:off x="1979676" y="4343400"/>
            <a:ext cx="8229600" cy="14630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79676" y="434340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16836" y="4398264"/>
            <a:ext cx="795528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4519073" y="4800600"/>
            <a:ext cx="3150805" cy="868680"/>
          </a:xfrm>
          <a:prstGeom prst="rect">
            <a:avLst/>
          </a:prstGeom>
        </p:spPr>
      </p:pic>
      <p:sp>
        <p:nvSpPr>
          <p:cNvPr id="14" name="TextBox 13"/>
          <p:cNvSpPr txBox="1"/>
          <p:nvPr/>
        </p:nvSpPr>
        <p:spPr>
          <a:xfrm>
            <a:off x="640080" y="59893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at the top shows up as a bar at the bottom the moment it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1-submit-and-progres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submit-and-progress.mp4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2-human-review-signal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human-review-signals.mp4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3-transient-ret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transient-retry.mp4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4-permanent-failure-recove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permanent-failure-recovery.mp4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5-worker-restart-durabilit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worker-restart-durability.mp4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6-cancellation-sag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cancellation-saga.mp4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Short-lived workflows can still fit — milliseconds or seconds are fine when you need durability, retries, or history</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CHECKLIST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Durability questions to ask yourself</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github.com/simy307/temporal-claims-demo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